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72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Algerian" panose="04020705040A02060702" pitchFamily="82" charset="0"/>
      <p:regular r:id="rId11"/>
    </p:embeddedFont>
    <p:embeddedFont>
      <p:font typeface="Arial Rounded MT Bold" panose="020F0704030504030204" pitchFamily="34" charset="0"/>
      <p:regular r:id="rId12"/>
    </p:embeddedFon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Neue Haas Grotesk Text Pro" panose="020B0504020202020204" pitchFamily="34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Bold" panose="00000800000000000000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2924"/>
    <a:srgbClr val="7337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22" autoAdjust="0"/>
  </p:normalViewPr>
  <p:slideViewPr>
    <p:cSldViewPr>
      <p:cViewPr varScale="1">
        <p:scale>
          <a:sx n="59" d="100"/>
          <a:sy n="59" d="100"/>
        </p:scale>
        <p:origin x="3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F18B2D-5069-449E-A1FB-C155088D1DE5}" type="doc">
      <dgm:prSet loTypeId="urn:microsoft.com/office/officeart/2005/8/layout/matrix2" loCatId="matrix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AE16D350-E13F-438E-A546-E2E1C3FA6AB7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b="1" dirty="0">
              <a:solidFill>
                <a:schemeClr val="tx1"/>
              </a:solidFill>
            </a:rPr>
            <a:t>Language and Literacy Barriers:</a:t>
          </a:r>
          <a:r>
            <a:rPr lang="en-IN" dirty="0">
              <a:solidFill>
                <a:schemeClr val="tx1"/>
              </a:solidFill>
            </a:rPr>
            <a:t> Rural citizens face severe barriers accessing healthcare because vital scheme details are only available in formal languages and complex forms they cannot easily read.</a:t>
          </a:r>
        </a:p>
      </dgm:t>
    </dgm:pt>
    <dgm:pt modelId="{1D4B8406-3E58-48E1-9EFA-EA8BBDE35298}" type="parTrans" cxnId="{4A1C3003-E52B-4100-A2FD-454AFCD2AAEF}">
      <dgm:prSet/>
      <dgm:spPr/>
      <dgm:t>
        <a:bodyPr/>
        <a:lstStyle/>
        <a:p>
          <a:endParaRPr lang="en-IN"/>
        </a:p>
      </dgm:t>
    </dgm:pt>
    <dgm:pt modelId="{7976FA1E-06B4-4A7E-A2D2-A4AE1BCB2626}" type="sibTrans" cxnId="{4A1C3003-E52B-4100-A2FD-454AFCD2AAEF}">
      <dgm:prSet/>
      <dgm:spPr/>
      <dgm:t>
        <a:bodyPr/>
        <a:lstStyle/>
        <a:p>
          <a:endParaRPr lang="en-IN"/>
        </a:p>
      </dgm:t>
    </dgm:pt>
    <dgm:pt modelId="{853430D1-4B3B-4237-A43E-F52CE91A1096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b="1" dirty="0">
              <a:solidFill>
                <a:schemeClr val="tx1"/>
              </a:solidFill>
            </a:rPr>
            <a:t>Lack of Program Awareness:</a:t>
          </a:r>
          <a:r>
            <a:rPr lang="en-IN" dirty="0">
              <a:solidFill>
                <a:schemeClr val="tx1"/>
              </a:solidFill>
            </a:rPr>
            <a:t> Consequently, millions of vulnerable families remain completely unaware of their eligibility for crucial government programs like Ayushman Bharat</a:t>
          </a:r>
          <a:r>
            <a:rPr lang="en-IN" dirty="0"/>
            <a:t>.</a:t>
          </a:r>
        </a:p>
      </dgm:t>
    </dgm:pt>
    <dgm:pt modelId="{0BA3B00A-6861-4039-8505-FF5B0DD263D0}" type="parTrans" cxnId="{8A718A85-8211-4D61-9947-16AEDD2F34EE}">
      <dgm:prSet/>
      <dgm:spPr/>
      <dgm:t>
        <a:bodyPr/>
        <a:lstStyle/>
        <a:p>
          <a:endParaRPr lang="en-IN"/>
        </a:p>
      </dgm:t>
    </dgm:pt>
    <dgm:pt modelId="{2AABDD63-6994-48E3-9CDC-CCA755AB4454}" type="sibTrans" cxnId="{8A718A85-8211-4D61-9947-16AEDD2F34EE}">
      <dgm:prSet/>
      <dgm:spPr/>
      <dgm:t>
        <a:bodyPr/>
        <a:lstStyle/>
        <a:p>
          <a:endParaRPr lang="en-IN"/>
        </a:p>
      </dgm:t>
    </dgm:pt>
    <dgm:pt modelId="{7D775508-2D1D-4FD4-8B06-B41AFC8B1DAF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b="1" dirty="0">
              <a:solidFill>
                <a:schemeClr val="tx1"/>
              </a:solidFill>
            </a:rPr>
            <a:t>Difficulty with Symptom Triage:</a:t>
          </a:r>
          <a:r>
            <a:rPr lang="en-IN" dirty="0">
              <a:solidFill>
                <a:schemeClr val="tx1"/>
              </a:solidFill>
            </a:rPr>
            <a:t> During sudden illnesses, patients struggle with safe symptom triage, leaving them unsure whether to seek home care or emergency medical help.</a:t>
          </a:r>
        </a:p>
      </dgm:t>
    </dgm:pt>
    <dgm:pt modelId="{131CF8EB-C963-4880-8850-0FA2CBEDBD95}" type="parTrans" cxnId="{516601CA-A59C-42B4-9F0F-914EF7E6332F}">
      <dgm:prSet/>
      <dgm:spPr/>
      <dgm:t>
        <a:bodyPr/>
        <a:lstStyle/>
        <a:p>
          <a:endParaRPr lang="en-IN"/>
        </a:p>
      </dgm:t>
    </dgm:pt>
    <dgm:pt modelId="{67D7651A-1275-4772-9B3D-612CC047D36D}" type="sibTrans" cxnId="{516601CA-A59C-42B4-9F0F-914EF7E6332F}">
      <dgm:prSet/>
      <dgm:spPr/>
      <dgm:t>
        <a:bodyPr/>
        <a:lstStyle/>
        <a:p>
          <a:endParaRPr lang="en-IN"/>
        </a:p>
      </dgm:t>
    </dgm:pt>
    <dgm:pt modelId="{0FEE227F-97AC-4B32-9951-3B75458A1349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b="1" dirty="0">
              <a:solidFill>
                <a:schemeClr val="tx1"/>
              </a:solidFill>
            </a:rPr>
            <a:t>Inability to Locate Facilities:</a:t>
          </a:r>
          <a:r>
            <a:rPr lang="en-IN" dirty="0">
              <a:solidFill>
                <a:schemeClr val="tx1"/>
              </a:solidFill>
            </a:rPr>
            <a:t> Patients face significant challenges in easily locating the nearest healthcare facilities when they need them.</a:t>
          </a:r>
        </a:p>
      </dgm:t>
    </dgm:pt>
    <dgm:pt modelId="{046EFC7A-AF66-4D02-8004-9FC70B0824D1}" type="parTrans" cxnId="{8211DD0A-762F-4B9E-B8E0-55BE2BD4CD6D}">
      <dgm:prSet/>
      <dgm:spPr/>
      <dgm:t>
        <a:bodyPr/>
        <a:lstStyle/>
        <a:p>
          <a:endParaRPr lang="en-IN"/>
        </a:p>
      </dgm:t>
    </dgm:pt>
    <dgm:pt modelId="{A38FD366-99FB-48BB-9292-99BC78CF5EB8}" type="sibTrans" cxnId="{8211DD0A-762F-4B9E-B8E0-55BE2BD4CD6D}">
      <dgm:prSet/>
      <dgm:spPr/>
      <dgm:t>
        <a:bodyPr/>
        <a:lstStyle/>
        <a:p>
          <a:endParaRPr lang="en-IN"/>
        </a:p>
      </dgm:t>
    </dgm:pt>
    <dgm:pt modelId="{3EE33D1E-2639-4B02-895B-CFD92474EBD2}" type="pres">
      <dgm:prSet presAssocID="{1BF18B2D-5069-449E-A1FB-C155088D1DE5}" presName="matrix" presStyleCnt="0">
        <dgm:presLayoutVars>
          <dgm:chMax val="1"/>
          <dgm:dir/>
          <dgm:resizeHandles val="exact"/>
        </dgm:presLayoutVars>
      </dgm:prSet>
      <dgm:spPr/>
    </dgm:pt>
    <dgm:pt modelId="{38069655-F957-4A23-80CA-07D6F3E83CA9}" type="pres">
      <dgm:prSet presAssocID="{1BF18B2D-5069-449E-A1FB-C155088D1DE5}" presName="axisShape" presStyleLbl="bgShp" presStyleIdx="0" presStyleCnt="1" custLinFactNeighborX="-1904" custLinFactNeighborY="-3265"/>
      <dgm:spPr>
        <a:solidFill>
          <a:srgbClr val="002060"/>
        </a:solidFill>
      </dgm:spPr>
    </dgm:pt>
    <dgm:pt modelId="{35D3A36E-672F-4F6E-8DB6-475228CCCF35}" type="pres">
      <dgm:prSet presAssocID="{1BF18B2D-5069-449E-A1FB-C155088D1DE5}" presName="rect1" presStyleLbl="node1" presStyleIdx="0" presStyleCnt="4" custScaleX="149980" custLinFactNeighborX="-44193" custLinFactNeighborY="-4065">
        <dgm:presLayoutVars>
          <dgm:chMax val="0"/>
          <dgm:chPref val="0"/>
          <dgm:bulletEnabled val="1"/>
        </dgm:presLayoutVars>
      </dgm:prSet>
      <dgm:spPr/>
    </dgm:pt>
    <dgm:pt modelId="{AD85514E-D99E-4AB0-8783-0E8590FE7EAB}" type="pres">
      <dgm:prSet presAssocID="{1BF18B2D-5069-449E-A1FB-C155088D1DE5}" presName="rect2" presStyleLbl="node1" presStyleIdx="1" presStyleCnt="4" custScaleX="159384" custLinFactNeighborX="27332" custLinFactNeighborY="-3092">
        <dgm:presLayoutVars>
          <dgm:chMax val="0"/>
          <dgm:chPref val="0"/>
          <dgm:bulletEnabled val="1"/>
        </dgm:presLayoutVars>
      </dgm:prSet>
      <dgm:spPr/>
    </dgm:pt>
    <dgm:pt modelId="{24A36AAE-7F4C-48BA-B81A-93BD31652D33}" type="pres">
      <dgm:prSet presAssocID="{1BF18B2D-5069-449E-A1FB-C155088D1DE5}" presName="rect3" presStyleLbl="node1" presStyleIdx="2" presStyleCnt="4" custScaleX="153047" custLinFactNeighborX="-34565" custLinFactNeighborY="6819">
        <dgm:presLayoutVars>
          <dgm:chMax val="0"/>
          <dgm:chPref val="0"/>
          <dgm:bulletEnabled val="1"/>
        </dgm:presLayoutVars>
      </dgm:prSet>
      <dgm:spPr/>
    </dgm:pt>
    <dgm:pt modelId="{BC1A005C-2271-4B3B-B113-F1FE59A47E5A}" type="pres">
      <dgm:prSet presAssocID="{1BF18B2D-5069-449E-A1FB-C155088D1DE5}" presName="rect4" presStyleLbl="node1" presStyleIdx="3" presStyleCnt="4" custScaleX="154360" custLinFactNeighborX="32320" custLinFactNeighborY="4322">
        <dgm:presLayoutVars>
          <dgm:chMax val="0"/>
          <dgm:chPref val="0"/>
          <dgm:bulletEnabled val="1"/>
        </dgm:presLayoutVars>
      </dgm:prSet>
      <dgm:spPr/>
    </dgm:pt>
  </dgm:ptLst>
  <dgm:cxnLst>
    <dgm:cxn modelId="{4A1C3003-E52B-4100-A2FD-454AFCD2AAEF}" srcId="{1BF18B2D-5069-449E-A1FB-C155088D1DE5}" destId="{AE16D350-E13F-438E-A546-E2E1C3FA6AB7}" srcOrd="0" destOrd="0" parTransId="{1D4B8406-3E58-48E1-9EFA-EA8BBDE35298}" sibTransId="{7976FA1E-06B4-4A7E-A2D2-A4AE1BCB2626}"/>
    <dgm:cxn modelId="{8211DD0A-762F-4B9E-B8E0-55BE2BD4CD6D}" srcId="{1BF18B2D-5069-449E-A1FB-C155088D1DE5}" destId="{0FEE227F-97AC-4B32-9951-3B75458A1349}" srcOrd="3" destOrd="0" parTransId="{046EFC7A-AF66-4D02-8004-9FC70B0824D1}" sibTransId="{A38FD366-99FB-48BB-9292-99BC78CF5EB8}"/>
    <dgm:cxn modelId="{78B3D44E-1405-4983-A060-2FF5D40FD24C}" type="presOf" srcId="{7D775508-2D1D-4FD4-8B06-B41AFC8B1DAF}" destId="{24A36AAE-7F4C-48BA-B81A-93BD31652D33}" srcOrd="0" destOrd="0" presId="urn:microsoft.com/office/officeart/2005/8/layout/matrix2"/>
    <dgm:cxn modelId="{380D8E56-06FD-4581-A1C0-41DEBD3B7C0A}" type="presOf" srcId="{853430D1-4B3B-4237-A43E-F52CE91A1096}" destId="{AD85514E-D99E-4AB0-8783-0E8590FE7EAB}" srcOrd="0" destOrd="0" presId="urn:microsoft.com/office/officeart/2005/8/layout/matrix2"/>
    <dgm:cxn modelId="{8A718A85-8211-4D61-9947-16AEDD2F34EE}" srcId="{1BF18B2D-5069-449E-A1FB-C155088D1DE5}" destId="{853430D1-4B3B-4237-A43E-F52CE91A1096}" srcOrd="1" destOrd="0" parTransId="{0BA3B00A-6861-4039-8505-FF5B0DD263D0}" sibTransId="{2AABDD63-6994-48E3-9CDC-CCA755AB4454}"/>
    <dgm:cxn modelId="{516601CA-A59C-42B4-9F0F-914EF7E6332F}" srcId="{1BF18B2D-5069-449E-A1FB-C155088D1DE5}" destId="{7D775508-2D1D-4FD4-8B06-B41AFC8B1DAF}" srcOrd="2" destOrd="0" parTransId="{131CF8EB-C963-4880-8850-0FA2CBEDBD95}" sibTransId="{67D7651A-1275-4772-9B3D-612CC047D36D}"/>
    <dgm:cxn modelId="{FCCAEBCB-B368-4C4B-9334-354F539789AE}" type="presOf" srcId="{1BF18B2D-5069-449E-A1FB-C155088D1DE5}" destId="{3EE33D1E-2639-4B02-895B-CFD92474EBD2}" srcOrd="0" destOrd="0" presId="urn:microsoft.com/office/officeart/2005/8/layout/matrix2"/>
    <dgm:cxn modelId="{0AB08CCC-8E96-45EC-833E-E20F01BB7839}" type="presOf" srcId="{AE16D350-E13F-438E-A546-E2E1C3FA6AB7}" destId="{35D3A36E-672F-4F6E-8DB6-475228CCCF35}" srcOrd="0" destOrd="0" presId="urn:microsoft.com/office/officeart/2005/8/layout/matrix2"/>
    <dgm:cxn modelId="{52137CDF-01F3-41C2-8B7E-41EBF9D22F4A}" type="presOf" srcId="{0FEE227F-97AC-4B32-9951-3B75458A1349}" destId="{BC1A005C-2271-4B3B-B113-F1FE59A47E5A}" srcOrd="0" destOrd="0" presId="urn:microsoft.com/office/officeart/2005/8/layout/matrix2"/>
    <dgm:cxn modelId="{BA79BD39-4CDD-4E27-9A55-19978FBE55E4}" type="presParOf" srcId="{3EE33D1E-2639-4B02-895B-CFD92474EBD2}" destId="{38069655-F957-4A23-80CA-07D6F3E83CA9}" srcOrd="0" destOrd="0" presId="urn:microsoft.com/office/officeart/2005/8/layout/matrix2"/>
    <dgm:cxn modelId="{F08CD0B0-CA3B-4D16-B4DF-F268D1FBBA65}" type="presParOf" srcId="{3EE33D1E-2639-4B02-895B-CFD92474EBD2}" destId="{35D3A36E-672F-4F6E-8DB6-475228CCCF35}" srcOrd="1" destOrd="0" presId="urn:microsoft.com/office/officeart/2005/8/layout/matrix2"/>
    <dgm:cxn modelId="{E108D4A7-1976-4A93-8A1F-B3A213CD4CD6}" type="presParOf" srcId="{3EE33D1E-2639-4B02-895B-CFD92474EBD2}" destId="{AD85514E-D99E-4AB0-8783-0E8590FE7EAB}" srcOrd="2" destOrd="0" presId="urn:microsoft.com/office/officeart/2005/8/layout/matrix2"/>
    <dgm:cxn modelId="{2F869D18-05C9-4AC7-A604-7CCB427A04E1}" type="presParOf" srcId="{3EE33D1E-2639-4B02-895B-CFD92474EBD2}" destId="{24A36AAE-7F4C-48BA-B81A-93BD31652D33}" srcOrd="3" destOrd="0" presId="urn:microsoft.com/office/officeart/2005/8/layout/matrix2"/>
    <dgm:cxn modelId="{FCDDC926-82B3-4136-A264-A3451C85BCE2}" type="presParOf" srcId="{3EE33D1E-2639-4B02-895B-CFD92474EBD2}" destId="{BC1A005C-2271-4B3B-B113-F1FE59A47E5A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4FA268-C609-4359-BB97-759CC13ABE56}" type="doc">
      <dgm:prSet loTypeId="urn:microsoft.com/office/officeart/2005/8/layout/hChevron3" loCatId="process" qsTypeId="urn:microsoft.com/office/officeart/2005/8/quickstyle/simple1" qsCatId="simple" csTypeId="urn:microsoft.com/office/officeart/2005/8/colors/accent6_5" csCatId="accent6" phldr="1"/>
      <dgm:spPr/>
    </dgm:pt>
    <dgm:pt modelId="{15C6A643-BDDB-4659-BD56-4445856480B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Eligibility</a:t>
          </a:r>
          <a:endParaRPr lang="en-IN" dirty="0">
            <a:solidFill>
              <a:schemeClr val="tx1"/>
            </a:solidFill>
          </a:endParaRPr>
        </a:p>
      </dgm:t>
    </dgm:pt>
    <dgm:pt modelId="{FF81F2E6-11BE-489E-820B-0FE8B7CB8850}" type="parTrans" cxnId="{58AC59C2-7E3A-4748-AB3A-4EAEF8389B92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E1C61D5F-25F0-4737-907C-194224AB1E57}" type="sibTrans" cxnId="{58AC59C2-7E3A-4748-AB3A-4EAEF8389B92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8F35E927-6637-40C2-9887-B4EAAA4CE93D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Documents</a:t>
          </a:r>
          <a:endParaRPr lang="en-IN" dirty="0">
            <a:solidFill>
              <a:schemeClr val="tx1"/>
            </a:solidFill>
          </a:endParaRPr>
        </a:p>
      </dgm:t>
    </dgm:pt>
    <dgm:pt modelId="{82CA83D2-A314-4D6F-ADAC-70E1D5680073}" type="parTrans" cxnId="{376F2E2D-DB1D-431E-9878-8DAB340483EE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EB55E881-8E42-4B82-8636-A71637EB362E}" type="sibTrans" cxnId="{376F2E2D-DB1D-431E-9878-8DAB340483EE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AF625769-66A4-497D-93AF-0738E9B0EE1D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Application Guidance</a:t>
          </a:r>
          <a:endParaRPr lang="en-IN" dirty="0">
            <a:solidFill>
              <a:schemeClr val="tx1"/>
            </a:solidFill>
          </a:endParaRPr>
        </a:p>
      </dgm:t>
    </dgm:pt>
    <dgm:pt modelId="{619DEE03-B88F-4AA2-9874-9CF0C88C16C9}" type="parTrans" cxnId="{EAB6A181-4014-4A1D-8FE3-40AC7ED4C32C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CDB5C365-72B1-4446-8D8B-8F7869239FB1}" type="sibTrans" cxnId="{EAB6A181-4014-4A1D-8FE3-40AC7ED4C32C}">
      <dgm:prSet/>
      <dgm:spPr/>
      <dgm:t>
        <a:bodyPr/>
        <a:lstStyle/>
        <a:p>
          <a:endParaRPr lang="en-IN">
            <a:solidFill>
              <a:schemeClr val="tx1"/>
            </a:solidFill>
          </a:endParaRPr>
        </a:p>
      </dgm:t>
    </dgm:pt>
    <dgm:pt modelId="{CAFCBE27-EE53-4051-A5AE-104724621D14}" type="pres">
      <dgm:prSet presAssocID="{564FA268-C609-4359-BB97-759CC13ABE56}" presName="Name0" presStyleCnt="0">
        <dgm:presLayoutVars>
          <dgm:dir/>
          <dgm:resizeHandles val="exact"/>
        </dgm:presLayoutVars>
      </dgm:prSet>
      <dgm:spPr/>
    </dgm:pt>
    <dgm:pt modelId="{6F31BE35-951A-4337-BDAA-3E6B33296584}" type="pres">
      <dgm:prSet presAssocID="{15C6A643-BDDB-4659-BD56-4445856480BA}" presName="parTxOnly" presStyleLbl="node1" presStyleIdx="0" presStyleCnt="3">
        <dgm:presLayoutVars>
          <dgm:bulletEnabled val="1"/>
        </dgm:presLayoutVars>
      </dgm:prSet>
      <dgm:spPr/>
    </dgm:pt>
    <dgm:pt modelId="{5CAC7590-74A5-41C5-A6FC-7D72CC2B80EF}" type="pres">
      <dgm:prSet presAssocID="{E1C61D5F-25F0-4737-907C-194224AB1E57}" presName="parSpace" presStyleCnt="0"/>
      <dgm:spPr/>
    </dgm:pt>
    <dgm:pt modelId="{F0353814-9237-420F-A248-7F60D0589F2C}" type="pres">
      <dgm:prSet presAssocID="{8F35E927-6637-40C2-9887-B4EAAA4CE93D}" presName="parTxOnly" presStyleLbl="node1" presStyleIdx="1" presStyleCnt="3" custLinFactNeighborX="9036" custLinFactNeighborY="-5965">
        <dgm:presLayoutVars>
          <dgm:bulletEnabled val="1"/>
        </dgm:presLayoutVars>
      </dgm:prSet>
      <dgm:spPr/>
    </dgm:pt>
    <dgm:pt modelId="{6F06CC69-5627-4074-BA9E-7DC566085C7C}" type="pres">
      <dgm:prSet presAssocID="{EB55E881-8E42-4B82-8636-A71637EB362E}" presName="parSpace" presStyleCnt="0"/>
      <dgm:spPr/>
    </dgm:pt>
    <dgm:pt modelId="{4141DC85-0606-4F52-A8F0-448BF234F318}" type="pres">
      <dgm:prSet presAssocID="{AF625769-66A4-497D-93AF-0738E9B0EE1D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2A519D1C-101C-4F1B-AF7B-C653D32F0C3C}" type="presOf" srcId="{15C6A643-BDDB-4659-BD56-4445856480BA}" destId="{6F31BE35-951A-4337-BDAA-3E6B33296584}" srcOrd="0" destOrd="0" presId="urn:microsoft.com/office/officeart/2005/8/layout/hChevron3"/>
    <dgm:cxn modelId="{E9328423-7D84-4E86-8911-646AED780D52}" type="presOf" srcId="{564FA268-C609-4359-BB97-759CC13ABE56}" destId="{CAFCBE27-EE53-4051-A5AE-104724621D14}" srcOrd="0" destOrd="0" presId="urn:microsoft.com/office/officeart/2005/8/layout/hChevron3"/>
    <dgm:cxn modelId="{376F2E2D-DB1D-431E-9878-8DAB340483EE}" srcId="{564FA268-C609-4359-BB97-759CC13ABE56}" destId="{8F35E927-6637-40C2-9887-B4EAAA4CE93D}" srcOrd="1" destOrd="0" parTransId="{82CA83D2-A314-4D6F-ADAC-70E1D5680073}" sibTransId="{EB55E881-8E42-4B82-8636-A71637EB362E}"/>
    <dgm:cxn modelId="{EAB6A181-4014-4A1D-8FE3-40AC7ED4C32C}" srcId="{564FA268-C609-4359-BB97-759CC13ABE56}" destId="{AF625769-66A4-497D-93AF-0738E9B0EE1D}" srcOrd="2" destOrd="0" parTransId="{619DEE03-B88F-4AA2-9874-9CF0C88C16C9}" sibTransId="{CDB5C365-72B1-4446-8D8B-8F7869239FB1}"/>
    <dgm:cxn modelId="{58AC59C2-7E3A-4748-AB3A-4EAEF8389B92}" srcId="{564FA268-C609-4359-BB97-759CC13ABE56}" destId="{15C6A643-BDDB-4659-BD56-4445856480BA}" srcOrd="0" destOrd="0" parTransId="{FF81F2E6-11BE-489E-820B-0FE8B7CB8850}" sibTransId="{E1C61D5F-25F0-4737-907C-194224AB1E57}"/>
    <dgm:cxn modelId="{4FC87DE1-D4E3-4D28-AA58-B7AAEEAC54B1}" type="presOf" srcId="{AF625769-66A4-497D-93AF-0738E9B0EE1D}" destId="{4141DC85-0606-4F52-A8F0-448BF234F318}" srcOrd="0" destOrd="0" presId="urn:microsoft.com/office/officeart/2005/8/layout/hChevron3"/>
    <dgm:cxn modelId="{903BB9F4-F335-401B-9DDB-9EFB2DABEAD7}" type="presOf" srcId="{8F35E927-6637-40C2-9887-B4EAAA4CE93D}" destId="{F0353814-9237-420F-A248-7F60D0589F2C}" srcOrd="0" destOrd="0" presId="urn:microsoft.com/office/officeart/2005/8/layout/hChevron3"/>
    <dgm:cxn modelId="{0EE9E307-115C-4648-A3FA-E5B4A5732971}" type="presParOf" srcId="{CAFCBE27-EE53-4051-A5AE-104724621D14}" destId="{6F31BE35-951A-4337-BDAA-3E6B33296584}" srcOrd="0" destOrd="0" presId="urn:microsoft.com/office/officeart/2005/8/layout/hChevron3"/>
    <dgm:cxn modelId="{75DB4EF7-8958-4FD0-AC7A-9B4633D9D0FA}" type="presParOf" srcId="{CAFCBE27-EE53-4051-A5AE-104724621D14}" destId="{5CAC7590-74A5-41C5-A6FC-7D72CC2B80EF}" srcOrd="1" destOrd="0" presId="urn:microsoft.com/office/officeart/2005/8/layout/hChevron3"/>
    <dgm:cxn modelId="{EB2C8F30-0C20-4B11-B065-6DF2F6B7BF41}" type="presParOf" srcId="{CAFCBE27-EE53-4051-A5AE-104724621D14}" destId="{F0353814-9237-420F-A248-7F60D0589F2C}" srcOrd="2" destOrd="0" presId="urn:microsoft.com/office/officeart/2005/8/layout/hChevron3"/>
    <dgm:cxn modelId="{8C6DF29F-0490-4B80-8517-D8CA87F50EB1}" type="presParOf" srcId="{CAFCBE27-EE53-4051-A5AE-104724621D14}" destId="{6F06CC69-5627-4074-BA9E-7DC566085C7C}" srcOrd="3" destOrd="0" presId="urn:microsoft.com/office/officeart/2005/8/layout/hChevron3"/>
    <dgm:cxn modelId="{7AFDC772-652D-4283-8967-0B7ABB771429}" type="presParOf" srcId="{CAFCBE27-EE53-4051-A5AE-104724621D14}" destId="{4141DC85-0606-4F52-A8F0-448BF234F318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6479AA-476B-45BB-A6A4-77149BB59876}" type="doc">
      <dgm:prSet loTypeId="urn:microsoft.com/office/officeart/2005/8/layout/hChevron3" loCatId="process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IN"/>
        </a:p>
      </dgm:t>
    </dgm:pt>
    <dgm:pt modelId="{D67691AB-46B3-4572-B695-FA09B9E3D436}">
      <dgm:prSet phldrT="[Text]" custT="1"/>
      <dgm:spPr/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Speak</a:t>
          </a:r>
          <a:endParaRPr lang="en-IN" sz="1200" b="1" dirty="0">
            <a:solidFill>
              <a:schemeClr val="tx1"/>
            </a:solidFill>
          </a:endParaRPr>
        </a:p>
      </dgm:t>
    </dgm:pt>
    <dgm:pt modelId="{7DBC3C81-82CE-4125-9A23-1B2A4D141098}" type="parTrans" cxnId="{9AFA8BDF-A4E1-4581-B643-434C88D0276E}">
      <dgm:prSet/>
      <dgm:spPr/>
      <dgm:t>
        <a:bodyPr/>
        <a:lstStyle/>
        <a:p>
          <a:endParaRPr lang="en-IN" sz="1200"/>
        </a:p>
      </dgm:t>
    </dgm:pt>
    <dgm:pt modelId="{2A27F30A-5CD4-4FC4-A0E7-8DC05A24E8F4}" type="sibTrans" cxnId="{9AFA8BDF-A4E1-4581-B643-434C88D0276E}">
      <dgm:prSet/>
      <dgm:spPr/>
      <dgm:t>
        <a:bodyPr/>
        <a:lstStyle/>
        <a:p>
          <a:endParaRPr lang="en-IN" sz="1200"/>
        </a:p>
      </dgm:t>
    </dgm:pt>
    <dgm:pt modelId="{DB237C7A-9BBC-42C8-9C46-3F3B52B0238E}">
      <dgm:prSet phldrT="[Text]" custT="1"/>
      <dgm:spPr/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Understand</a:t>
          </a:r>
          <a:endParaRPr lang="en-IN" sz="1200" b="1" dirty="0">
            <a:solidFill>
              <a:schemeClr val="tx1"/>
            </a:solidFill>
          </a:endParaRPr>
        </a:p>
      </dgm:t>
    </dgm:pt>
    <dgm:pt modelId="{34D8E2B3-6ED6-45EE-AB2D-D63D6DED10EC}" type="parTrans" cxnId="{6D0C9D35-80B8-4B9F-9B27-FE87ECE168E8}">
      <dgm:prSet/>
      <dgm:spPr/>
      <dgm:t>
        <a:bodyPr/>
        <a:lstStyle/>
        <a:p>
          <a:endParaRPr lang="en-IN" sz="1200"/>
        </a:p>
      </dgm:t>
    </dgm:pt>
    <dgm:pt modelId="{360B855D-F2DD-4449-B719-2E6A8D18390C}" type="sibTrans" cxnId="{6D0C9D35-80B8-4B9F-9B27-FE87ECE168E8}">
      <dgm:prSet/>
      <dgm:spPr/>
      <dgm:t>
        <a:bodyPr/>
        <a:lstStyle/>
        <a:p>
          <a:endParaRPr lang="en-IN" sz="1200"/>
        </a:p>
      </dgm:t>
    </dgm:pt>
    <dgm:pt modelId="{DD26F6B1-0487-4A93-A581-DEF52D29D259}">
      <dgm:prSet phldrT="[Text]" custT="1"/>
      <dgm:spPr/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Get Guidance</a:t>
          </a:r>
          <a:endParaRPr lang="en-IN" sz="1200" b="1" dirty="0">
            <a:solidFill>
              <a:schemeClr val="tx1"/>
            </a:solidFill>
          </a:endParaRPr>
        </a:p>
      </dgm:t>
    </dgm:pt>
    <dgm:pt modelId="{F5F457D0-DA09-404F-A698-46E1A764D0DE}" type="parTrans" cxnId="{B4FC4C02-7531-41AC-8771-501ED013310D}">
      <dgm:prSet/>
      <dgm:spPr/>
      <dgm:t>
        <a:bodyPr/>
        <a:lstStyle/>
        <a:p>
          <a:endParaRPr lang="en-IN" sz="1200"/>
        </a:p>
      </dgm:t>
    </dgm:pt>
    <dgm:pt modelId="{1E9CE909-E803-45F5-9D78-95D07CCFEBF9}" type="sibTrans" cxnId="{B4FC4C02-7531-41AC-8771-501ED013310D}">
      <dgm:prSet/>
      <dgm:spPr/>
      <dgm:t>
        <a:bodyPr/>
        <a:lstStyle/>
        <a:p>
          <a:endParaRPr lang="en-IN" sz="1200"/>
        </a:p>
      </dgm:t>
    </dgm:pt>
    <dgm:pt modelId="{C73DC1B9-BD39-4191-8908-FC719D076072}">
      <dgm:prSet phldrT="[Text]" custT="1"/>
      <dgm:spPr/>
      <dgm:t>
        <a:bodyPr/>
        <a:lstStyle/>
        <a:p>
          <a:r>
            <a:rPr lang="en-US" sz="1200" b="1" dirty="0">
              <a:solidFill>
                <a:schemeClr val="tx1"/>
              </a:solidFill>
            </a:rPr>
            <a:t>Reach Care</a:t>
          </a:r>
          <a:endParaRPr lang="en-IN" sz="1200" b="1" dirty="0">
            <a:solidFill>
              <a:schemeClr val="tx1"/>
            </a:solidFill>
          </a:endParaRPr>
        </a:p>
      </dgm:t>
    </dgm:pt>
    <dgm:pt modelId="{EE2B1788-9847-4718-9DDC-1C0AE855CCBF}" type="parTrans" cxnId="{0B13ACCC-CFAA-4D58-AD7F-6903F0E39C1F}">
      <dgm:prSet/>
      <dgm:spPr/>
      <dgm:t>
        <a:bodyPr/>
        <a:lstStyle/>
        <a:p>
          <a:endParaRPr lang="en-IN" sz="1200"/>
        </a:p>
      </dgm:t>
    </dgm:pt>
    <dgm:pt modelId="{492D6A67-FA69-4B44-99C5-3E6EB6152FF5}" type="sibTrans" cxnId="{0B13ACCC-CFAA-4D58-AD7F-6903F0E39C1F}">
      <dgm:prSet/>
      <dgm:spPr/>
      <dgm:t>
        <a:bodyPr/>
        <a:lstStyle/>
        <a:p>
          <a:endParaRPr lang="en-IN" sz="1200"/>
        </a:p>
      </dgm:t>
    </dgm:pt>
    <dgm:pt modelId="{49434FCC-1DC2-4CF9-BD04-F50EB8F07289}" type="pres">
      <dgm:prSet presAssocID="{4F6479AA-476B-45BB-A6A4-77149BB59876}" presName="Name0" presStyleCnt="0">
        <dgm:presLayoutVars>
          <dgm:dir/>
          <dgm:resizeHandles val="exact"/>
        </dgm:presLayoutVars>
      </dgm:prSet>
      <dgm:spPr/>
    </dgm:pt>
    <dgm:pt modelId="{F415D874-0DD9-4AB0-8E90-3E71105FEB38}" type="pres">
      <dgm:prSet presAssocID="{D67691AB-46B3-4572-B695-FA09B9E3D436}" presName="parTxOnly" presStyleLbl="node1" presStyleIdx="0" presStyleCnt="4" custScaleX="89881">
        <dgm:presLayoutVars>
          <dgm:bulletEnabled val="1"/>
        </dgm:presLayoutVars>
      </dgm:prSet>
      <dgm:spPr/>
    </dgm:pt>
    <dgm:pt modelId="{CF0E44EA-0B8B-4A06-B40B-157F64D54EDB}" type="pres">
      <dgm:prSet presAssocID="{2A27F30A-5CD4-4FC4-A0E7-8DC05A24E8F4}" presName="parSpace" presStyleCnt="0"/>
      <dgm:spPr/>
    </dgm:pt>
    <dgm:pt modelId="{2B2FEB4C-AA68-4B3F-B506-9DDD116034CE}" type="pres">
      <dgm:prSet presAssocID="{DB237C7A-9BBC-42C8-9C46-3F3B52B0238E}" presName="parTxOnly" presStyleLbl="node1" presStyleIdx="1" presStyleCnt="4" custScaleX="111231">
        <dgm:presLayoutVars>
          <dgm:bulletEnabled val="1"/>
        </dgm:presLayoutVars>
      </dgm:prSet>
      <dgm:spPr/>
    </dgm:pt>
    <dgm:pt modelId="{60F3E199-C931-4B25-8262-26F76AC3C083}" type="pres">
      <dgm:prSet presAssocID="{360B855D-F2DD-4449-B719-2E6A8D18390C}" presName="parSpace" presStyleCnt="0"/>
      <dgm:spPr/>
    </dgm:pt>
    <dgm:pt modelId="{D091E1C2-8F59-4CE7-B607-590442964A14}" type="pres">
      <dgm:prSet presAssocID="{DD26F6B1-0487-4A93-A581-DEF52D29D259}" presName="parTxOnly" presStyleLbl="node1" presStyleIdx="2" presStyleCnt="4">
        <dgm:presLayoutVars>
          <dgm:bulletEnabled val="1"/>
        </dgm:presLayoutVars>
      </dgm:prSet>
      <dgm:spPr/>
    </dgm:pt>
    <dgm:pt modelId="{A76CBDE0-CF3A-485D-994F-440EF70D82BE}" type="pres">
      <dgm:prSet presAssocID="{1E9CE909-E803-45F5-9D78-95D07CCFEBF9}" presName="parSpace" presStyleCnt="0"/>
      <dgm:spPr/>
    </dgm:pt>
    <dgm:pt modelId="{A390A0EE-BBCA-48F7-A102-C0EB30783B50}" type="pres">
      <dgm:prSet presAssocID="{C73DC1B9-BD39-4191-8908-FC719D076072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B4FC4C02-7531-41AC-8771-501ED013310D}" srcId="{4F6479AA-476B-45BB-A6A4-77149BB59876}" destId="{DD26F6B1-0487-4A93-A581-DEF52D29D259}" srcOrd="2" destOrd="0" parTransId="{F5F457D0-DA09-404F-A698-46E1A764D0DE}" sibTransId="{1E9CE909-E803-45F5-9D78-95D07CCFEBF9}"/>
    <dgm:cxn modelId="{E493F917-102A-4789-ACD3-554E17FDFB5C}" type="presOf" srcId="{D67691AB-46B3-4572-B695-FA09B9E3D436}" destId="{F415D874-0DD9-4AB0-8E90-3E71105FEB38}" srcOrd="0" destOrd="0" presId="urn:microsoft.com/office/officeart/2005/8/layout/hChevron3"/>
    <dgm:cxn modelId="{6D0C9D35-80B8-4B9F-9B27-FE87ECE168E8}" srcId="{4F6479AA-476B-45BB-A6A4-77149BB59876}" destId="{DB237C7A-9BBC-42C8-9C46-3F3B52B0238E}" srcOrd="1" destOrd="0" parTransId="{34D8E2B3-6ED6-45EE-AB2D-D63D6DED10EC}" sibTransId="{360B855D-F2DD-4449-B719-2E6A8D18390C}"/>
    <dgm:cxn modelId="{AE152364-242D-4361-AD04-6D57D6908AEB}" type="presOf" srcId="{DD26F6B1-0487-4A93-A581-DEF52D29D259}" destId="{D091E1C2-8F59-4CE7-B607-590442964A14}" srcOrd="0" destOrd="0" presId="urn:microsoft.com/office/officeart/2005/8/layout/hChevron3"/>
    <dgm:cxn modelId="{ED45A754-0E47-45AD-BFE1-FBE5480E2071}" type="presOf" srcId="{DB237C7A-9BBC-42C8-9C46-3F3B52B0238E}" destId="{2B2FEB4C-AA68-4B3F-B506-9DDD116034CE}" srcOrd="0" destOrd="0" presId="urn:microsoft.com/office/officeart/2005/8/layout/hChevron3"/>
    <dgm:cxn modelId="{F273D6B3-46EE-41B5-9FB7-CC9C8A238E72}" type="presOf" srcId="{C73DC1B9-BD39-4191-8908-FC719D076072}" destId="{A390A0EE-BBCA-48F7-A102-C0EB30783B50}" srcOrd="0" destOrd="0" presId="urn:microsoft.com/office/officeart/2005/8/layout/hChevron3"/>
    <dgm:cxn modelId="{0B13ACCC-CFAA-4D58-AD7F-6903F0E39C1F}" srcId="{4F6479AA-476B-45BB-A6A4-77149BB59876}" destId="{C73DC1B9-BD39-4191-8908-FC719D076072}" srcOrd="3" destOrd="0" parTransId="{EE2B1788-9847-4718-9DDC-1C0AE855CCBF}" sibTransId="{492D6A67-FA69-4B44-99C5-3E6EB6152FF5}"/>
    <dgm:cxn modelId="{9AFA8BDF-A4E1-4581-B643-434C88D0276E}" srcId="{4F6479AA-476B-45BB-A6A4-77149BB59876}" destId="{D67691AB-46B3-4572-B695-FA09B9E3D436}" srcOrd="0" destOrd="0" parTransId="{7DBC3C81-82CE-4125-9A23-1B2A4D141098}" sibTransId="{2A27F30A-5CD4-4FC4-A0E7-8DC05A24E8F4}"/>
    <dgm:cxn modelId="{1E69D3F9-3C8B-47A7-AFC5-67E41D15734C}" type="presOf" srcId="{4F6479AA-476B-45BB-A6A4-77149BB59876}" destId="{49434FCC-1DC2-4CF9-BD04-F50EB8F07289}" srcOrd="0" destOrd="0" presId="urn:microsoft.com/office/officeart/2005/8/layout/hChevron3"/>
    <dgm:cxn modelId="{59285064-6D2D-4C7D-8192-50AFCDA17358}" type="presParOf" srcId="{49434FCC-1DC2-4CF9-BD04-F50EB8F07289}" destId="{F415D874-0DD9-4AB0-8E90-3E71105FEB38}" srcOrd="0" destOrd="0" presId="urn:microsoft.com/office/officeart/2005/8/layout/hChevron3"/>
    <dgm:cxn modelId="{CEA80342-FAA8-4F27-AD11-CF06295F8C28}" type="presParOf" srcId="{49434FCC-1DC2-4CF9-BD04-F50EB8F07289}" destId="{CF0E44EA-0B8B-4A06-B40B-157F64D54EDB}" srcOrd="1" destOrd="0" presId="urn:microsoft.com/office/officeart/2005/8/layout/hChevron3"/>
    <dgm:cxn modelId="{FF5C1EE0-780B-495F-AD17-8845CDDACC2E}" type="presParOf" srcId="{49434FCC-1DC2-4CF9-BD04-F50EB8F07289}" destId="{2B2FEB4C-AA68-4B3F-B506-9DDD116034CE}" srcOrd="2" destOrd="0" presId="urn:microsoft.com/office/officeart/2005/8/layout/hChevron3"/>
    <dgm:cxn modelId="{3620A6F7-DF64-47DD-B59A-6BFF225065DB}" type="presParOf" srcId="{49434FCC-1DC2-4CF9-BD04-F50EB8F07289}" destId="{60F3E199-C931-4B25-8262-26F76AC3C083}" srcOrd="3" destOrd="0" presId="urn:microsoft.com/office/officeart/2005/8/layout/hChevron3"/>
    <dgm:cxn modelId="{2AE6B335-DEDB-4E1C-8528-3B64B75AFA2A}" type="presParOf" srcId="{49434FCC-1DC2-4CF9-BD04-F50EB8F07289}" destId="{D091E1C2-8F59-4CE7-B607-590442964A14}" srcOrd="4" destOrd="0" presId="urn:microsoft.com/office/officeart/2005/8/layout/hChevron3"/>
    <dgm:cxn modelId="{2EAD2AB3-44A4-44BE-AE44-2D0FF71FFE71}" type="presParOf" srcId="{49434FCC-1DC2-4CF9-BD04-F50EB8F07289}" destId="{A76CBDE0-CF3A-485D-994F-440EF70D82BE}" srcOrd="5" destOrd="0" presId="urn:microsoft.com/office/officeart/2005/8/layout/hChevron3"/>
    <dgm:cxn modelId="{A193AEB7-02FE-452C-978B-A483B64298CD}" type="presParOf" srcId="{49434FCC-1DC2-4CF9-BD04-F50EB8F07289}" destId="{A390A0EE-BBCA-48F7-A102-C0EB30783B50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69655-F957-4A23-80CA-07D6F3E83CA9}">
      <dsp:nvSpPr>
        <dsp:cNvPr id="0" name=""/>
        <dsp:cNvSpPr/>
      </dsp:nvSpPr>
      <dsp:spPr>
        <a:xfrm>
          <a:off x="1462484" y="0"/>
          <a:ext cx="8260407" cy="8260407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3A36E-672F-4F6E-8DB6-475228CCCF35}">
      <dsp:nvSpPr>
        <dsp:cNvPr id="0" name=""/>
        <dsp:cNvSpPr/>
      </dsp:nvSpPr>
      <dsp:spPr>
        <a:xfrm>
          <a:off x="0" y="402612"/>
          <a:ext cx="4955583" cy="3304162"/>
        </a:xfrm>
        <a:prstGeom prst="round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tx1"/>
              </a:solidFill>
            </a:rPr>
            <a:t>Language and Literacy Barriers:</a:t>
          </a:r>
          <a:r>
            <a:rPr lang="en-IN" sz="2200" kern="1200" dirty="0">
              <a:solidFill>
                <a:schemeClr val="tx1"/>
              </a:solidFill>
            </a:rPr>
            <a:t> Rural citizens face severe barriers accessing healthcare because vital scheme details are only available in formal languages and complex forms they cannot easily read.</a:t>
          </a:r>
        </a:p>
      </dsp:txBody>
      <dsp:txXfrm>
        <a:off x="161296" y="563908"/>
        <a:ext cx="4632991" cy="2981570"/>
      </dsp:txXfrm>
    </dsp:sp>
    <dsp:sp modelId="{AD85514E-D99E-4AB0-8783-0E8590FE7EAB}">
      <dsp:nvSpPr>
        <dsp:cNvPr id="0" name=""/>
        <dsp:cNvSpPr/>
      </dsp:nvSpPr>
      <dsp:spPr>
        <a:xfrm>
          <a:off x="5961102" y="434761"/>
          <a:ext cx="5266306" cy="3304162"/>
        </a:xfrm>
        <a:prstGeom prst="round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tx1"/>
              </a:solidFill>
            </a:rPr>
            <a:t>Lack of Program Awareness:</a:t>
          </a:r>
          <a:r>
            <a:rPr lang="en-IN" sz="2200" kern="1200" dirty="0">
              <a:solidFill>
                <a:schemeClr val="tx1"/>
              </a:solidFill>
            </a:rPr>
            <a:t> Consequently, millions of vulnerable families remain completely unaware of their eligibility for crucial government programs like Ayushman Bharat</a:t>
          </a:r>
          <a:r>
            <a:rPr lang="en-IN" sz="2200" kern="1200" dirty="0"/>
            <a:t>.</a:t>
          </a:r>
        </a:p>
      </dsp:txBody>
      <dsp:txXfrm>
        <a:off x="6122398" y="596057"/>
        <a:ext cx="4943714" cy="2981570"/>
      </dsp:txXfrm>
    </dsp:sp>
    <dsp:sp modelId="{24A36AAE-7F4C-48BA-B81A-93BD31652D33}">
      <dsp:nvSpPr>
        <dsp:cNvPr id="0" name=""/>
        <dsp:cNvSpPr/>
      </dsp:nvSpPr>
      <dsp:spPr>
        <a:xfrm>
          <a:off x="138225" y="4644628"/>
          <a:ext cx="5056922" cy="3304162"/>
        </a:xfrm>
        <a:prstGeom prst="round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</a:rPr>
            <a:t>Difficulty with Symptom Triage:</a:t>
          </a:r>
          <a:r>
            <a:rPr lang="en-IN" sz="2100" kern="1200" dirty="0">
              <a:solidFill>
                <a:schemeClr val="tx1"/>
              </a:solidFill>
            </a:rPr>
            <a:t> During sudden illnesses, patients struggle with safe symptom triage, leaving them unsure whether to seek home care or emergency medical help.</a:t>
          </a:r>
        </a:p>
      </dsp:txBody>
      <dsp:txXfrm>
        <a:off x="299521" y="4805924"/>
        <a:ext cx="4734330" cy="2981570"/>
      </dsp:txXfrm>
    </dsp:sp>
    <dsp:sp modelId="{BC1A005C-2271-4B3B-B113-F1FE59A47E5A}">
      <dsp:nvSpPr>
        <dsp:cNvPr id="0" name=""/>
        <dsp:cNvSpPr/>
      </dsp:nvSpPr>
      <dsp:spPr>
        <a:xfrm>
          <a:off x="6208914" y="4562123"/>
          <a:ext cx="5100305" cy="3304162"/>
        </a:xfrm>
        <a:prstGeom prst="round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solidFill>
                <a:schemeClr val="tx1"/>
              </a:solidFill>
            </a:rPr>
            <a:t>Inability to Locate Facilities:</a:t>
          </a:r>
          <a:r>
            <a:rPr lang="en-IN" sz="2100" kern="1200" dirty="0">
              <a:solidFill>
                <a:schemeClr val="tx1"/>
              </a:solidFill>
            </a:rPr>
            <a:t> Patients face significant challenges in easily locating the nearest healthcare facilities when they need them.</a:t>
          </a:r>
        </a:p>
      </dsp:txBody>
      <dsp:txXfrm>
        <a:off x="6370210" y="4723419"/>
        <a:ext cx="4777713" cy="29815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31BE35-951A-4337-BDAA-3E6B33296584}">
      <dsp:nvSpPr>
        <dsp:cNvPr id="0" name=""/>
        <dsp:cNvSpPr/>
      </dsp:nvSpPr>
      <dsp:spPr>
        <a:xfrm>
          <a:off x="2834" y="0"/>
          <a:ext cx="2478343" cy="518152"/>
        </a:xfrm>
        <a:prstGeom prst="homePlate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Eligibility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2834" y="0"/>
        <a:ext cx="2348805" cy="518152"/>
      </dsp:txXfrm>
    </dsp:sp>
    <dsp:sp modelId="{F0353814-9237-420F-A248-7F60D0589F2C}">
      <dsp:nvSpPr>
        <dsp:cNvPr id="0" name=""/>
        <dsp:cNvSpPr/>
      </dsp:nvSpPr>
      <dsp:spPr>
        <a:xfrm>
          <a:off x="2030297" y="0"/>
          <a:ext cx="2478343" cy="518152"/>
        </a:xfrm>
        <a:prstGeom prst="chevron">
          <a:avLst/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Documents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2289373" y="0"/>
        <a:ext cx="1960191" cy="518152"/>
      </dsp:txXfrm>
    </dsp:sp>
    <dsp:sp modelId="{4141DC85-0606-4F52-A8F0-448BF234F318}">
      <dsp:nvSpPr>
        <dsp:cNvPr id="0" name=""/>
        <dsp:cNvSpPr/>
      </dsp:nvSpPr>
      <dsp:spPr>
        <a:xfrm>
          <a:off x="3968183" y="0"/>
          <a:ext cx="2478343" cy="518152"/>
        </a:xfrm>
        <a:prstGeom prst="chevron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tx1"/>
              </a:solidFill>
            </a:rPr>
            <a:t>Application Guidance</a:t>
          </a:r>
          <a:endParaRPr lang="en-IN" sz="1500" kern="1200" dirty="0">
            <a:solidFill>
              <a:schemeClr val="tx1"/>
            </a:solidFill>
          </a:endParaRPr>
        </a:p>
      </dsp:txBody>
      <dsp:txXfrm>
        <a:off x="4227259" y="0"/>
        <a:ext cx="1960191" cy="5181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5D874-0DD9-4AB0-8E90-3E71105FEB38}">
      <dsp:nvSpPr>
        <dsp:cNvPr id="0" name=""/>
        <dsp:cNvSpPr/>
      </dsp:nvSpPr>
      <dsp:spPr>
        <a:xfrm>
          <a:off x="1667" y="350677"/>
          <a:ext cx="1354403" cy="602753"/>
        </a:xfrm>
        <a:prstGeom prst="homePlate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Speak</a:t>
          </a:r>
          <a:endParaRPr lang="en-IN" sz="1200" b="1" kern="1200" dirty="0">
            <a:solidFill>
              <a:schemeClr val="tx1"/>
            </a:solidFill>
          </a:endParaRPr>
        </a:p>
      </dsp:txBody>
      <dsp:txXfrm>
        <a:off x="1667" y="350677"/>
        <a:ext cx="1203715" cy="602753"/>
      </dsp:txXfrm>
    </dsp:sp>
    <dsp:sp modelId="{2B2FEB4C-AA68-4B3F-B506-9DDD116034CE}">
      <dsp:nvSpPr>
        <dsp:cNvPr id="0" name=""/>
        <dsp:cNvSpPr/>
      </dsp:nvSpPr>
      <dsp:spPr>
        <a:xfrm>
          <a:off x="1054693" y="350677"/>
          <a:ext cx="1676122" cy="602753"/>
        </a:xfrm>
        <a:prstGeom prst="chevron">
          <a:avLst/>
        </a:prstGeom>
        <a:solidFill>
          <a:schemeClr val="accent6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Understand</a:t>
          </a:r>
          <a:endParaRPr lang="en-IN" sz="1200" b="1" kern="1200" dirty="0">
            <a:solidFill>
              <a:schemeClr val="tx1"/>
            </a:solidFill>
          </a:endParaRPr>
        </a:p>
      </dsp:txBody>
      <dsp:txXfrm>
        <a:off x="1356070" y="350677"/>
        <a:ext cx="1073369" cy="602753"/>
      </dsp:txXfrm>
    </dsp:sp>
    <dsp:sp modelId="{D091E1C2-8F59-4CE7-B607-590442964A14}">
      <dsp:nvSpPr>
        <dsp:cNvPr id="0" name=""/>
        <dsp:cNvSpPr/>
      </dsp:nvSpPr>
      <dsp:spPr>
        <a:xfrm>
          <a:off x="2429439" y="350677"/>
          <a:ext cx="1506884" cy="602753"/>
        </a:xfrm>
        <a:prstGeom prst="chevron">
          <a:avLst/>
        </a:prstGeom>
        <a:solidFill>
          <a:schemeClr val="accent6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Get Guidance</a:t>
          </a:r>
          <a:endParaRPr lang="en-IN" sz="1200" b="1" kern="1200" dirty="0">
            <a:solidFill>
              <a:schemeClr val="tx1"/>
            </a:solidFill>
          </a:endParaRPr>
        </a:p>
      </dsp:txBody>
      <dsp:txXfrm>
        <a:off x="2730816" y="350677"/>
        <a:ext cx="904131" cy="602753"/>
      </dsp:txXfrm>
    </dsp:sp>
    <dsp:sp modelId="{A390A0EE-BBCA-48F7-A102-C0EB30783B50}">
      <dsp:nvSpPr>
        <dsp:cNvPr id="0" name=""/>
        <dsp:cNvSpPr/>
      </dsp:nvSpPr>
      <dsp:spPr>
        <a:xfrm>
          <a:off x="3634947" y="350677"/>
          <a:ext cx="1506884" cy="602753"/>
        </a:xfrm>
        <a:prstGeom prst="chevron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Reach Care</a:t>
          </a:r>
          <a:endParaRPr lang="en-IN" sz="1200" b="1" kern="1200" dirty="0">
            <a:solidFill>
              <a:schemeClr val="tx1"/>
            </a:solidFill>
          </a:endParaRPr>
        </a:p>
      </dsp:txBody>
      <dsp:txXfrm>
        <a:off x="3936324" y="350677"/>
        <a:ext cx="904131" cy="602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44" y="96011"/>
            <a:ext cx="18022824" cy="7680959"/>
          </a:xfrm>
        </p:spPr>
        <p:txBody>
          <a:bodyPr>
            <a:normAutofit/>
          </a:bodyPr>
          <a:lstStyle>
            <a:lvl1pPr>
              <a:defRPr sz="165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2204" y="8041317"/>
            <a:ext cx="15055596" cy="850392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30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81708" y="8624891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981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35369"/>
            <a:ext cx="16260939" cy="11857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203" y="2821134"/>
            <a:ext cx="16260941" cy="68372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880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368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1771" y="7014266"/>
            <a:ext cx="16253459" cy="197926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81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1771" y="9097701"/>
            <a:ext cx="16253459" cy="560649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3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"/>
            <a:ext cx="18287999" cy="670174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8572500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67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9585" y="2117038"/>
            <a:ext cx="5604015" cy="4268351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69583" y="6604559"/>
            <a:ext cx="5594873" cy="168468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1426678" cy="10287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769583" y="9658350"/>
            <a:ext cx="2571452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4476344" y="9658350"/>
            <a:ext cx="1297056" cy="6286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5646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21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2204" y="1635367"/>
            <a:ext cx="15055596" cy="7738886"/>
          </a:xfrm>
        </p:spPr>
        <p:txBody>
          <a:bodyPr>
            <a:normAutofit/>
          </a:bodyPr>
          <a:lstStyle>
            <a:lvl1pPr>
              <a:defRPr sz="1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8802"/>
            <a:ext cx="1206293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8297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410" y="1633054"/>
            <a:ext cx="12718608" cy="209333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45046" y="3726383"/>
            <a:ext cx="12701337" cy="5309271"/>
          </a:xfrm>
        </p:spPr>
        <p:txBody>
          <a:bodyPr>
            <a:normAutofit/>
          </a:bodyPr>
          <a:lstStyle>
            <a:lvl1pPr marL="685800" indent="-685800">
              <a:lnSpc>
                <a:spcPct val="100000"/>
              </a:lnSpc>
              <a:buFont typeface="+mj-lt"/>
              <a:buAutoNum type="arabicPeriod"/>
              <a:defRPr sz="3000"/>
            </a:lvl1pPr>
            <a:lvl2pPr marL="1028700" indent="-685800">
              <a:lnSpc>
                <a:spcPct val="100000"/>
              </a:lnSpc>
              <a:buFont typeface="+mj-lt"/>
              <a:buAutoNum type="arabicPeriod"/>
              <a:defRPr sz="3000"/>
            </a:lvl2pPr>
            <a:lvl3pPr marL="1200150" indent="-514350">
              <a:lnSpc>
                <a:spcPct val="100000"/>
              </a:lnSpc>
              <a:buFont typeface="+mj-lt"/>
              <a:buAutoNum type="arabicPeriod"/>
              <a:defRPr sz="3000"/>
            </a:lvl3pPr>
            <a:lvl4pPr marL="1543050" indent="-514350">
              <a:lnSpc>
                <a:spcPct val="100000"/>
              </a:lnSpc>
              <a:buFont typeface="+mj-lt"/>
              <a:buAutoNum type="arabicPeriod"/>
              <a:defRPr sz="3000"/>
            </a:lvl4pPr>
            <a:lvl5pPr marL="1885950" indent="-514350">
              <a:lnSpc>
                <a:spcPct val="100000"/>
              </a:lnSpc>
              <a:buFont typeface="+mj-lt"/>
              <a:buAutoNum type="arabicPeriod"/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804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2204" y="1632204"/>
            <a:ext cx="8624088" cy="2331720"/>
          </a:xfrm>
        </p:spPr>
        <p:txBody>
          <a:bodyPr anchor="t" anchorCtr="0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2204" y="3977640"/>
            <a:ext cx="8624088" cy="5541264"/>
          </a:xfrm>
        </p:spPr>
        <p:txBody>
          <a:bodyPr>
            <a:normAutofit/>
          </a:bodyPr>
          <a:lstStyle>
            <a:lvl1pPr marL="514350" indent="-514350">
              <a:lnSpc>
                <a:spcPct val="100000"/>
              </a:lnSpc>
              <a:buFont typeface="System Font Regular"/>
              <a:buChar char="-"/>
              <a:defRPr sz="3000"/>
            </a:lvl1pPr>
            <a:lvl2pPr>
              <a:lnSpc>
                <a:spcPct val="100000"/>
              </a:lnSpc>
              <a:defRPr sz="3000"/>
            </a:lvl2pPr>
            <a:lvl3pPr>
              <a:lnSpc>
                <a:spcPct val="100000"/>
              </a:lnSpc>
              <a:defRPr sz="3000"/>
            </a:lvl3pPr>
            <a:lvl4pPr>
              <a:lnSpc>
                <a:spcPct val="100000"/>
              </a:lnSpc>
              <a:defRPr sz="3000"/>
            </a:lvl4pPr>
            <a:lvl5pPr>
              <a:lnSpc>
                <a:spcPct val="100000"/>
              </a:lnSpc>
              <a:defRPr sz="3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6410" y="9658350"/>
            <a:ext cx="5873106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09516" y="9658350"/>
            <a:ext cx="1689180" cy="628650"/>
          </a:xfrm>
        </p:spPr>
        <p:txBody>
          <a:bodyPr/>
          <a:lstStyle/>
          <a:p>
            <a:fld id="{8A60B404-9532-4DA8-8A40-EC339A5BE635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8696" y="9658350"/>
            <a:ext cx="1057596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0" y="0"/>
            <a:ext cx="7315200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04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515" y="1672284"/>
            <a:ext cx="5885183" cy="612537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41919" y="1672935"/>
            <a:ext cx="8714570" cy="775681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809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552" y="1671983"/>
            <a:ext cx="4156989" cy="551332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01799" y="1693718"/>
            <a:ext cx="11691347" cy="773603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02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8682" y="1666652"/>
            <a:ext cx="9509118" cy="17145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289" y="0"/>
            <a:ext cx="6759878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78681" y="3604331"/>
            <a:ext cx="9509121" cy="582542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7063420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78682" y="9658350"/>
            <a:ext cx="7162353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4476344" y="9658350"/>
            <a:ext cx="1297056" cy="6286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5646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5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487" y="1668156"/>
            <a:ext cx="10982423" cy="139903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" y="0"/>
            <a:ext cx="5289659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664113" y="3280887"/>
            <a:ext cx="11023689" cy="61488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7063420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4114" y="9658350"/>
            <a:ext cx="8676921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4476344" y="9658350"/>
            <a:ext cx="1297056" cy="6286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5646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66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091" y="1668156"/>
            <a:ext cx="11015346" cy="139903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40090" y="3280887"/>
            <a:ext cx="11015348" cy="61488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400"/>
            </a:lvl4pPr>
            <a:lvl5pPr>
              <a:lnSpc>
                <a:spcPct val="100000"/>
              </a:lnSpc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0091" y="9658350"/>
            <a:ext cx="8668581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43981" y="9658350"/>
            <a:ext cx="1297056" cy="6286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53283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998339" y="0"/>
            <a:ext cx="5289659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69433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100" y="1673605"/>
            <a:ext cx="7107875" cy="193225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32288" y="3828186"/>
            <a:ext cx="7107675" cy="560156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2100" y="9658350"/>
            <a:ext cx="4761098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528507" y="9658350"/>
            <a:ext cx="1297056" cy="6286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7809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0" y="0"/>
            <a:ext cx="9144000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51620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595" y="1666652"/>
            <a:ext cx="5720768" cy="2240795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47596" y="4051007"/>
            <a:ext cx="5720769" cy="537874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7593" y="9658350"/>
            <a:ext cx="3374003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156906" y="9658350"/>
            <a:ext cx="1297056" cy="62865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66208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8348" y="0"/>
            <a:ext cx="10499652" cy="10287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5173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841311" y="1668647"/>
            <a:ext cx="4846490" cy="27884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289" y="0"/>
            <a:ext cx="11222666" cy="10287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851920" y="4699883"/>
            <a:ext cx="4835880" cy="398437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342900" indent="0">
              <a:lnSpc>
                <a:spcPct val="100000"/>
              </a:lnSpc>
              <a:buNone/>
              <a:defRPr lang="en-US" dirty="0"/>
            </a:lvl2pPr>
            <a:lvl3pPr marL="685800" indent="0">
              <a:lnSpc>
                <a:spcPct val="100000"/>
              </a:lnSpc>
              <a:buNone/>
              <a:defRPr lang="en-US" dirty="0"/>
            </a:lvl3pPr>
            <a:lvl4pPr marL="1028700" indent="0">
              <a:lnSpc>
                <a:spcPct val="100000"/>
              </a:lnSpc>
              <a:buNone/>
              <a:defRPr lang="en-US" dirty="0"/>
            </a:lvl4pPr>
            <a:lvl5pPr marL="13716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7063420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841311" y="9658350"/>
            <a:ext cx="2499723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4476344" y="9658350"/>
            <a:ext cx="1297056" cy="6286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85646" y="9658350"/>
            <a:ext cx="902154" cy="62865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74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2986" y="5981704"/>
            <a:ext cx="4567431" cy="346467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1"/>
            <a:ext cx="18288000" cy="516499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83903" y="5981704"/>
            <a:ext cx="11190044" cy="346467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342900" indent="0">
              <a:lnSpc>
                <a:spcPct val="100000"/>
              </a:lnSpc>
              <a:buNone/>
              <a:defRPr lang="en-US" dirty="0"/>
            </a:lvl2pPr>
            <a:lvl3pPr marL="685800" indent="0">
              <a:lnSpc>
                <a:spcPct val="100000"/>
              </a:lnSpc>
              <a:buNone/>
              <a:defRPr lang="en-US" dirty="0"/>
            </a:lvl3pPr>
            <a:lvl4pPr marL="1028700" indent="0">
              <a:lnSpc>
                <a:spcPct val="100000"/>
              </a:lnSpc>
              <a:buNone/>
              <a:defRPr lang="en-US" dirty="0"/>
            </a:lvl4pPr>
            <a:lvl5pPr marL="13716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6172638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147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10" y="1681485"/>
            <a:ext cx="15715980" cy="145389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3429012"/>
            <a:ext cx="9144000" cy="6857988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037618" y="3429012"/>
            <a:ext cx="7314773" cy="60007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037617" y="9658350"/>
            <a:ext cx="4438727" cy="62865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734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11" y="1683301"/>
            <a:ext cx="5545289" cy="225773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771651" y="4260272"/>
            <a:ext cx="5410049" cy="516947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70510" y="1683302"/>
            <a:ext cx="9903437" cy="774644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4250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0956" y="7135790"/>
            <a:ext cx="9716844" cy="1689831"/>
          </a:xfrm>
        </p:spPr>
        <p:txBody>
          <a:bodyPr anchor="b">
            <a:normAutofit/>
          </a:bodyPr>
          <a:lstStyle>
            <a:lvl1pPr algn="r">
              <a:defRPr sz="3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444" y="96012"/>
            <a:ext cx="18041112" cy="6900888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46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81708" y="8572500"/>
            <a:ext cx="1206293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747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72" y="-1929392"/>
            <a:ext cx="15979140" cy="17007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32204" y="1558643"/>
            <a:ext cx="14127480" cy="7605102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9000" b="1"/>
            </a:lvl1pPr>
            <a:lvl2pPr marL="342900" indent="0">
              <a:lnSpc>
                <a:spcPct val="90000"/>
              </a:lnSpc>
              <a:buNone/>
              <a:defRPr sz="9000" b="1"/>
            </a:lvl2pPr>
            <a:lvl3pPr marL="685800" indent="0">
              <a:lnSpc>
                <a:spcPct val="90000"/>
              </a:lnSpc>
              <a:buNone/>
              <a:defRPr sz="9000" b="1"/>
            </a:lvl3pPr>
            <a:lvl4pPr marL="1028700" indent="0">
              <a:lnSpc>
                <a:spcPct val="90000"/>
              </a:lnSpc>
              <a:buNone/>
              <a:defRPr sz="9000" b="1"/>
            </a:lvl4pPr>
            <a:lvl5pPr marL="1371600" indent="0">
              <a:lnSpc>
                <a:spcPct val="90000"/>
              </a:lnSpc>
              <a:buNone/>
              <a:defRPr sz="9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741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0200" y="8127541"/>
            <a:ext cx="15087600" cy="699518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3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2875" y="95250"/>
            <a:ext cx="17966532" cy="762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12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8/13/2026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81708" y="8572938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385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78698"/>
            <a:ext cx="14835099" cy="1806890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3278" y="3660852"/>
            <a:ext cx="7262258" cy="570192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3660853"/>
            <a:ext cx="7209003" cy="570192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041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411" y="1672994"/>
            <a:ext cx="14924183" cy="1258284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133" y="2884785"/>
            <a:ext cx="7224713" cy="12582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700" b="1" cap="all" spc="150" baseline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323224" y="2884785"/>
            <a:ext cx="7237370" cy="12582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700" b="1" cap="all" spc="150" baseline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133" y="4238687"/>
            <a:ext cx="7224713" cy="504580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323224" y="4238687"/>
            <a:ext cx="7237370" cy="504580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42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56150"/>
            <a:ext cx="14884146" cy="1941342"/>
          </a:xfrm>
        </p:spPr>
        <p:txBody>
          <a:bodyPr>
            <a:normAutofit/>
          </a:bodyPr>
          <a:lstStyle>
            <a:lvl1pPr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883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001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32203"/>
            <a:ext cx="15941742" cy="3126827"/>
          </a:xfrm>
        </p:spPr>
        <p:txBody>
          <a:bodyPr anchor="t" anchorCtr="0">
            <a:noAutofit/>
          </a:bodyPr>
          <a:lstStyle>
            <a:lvl1pPr>
              <a:defRPr sz="9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2202" y="4914900"/>
            <a:ext cx="15941744" cy="474345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3429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1371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6242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5" y="1632204"/>
            <a:ext cx="12646151" cy="2763030"/>
          </a:xfrm>
        </p:spPr>
        <p:txBody>
          <a:bodyPr anchor="t" anchorCtr="0">
            <a:noAutofit/>
          </a:bodyPr>
          <a:lstStyle>
            <a:lvl1pPr>
              <a:defRPr sz="9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15820" y="6370038"/>
            <a:ext cx="12645959" cy="241201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1pPr>
            <a:lvl2pPr marL="34290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2pPr>
            <a:lvl3pPr marL="68580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3pPr>
            <a:lvl4pPr marL="102870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4pPr>
            <a:lvl5pPr marL="1371600" indent="0">
              <a:lnSpc>
                <a:spcPct val="100000"/>
              </a:lnSpc>
              <a:buNone/>
              <a:defRPr sz="3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" y="1809192"/>
            <a:ext cx="1206293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367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204" y="1635368"/>
            <a:ext cx="14884146" cy="14039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2204" y="3179618"/>
            <a:ext cx="14884146" cy="62501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32204" y="9658350"/>
            <a:ext cx="12844140" cy="62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3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476344" y="9658350"/>
            <a:ext cx="1297056" cy="62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35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85646" y="9658350"/>
            <a:ext cx="902154" cy="628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35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54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34290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34290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indent="-34290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indent="-342900" algn="l" defTabSz="13716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image" Target="../media/image8.jpeg"/><Relationship Id="rId7" Type="http://schemas.openxmlformats.org/officeDocument/2006/relationships/diagramData" Target="../diagrams/data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4.jpeg"/><Relationship Id="rId11" Type="http://schemas.microsoft.com/office/2007/relationships/diagramDrawing" Target="../diagrams/drawing2.xml"/><Relationship Id="rId5" Type="http://schemas.openxmlformats.org/officeDocument/2006/relationships/image" Target="../media/image13.jpeg"/><Relationship Id="rId10" Type="http://schemas.openxmlformats.org/officeDocument/2006/relationships/diagramColors" Target="../diagrams/colors2.xml"/><Relationship Id="rId4" Type="http://schemas.openxmlformats.org/officeDocument/2006/relationships/image" Target="../media/image12.jpeg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8.jpeg"/><Relationship Id="rId7" Type="http://schemas.openxmlformats.org/officeDocument/2006/relationships/diagramColors" Target="../diagrams/colors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6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.jpeg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8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nhm.gov.in/nammamihaan/index1.php?lang=1&amp;level=1&amp;lid=226&amp;sublinkid=150" TargetMode="External"/><Relationship Id="rId3" Type="http://schemas.openxmlformats.org/officeDocument/2006/relationships/image" Target="../media/image7.svg"/><Relationship Id="rId7" Type="http://schemas.openxmlformats.org/officeDocument/2006/relationships/hyperlink" Target="https://abdm.gov.in/call-center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abdm.gov.in/health-facilities" TargetMode="External"/><Relationship Id="rId11" Type="http://schemas.openxmlformats.org/officeDocument/2006/relationships/image" Target="../media/image19.jpeg"/><Relationship Id="rId5" Type="http://schemas.openxmlformats.org/officeDocument/2006/relationships/hyperlink" Target="https://abdm.gov.in/abdm" TargetMode="External"/><Relationship Id="rId10" Type="http://schemas.openxmlformats.org/officeDocument/2006/relationships/hyperlink" Target="https://abdm.gov.in/ebook" TargetMode="External"/><Relationship Id="rId4" Type="http://schemas.openxmlformats.org/officeDocument/2006/relationships/image" Target="../media/image8.jpeg"/><Relationship Id="rId9" Type="http://schemas.openxmlformats.org/officeDocument/2006/relationships/hyperlink" Target="https://www.who.int/tools/triag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0" y="1729468"/>
            <a:ext cx="10781919" cy="10781919"/>
            <a:chOff x="-65265" y="-33383"/>
            <a:chExt cx="14375892" cy="14375892"/>
          </a:xfrm>
        </p:grpSpPr>
        <p:sp>
          <p:nvSpPr>
            <p:cNvPr id="3" name="Freeform 3"/>
            <p:cNvSpPr/>
            <p:nvPr/>
          </p:nvSpPr>
          <p:spPr>
            <a:xfrm>
              <a:off x="-65265" y="-33383"/>
              <a:ext cx="14375892" cy="14375892"/>
            </a:xfrm>
            <a:custGeom>
              <a:avLst/>
              <a:gdLst/>
              <a:ahLst/>
              <a:cxnLst/>
              <a:rect l="l" t="t" r="r" b="b"/>
              <a:pathLst>
                <a:path w="14375892" h="14375892">
                  <a:moveTo>
                    <a:pt x="0" y="0"/>
                  </a:moveTo>
                  <a:lnTo>
                    <a:pt x="14375892" y="0"/>
                  </a:lnTo>
                  <a:lnTo>
                    <a:pt x="14375892" y="14375892"/>
                  </a:lnTo>
                  <a:lnTo>
                    <a:pt x="0" y="1437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9985972"/>
            <a:ext cx="18288000" cy="301028"/>
          </a:xfrm>
          <a:custGeom>
            <a:avLst/>
            <a:gdLst/>
            <a:ahLst/>
            <a:cxnLst/>
            <a:rect l="l" t="t" r="r" b="b"/>
            <a:pathLst>
              <a:path w="18288000" h="301028">
                <a:moveTo>
                  <a:pt x="0" y="0"/>
                </a:moveTo>
                <a:lnTo>
                  <a:pt x="18288000" y="0"/>
                </a:lnTo>
                <a:lnTo>
                  <a:pt x="18288000" y="301028"/>
                </a:lnTo>
                <a:lnTo>
                  <a:pt x="0" y="3010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26" b="-626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501499" y="325564"/>
            <a:ext cx="610934" cy="610934"/>
            <a:chOff x="0" y="0"/>
            <a:chExt cx="814578" cy="8145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4578" cy="814578"/>
            </a:xfrm>
            <a:custGeom>
              <a:avLst/>
              <a:gdLst/>
              <a:ahLst/>
              <a:cxnLst/>
              <a:rect l="l" t="t" r="r" b="b"/>
              <a:pathLst>
                <a:path w="814578" h="814578">
                  <a:moveTo>
                    <a:pt x="814578" y="407289"/>
                  </a:moveTo>
                  <a:cubicBezTo>
                    <a:pt x="814578" y="632206"/>
                    <a:pt x="632206" y="814578"/>
                    <a:pt x="407289" y="814578"/>
                  </a:cubicBezTo>
                  <a:cubicBezTo>
                    <a:pt x="182372" y="814578"/>
                    <a:pt x="0" y="632206"/>
                    <a:pt x="0" y="407289"/>
                  </a:cubicBezTo>
                  <a:cubicBezTo>
                    <a:pt x="0" y="182372"/>
                    <a:pt x="182372" y="0"/>
                    <a:pt x="407289" y="0"/>
                  </a:cubicBezTo>
                  <a:cubicBezTo>
                    <a:pt x="632206" y="0"/>
                    <a:pt x="814578" y="182372"/>
                    <a:pt x="814578" y="407289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6229667" y="154953"/>
            <a:ext cx="1668199" cy="71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OSCode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11991" y="634375"/>
            <a:ext cx="1585874" cy="34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8"/>
              </a:lnSpc>
            </a:pPr>
            <a:r>
              <a:rPr lang="en-US" sz="1398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by </a:t>
            </a:r>
            <a:r>
              <a:rPr lang="en-US" sz="1398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community</a:t>
            </a:r>
            <a:r>
              <a:rPr lang="en-US" sz="1398" b="1" dirty="0" err="1">
                <a:solidFill>
                  <a:srgbClr val="00AEEF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endParaRPr lang="en-US" sz="1398" b="1" dirty="0">
              <a:solidFill>
                <a:srgbClr val="00AEE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781952" y="4494847"/>
            <a:ext cx="4724105" cy="165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5"/>
              </a:lnSpc>
            </a:pPr>
            <a:endParaRPr lang="en-US" sz="4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6719"/>
              </a:lnSpc>
            </a:pPr>
            <a:endParaRPr lang="en-US" sz="48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60B60E6-A219-3707-E3B5-C543CC60003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251" y="-705"/>
            <a:ext cx="9525815" cy="10248532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5324683" y="130656"/>
            <a:ext cx="5867400" cy="811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400" b="1" dirty="0">
                <a:solidFill>
                  <a:schemeClr val="tx2"/>
                </a:solidFill>
                <a:latin typeface="Algerian" panose="04020705040A02060702" pitchFamily="82" charset="0"/>
                <a:ea typeface="Inter Bold"/>
                <a:cs typeface="Inter Bold"/>
                <a:sym typeface="Inter Bold"/>
              </a:rPr>
              <a:t>DECODE SIH 2026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960" y="7704130"/>
            <a:ext cx="3775166" cy="43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PRESENTED BY: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" y="8587234"/>
            <a:ext cx="4341768" cy="8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3200" dirty="0">
                <a:solidFill>
                  <a:schemeClr val="accent3">
                    <a:lumMod val="50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CODE </a:t>
            </a:r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Inter Bold"/>
                <a:ea typeface="Inter Bold"/>
                <a:cs typeface="Inter Bold"/>
                <a:sym typeface="Inter Bold"/>
              </a:rPr>
              <a:t>ALCHEMIST</a:t>
            </a:r>
            <a:r>
              <a:rPr lang="en-US" sz="3200" b="1" dirty="0">
                <a:solidFill>
                  <a:schemeClr val="accent3">
                    <a:lumMod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</a:p>
          <a:p>
            <a:pPr algn="l">
              <a:lnSpc>
                <a:spcPts val="3358"/>
              </a:lnSpc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87C76F-8E5C-4E74-0188-B4D93E14BE8A}"/>
              </a:ext>
            </a:extLst>
          </p:cNvPr>
          <p:cNvSpPr txBox="1"/>
          <p:nvPr/>
        </p:nvSpPr>
        <p:spPr>
          <a:xfrm>
            <a:off x="381000" y="1964191"/>
            <a:ext cx="105351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+mj-lt"/>
              </a:rPr>
              <a:t>🏆</a:t>
            </a:r>
            <a:r>
              <a:rPr lang="en-IN" sz="3200" b="1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Bharat Shakti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DEE990-D928-6A32-8B46-DE8E8C18D72F}"/>
              </a:ext>
            </a:extLst>
          </p:cNvPr>
          <p:cNvSpPr txBox="1"/>
          <p:nvPr/>
        </p:nvSpPr>
        <p:spPr>
          <a:xfrm>
            <a:off x="415834" y="3095970"/>
            <a:ext cx="105351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PROBLEM STATEMENT 1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9E5666-A9A2-3D4A-D70A-21D598A1FA6D}"/>
              </a:ext>
            </a:extLst>
          </p:cNvPr>
          <p:cNvSpPr txBox="1"/>
          <p:nvPr/>
        </p:nvSpPr>
        <p:spPr>
          <a:xfrm>
            <a:off x="829699" y="3810437"/>
            <a:ext cx="898996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AI Rural Health Assistant — Multilingual </a:t>
            </a:r>
          </a:p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Healthcare Access &amp; Government Scheme Guidance</a:t>
            </a:r>
          </a:p>
          <a:p>
            <a:endParaRPr lang="en-IN" sz="32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sz="32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61418B-B5E7-8959-A0FF-BD0F9C2B785A}"/>
              </a:ext>
            </a:extLst>
          </p:cNvPr>
          <p:cNvSpPr txBox="1"/>
          <p:nvPr/>
        </p:nvSpPr>
        <p:spPr>
          <a:xfrm>
            <a:off x="381000" y="5578257"/>
            <a:ext cx="105351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662924"/>
                </a:solidFill>
              </a:rPr>
              <a:t>THEME</a:t>
            </a:r>
            <a:r>
              <a:rPr lang="en-IN" sz="3200" b="1" dirty="0">
                <a:solidFill>
                  <a:schemeClr val="accent2">
                    <a:lumMod val="75000"/>
                  </a:schemeClr>
                </a:solidFill>
              </a:rPr>
              <a:t> :</a:t>
            </a:r>
            <a:r>
              <a:rPr lang="en-IN" sz="3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3200" b="1" dirty="0">
                <a:solidFill>
                  <a:schemeClr val="accent1">
                    <a:lumMod val="50000"/>
                  </a:schemeClr>
                </a:solidFill>
              </a:rPr>
              <a:t>HEALTH TECH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13B728-F73A-1B4F-CA9F-0262A3C6E65E}"/>
              </a:ext>
            </a:extLst>
          </p:cNvPr>
          <p:cNvSpPr txBox="1"/>
          <p:nvPr/>
        </p:nvSpPr>
        <p:spPr>
          <a:xfrm>
            <a:off x="4038600" y="9394615"/>
            <a:ext cx="10535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</a:rPr>
              <a:t>“</a:t>
            </a:r>
            <a:r>
              <a:rPr lang="en-IN" sz="2400" b="1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ONE VOICE COMMAND, INSTANT HEALTHCARE GUIDANCE.”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6229667" y="154953"/>
            <a:ext cx="1668199" cy="5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endParaRPr lang="en-US" sz="3199" b="1" dirty="0">
              <a:solidFill>
                <a:srgbClr val="303642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29208A-56E8-A1CD-2C38-E0F43B66C760}"/>
              </a:ext>
            </a:extLst>
          </p:cNvPr>
          <p:cNvSpPr txBox="1"/>
          <p:nvPr/>
        </p:nvSpPr>
        <p:spPr>
          <a:xfrm>
            <a:off x="1447800" y="1462028"/>
            <a:ext cx="96964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effectLst/>
              <a:latin typeface="Google Sans Text"/>
            </a:endParaRPr>
          </a:p>
          <a:p>
            <a:endParaRPr lang="en-IN" dirty="0">
              <a:latin typeface="Google Sans Text"/>
            </a:endParaRPr>
          </a:p>
          <a:p>
            <a:endParaRPr lang="en-IN" dirty="0">
              <a:effectLst/>
              <a:latin typeface="Google Sans Tex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EA9FF5-6FB5-99B8-D666-34FA3FF9C1AB}"/>
              </a:ext>
            </a:extLst>
          </p:cNvPr>
          <p:cNvSpPr txBox="1"/>
          <p:nvPr/>
        </p:nvSpPr>
        <p:spPr>
          <a:xfrm>
            <a:off x="390134" y="161600"/>
            <a:ext cx="98488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solidFill>
                  <a:schemeClr val="accent3">
                    <a:lumMod val="50000"/>
                  </a:schemeClr>
                </a:solidFill>
                <a:effectLst/>
                <a:latin typeface="Algerian" panose="04020705040A02060702" pitchFamily="82" charset="0"/>
              </a:rPr>
              <a:t>REAL WORLD PROBLEM</a:t>
            </a:r>
            <a:endParaRPr lang="en-IN" sz="4800" dirty="0">
              <a:solidFill>
                <a:schemeClr val="accent3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87BBFD97-7A91-A8C2-23E4-8CE5062CE5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3390190"/>
              </p:ext>
            </p:extLst>
          </p:nvPr>
        </p:nvGraphicFramePr>
        <p:xfrm>
          <a:off x="814251" y="1181101"/>
          <a:ext cx="11604625" cy="8260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23A9FFE-F18D-B2EC-6F9F-971E5BF9CCD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78"/>
          <a:stretch>
            <a:fillRect/>
          </a:stretch>
        </p:blipFill>
        <p:spPr>
          <a:xfrm>
            <a:off x="11811000" y="-26905"/>
            <a:ext cx="6477000" cy="10287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AA99D48-B3DC-E92D-76BD-496E2AF6C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59457"/>
              </p:ext>
            </p:extLst>
          </p:nvPr>
        </p:nvGraphicFramePr>
        <p:xfrm>
          <a:off x="15211107" y="26905"/>
          <a:ext cx="3076893" cy="3032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76893">
                  <a:extLst>
                    <a:ext uri="{9D8B030D-6E8A-4147-A177-3AD203B41FA5}">
                      <a16:colId xmlns:a16="http://schemas.microsoft.com/office/drawing/2014/main" val="503387002"/>
                    </a:ext>
                  </a:extLst>
                </a:gridCol>
              </a:tblGrid>
              <a:tr h="245966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662924"/>
                          </a:solidFill>
                        </a:rPr>
                        <a:t>TEAM MEMBERS</a:t>
                      </a:r>
                    </a:p>
                    <a:p>
                      <a:endParaRPr lang="en-IN" sz="2700" b="1" kern="1200" dirty="0">
                        <a:solidFill>
                          <a:srgbClr val="662924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KAMALESHWARAN B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     (TEAM LEAD)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VISHNUVARDHAN B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KEVIN CRIS F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JOHN EZRA 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SRIHARINI D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POOJA SRI AB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86315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CC385638-6AF3-07E3-7929-A7E886290ECF}"/>
              </a:ext>
            </a:extLst>
          </p:cNvPr>
          <p:cNvSpPr txBox="1"/>
          <p:nvPr/>
        </p:nvSpPr>
        <p:spPr>
          <a:xfrm>
            <a:off x="3581400" y="9781468"/>
            <a:ext cx="9810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662924"/>
                </a:solidFill>
                <a:highlight>
                  <a:srgbClr val="FFFF00"/>
                </a:highlight>
              </a:rPr>
              <a:t>"FROM RURAL SYMPTOM TO RIGHT SOLUTION IN YOUR MOTHER TONGUE."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5501499" y="325564"/>
            <a:ext cx="610934" cy="610934"/>
            <a:chOff x="0" y="0"/>
            <a:chExt cx="814578" cy="8145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4578" cy="814578"/>
            </a:xfrm>
            <a:custGeom>
              <a:avLst/>
              <a:gdLst/>
              <a:ahLst/>
              <a:cxnLst/>
              <a:rect l="l" t="t" r="r" b="b"/>
              <a:pathLst>
                <a:path w="814578" h="814578">
                  <a:moveTo>
                    <a:pt x="814578" y="407289"/>
                  </a:moveTo>
                  <a:cubicBezTo>
                    <a:pt x="814578" y="632206"/>
                    <a:pt x="632206" y="814578"/>
                    <a:pt x="407289" y="814578"/>
                  </a:cubicBezTo>
                  <a:cubicBezTo>
                    <a:pt x="182372" y="814578"/>
                    <a:pt x="0" y="632206"/>
                    <a:pt x="0" y="407289"/>
                  </a:cubicBezTo>
                  <a:cubicBezTo>
                    <a:pt x="0" y="182372"/>
                    <a:pt x="182372" y="0"/>
                    <a:pt x="407289" y="0"/>
                  </a:cubicBezTo>
                  <a:cubicBezTo>
                    <a:pt x="632206" y="0"/>
                    <a:pt x="814578" y="182372"/>
                    <a:pt x="814578" y="407289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6229667" y="154953"/>
            <a:ext cx="1668199" cy="71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OSCode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11991" y="634375"/>
            <a:ext cx="1585874" cy="34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8"/>
              </a:lnSpc>
            </a:pPr>
            <a:r>
              <a:rPr lang="en-US" sz="13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by community</a:t>
            </a:r>
            <a:r>
              <a:rPr lang="en-US" sz="1398" b="1">
                <a:solidFill>
                  <a:srgbClr val="00AEEF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0134" y="356109"/>
            <a:ext cx="8115300" cy="791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chemeClr val="accent3">
                    <a:lumMod val="50000"/>
                  </a:schemeClr>
                </a:solidFill>
                <a:latin typeface="Algerian" panose="04020705040A02060702" pitchFamily="82" charset="0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ECF883-655E-8F5A-3DE4-B5F3E980B6B4}"/>
              </a:ext>
            </a:extLst>
          </p:cNvPr>
          <p:cNvSpPr txBox="1"/>
          <p:nvPr/>
        </p:nvSpPr>
        <p:spPr>
          <a:xfrm>
            <a:off x="825606" y="3341761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BE8544-E852-56F2-90F7-DA118A768850}"/>
              </a:ext>
            </a:extLst>
          </p:cNvPr>
          <p:cNvSpPr txBox="1"/>
          <p:nvPr/>
        </p:nvSpPr>
        <p:spPr>
          <a:xfrm>
            <a:off x="431126" y="1618148"/>
            <a:ext cx="6910149" cy="3816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highlight>
                  <a:srgbClr val="FFFF00"/>
                </a:highlight>
              </a:rPr>
              <a:t>What Does This Problem Aim to Solve?</a:t>
            </a:r>
          </a:p>
          <a:p>
            <a:endParaRPr lang="en-IN" sz="2800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Low awareness of government schemes-</a:t>
            </a:r>
            <a:r>
              <a:rPr lang="en-US" b="1" dirty="0"/>
              <a:t>Rural citizens may not know they are eligible for schemes like Ayushman Bharat.</a:t>
            </a:r>
            <a:endParaRPr lang="en-IN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Language &amp; literacy barriers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Uncertainty during illness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Difficulty finding healthcare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 Lack of accessible guidance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8367AA-5ACF-E910-3E92-0368251DE088}"/>
              </a:ext>
            </a:extLst>
          </p:cNvPr>
          <p:cNvSpPr txBox="1"/>
          <p:nvPr/>
        </p:nvSpPr>
        <p:spPr>
          <a:xfrm>
            <a:off x="390133" y="5545912"/>
            <a:ext cx="6427470" cy="3398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Why We Chose This Problem</a:t>
            </a:r>
            <a:r>
              <a:rPr lang="en-US" sz="2800" dirty="0">
                <a:highlight>
                  <a:srgbClr val="FFFF00"/>
                </a:highlight>
              </a:rPr>
              <a:t>?</a:t>
            </a:r>
          </a:p>
          <a:p>
            <a:endParaRPr lang="en-US" sz="2800" dirty="0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Language is the real barrier-Most digital health tools are English/Hindi-only — unusable for millions of regional-language, low-literacy rural users.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Awareness gap, not policy gap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ASHA workers are overburdened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81371-1DAC-AAEE-64A3-0DA513B7D5F0}"/>
              </a:ext>
            </a:extLst>
          </p:cNvPr>
          <p:cNvSpPr txBox="1"/>
          <p:nvPr/>
        </p:nvSpPr>
        <p:spPr>
          <a:xfrm>
            <a:off x="10231766" y="1695951"/>
            <a:ext cx="9277350" cy="50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58"/>
              </a:lnSpc>
            </a:pPr>
            <a:r>
              <a:rPr lang="en-US" sz="2800" b="1" dirty="0">
                <a:solidFill>
                  <a:schemeClr val="tx1"/>
                </a:solidFill>
                <a:highlight>
                  <a:srgbClr val="FFFF00"/>
                </a:highlight>
              </a:rPr>
              <a:t>Who Faces This Issue?</a:t>
            </a:r>
            <a:endParaRPr lang="en-IN" sz="28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ECA990-C619-2686-BA46-566BEFCCBA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84" t="10883" r="-14"/>
          <a:stretch>
            <a:fillRect/>
          </a:stretch>
        </p:blipFill>
        <p:spPr>
          <a:xfrm>
            <a:off x="6523606" y="2925468"/>
            <a:ext cx="11727749" cy="580444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A573A2-0C97-E9E1-B75A-10370420E499}"/>
              </a:ext>
            </a:extLst>
          </p:cNvPr>
          <p:cNvSpPr/>
          <p:nvPr/>
        </p:nvSpPr>
        <p:spPr>
          <a:xfrm>
            <a:off x="8505434" y="8928515"/>
            <a:ext cx="2238766" cy="505523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BEFORE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239A08-D33D-3450-BCF1-F98A8E38D3E2}"/>
              </a:ext>
            </a:extLst>
          </p:cNvPr>
          <p:cNvSpPr/>
          <p:nvPr/>
        </p:nvSpPr>
        <p:spPr>
          <a:xfrm>
            <a:off x="14073225" y="8935685"/>
            <a:ext cx="2238766" cy="505523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AFTER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542045-ABD0-145E-D6E1-C9A76DA98A38}"/>
              </a:ext>
            </a:extLst>
          </p:cNvPr>
          <p:cNvSpPr txBox="1"/>
          <p:nvPr/>
        </p:nvSpPr>
        <p:spPr>
          <a:xfrm>
            <a:off x="4748017" y="9746225"/>
            <a:ext cx="9753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662924"/>
                </a:solidFill>
                <a:highlight>
                  <a:srgbClr val="FFFF00"/>
                </a:highlight>
              </a:rPr>
              <a:t>"NO INTERNET, NO BARRIER, JUST TRUE HEALTH INCLUSION."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9884" y="567352"/>
            <a:ext cx="10781919" cy="10781919"/>
            <a:chOff x="0" y="0"/>
            <a:chExt cx="14375892" cy="143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75892" cy="14375892"/>
            </a:xfrm>
            <a:custGeom>
              <a:avLst/>
              <a:gdLst/>
              <a:ahLst/>
              <a:cxnLst/>
              <a:rect l="l" t="t" r="r" b="b"/>
              <a:pathLst>
                <a:path w="14375892" h="14375892">
                  <a:moveTo>
                    <a:pt x="0" y="0"/>
                  </a:moveTo>
                  <a:lnTo>
                    <a:pt x="14375892" y="0"/>
                  </a:lnTo>
                  <a:lnTo>
                    <a:pt x="14375892" y="14375892"/>
                  </a:lnTo>
                  <a:lnTo>
                    <a:pt x="0" y="1437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5764428" y="132368"/>
            <a:ext cx="610934" cy="610934"/>
            <a:chOff x="0" y="0"/>
            <a:chExt cx="814578" cy="8145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4578" cy="814578"/>
            </a:xfrm>
            <a:custGeom>
              <a:avLst/>
              <a:gdLst/>
              <a:ahLst/>
              <a:cxnLst/>
              <a:rect l="l" t="t" r="r" b="b"/>
              <a:pathLst>
                <a:path w="814578" h="814578">
                  <a:moveTo>
                    <a:pt x="814578" y="407289"/>
                  </a:moveTo>
                  <a:cubicBezTo>
                    <a:pt x="814578" y="632206"/>
                    <a:pt x="632206" y="814578"/>
                    <a:pt x="407289" y="814578"/>
                  </a:cubicBezTo>
                  <a:cubicBezTo>
                    <a:pt x="182372" y="814578"/>
                    <a:pt x="0" y="632206"/>
                    <a:pt x="0" y="407289"/>
                  </a:cubicBezTo>
                  <a:cubicBezTo>
                    <a:pt x="0" y="182372"/>
                    <a:pt x="182372" y="0"/>
                    <a:pt x="407289" y="0"/>
                  </a:cubicBezTo>
                  <a:cubicBezTo>
                    <a:pt x="632206" y="0"/>
                    <a:pt x="814578" y="182372"/>
                    <a:pt x="814578" y="407289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6416524" y="146164"/>
            <a:ext cx="1668199" cy="71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dirty="0" err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OSCode</a:t>
            </a:r>
            <a:endParaRPr lang="en-US" sz="3199" b="1" dirty="0">
              <a:solidFill>
                <a:srgbClr val="303642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6498849" y="593436"/>
            <a:ext cx="1585874" cy="34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8"/>
              </a:lnSpc>
            </a:pPr>
            <a:r>
              <a:rPr lang="en-US" sz="1398" dirty="0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by </a:t>
            </a:r>
            <a:r>
              <a:rPr lang="en-US" sz="1398" dirty="0" err="1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community</a:t>
            </a:r>
            <a:r>
              <a:rPr lang="en-US" sz="1398" b="1" dirty="0" err="1">
                <a:solidFill>
                  <a:srgbClr val="00AEEF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  <a:endParaRPr lang="en-US" sz="1398" b="1" dirty="0">
              <a:solidFill>
                <a:srgbClr val="00AEE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62653" y="171369"/>
            <a:ext cx="11849100" cy="780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400" b="1" dirty="0">
                <a:solidFill>
                  <a:schemeClr val="accent3">
                    <a:lumMod val="50000"/>
                  </a:schemeClr>
                </a:solidFill>
                <a:latin typeface="Algerian" panose="04020705040A02060702" pitchFamily="82" charset="0"/>
                <a:ea typeface="Inter Bold"/>
                <a:cs typeface="Inter Bold"/>
                <a:sym typeface="Inter Bold"/>
              </a:rPr>
              <a:t>REAL-WORLD PROBLEM ALIGNMENT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94BE5A-917E-D5FA-20DF-A2C1E80C639D}"/>
              </a:ext>
            </a:extLst>
          </p:cNvPr>
          <p:cNvSpPr/>
          <p:nvPr/>
        </p:nvSpPr>
        <p:spPr>
          <a:xfrm>
            <a:off x="71352" y="1214849"/>
            <a:ext cx="4266926" cy="417628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3358"/>
              </a:lnSpc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What’s the current gap in the system?</a:t>
            </a:r>
          </a:p>
          <a:p>
            <a:pPr>
              <a:lnSpc>
                <a:spcPts val="3358"/>
              </a:lnSpc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285750" indent="-285750">
              <a:lnSpc>
                <a:spcPts val="1859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Scheme information exists only in formal language on websites and forms. </a:t>
            </a:r>
          </a:p>
          <a:p>
            <a:pPr marL="285750" indent="-285750">
              <a:lnSpc>
                <a:spcPts val="1859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There’s no simple way for a village citizen to ask, in their own dialect, ‘am I eligible?’ or ‘is this serious enough for a hospital?’</a:t>
            </a:r>
          </a:p>
          <a:p>
            <a:pPr marL="285750" indent="-285750">
              <a:lnSpc>
                <a:spcPts val="1859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And no way to instantly locate the nearest PHC.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5BED173-B2E3-AC53-76BC-6BC83B144DB3}"/>
              </a:ext>
            </a:extLst>
          </p:cNvPr>
          <p:cNvSpPr/>
          <p:nvPr/>
        </p:nvSpPr>
        <p:spPr>
          <a:xfrm>
            <a:off x="9933054" y="229523"/>
            <a:ext cx="5896407" cy="45269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3358"/>
              </a:lnSpc>
            </a:pPr>
            <a:r>
              <a:rPr lang="en-US" sz="24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How does your proposed solution fill that gap practically?</a:t>
            </a:r>
          </a:p>
          <a:p>
            <a:pPr>
              <a:lnSpc>
                <a:spcPts val="3358"/>
              </a:lnSpc>
            </a:pPr>
            <a:endParaRPr lang="en-US" sz="2400" b="1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285750" indent="-285750">
              <a:lnSpc>
                <a:spcPts val="1859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A voice-first assistant lets users speak in Tamil, Hindi, Telugu, and more.</a:t>
            </a:r>
          </a:p>
          <a:p>
            <a:pPr marL="285750" indent="-285750">
              <a:lnSpc>
                <a:spcPts val="1859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Home Care | PHC | Emergency Rule-based and grounded in medical guidelines.</a:t>
            </a:r>
          </a:p>
          <a:p>
            <a:pPr marL="285750" indent="-285750">
              <a:lnSpc>
                <a:spcPts val="1859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Smart Facility Finder-Nearest PHC / Hospital /  Telemedicine Centre.</a:t>
            </a:r>
          </a:p>
          <a:p>
            <a:pPr marL="285750" indent="-285750">
              <a:lnSpc>
                <a:spcPts val="1859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Document Intelligence Scan relevant government documents to simplify eligibility verification.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D884164-C5F1-06CF-23FA-C5C7EC3935EC}"/>
              </a:ext>
            </a:extLst>
          </p:cNvPr>
          <p:cNvSpPr/>
          <p:nvPr/>
        </p:nvSpPr>
        <p:spPr>
          <a:xfrm>
            <a:off x="95485" y="5684673"/>
            <a:ext cx="4495800" cy="38862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Connects to existing schemes</a:t>
            </a:r>
          </a:p>
          <a:p>
            <a:pPr algn="ctr"/>
            <a:endParaRPr lang="en-IN" sz="2400" b="1" dirty="0"/>
          </a:p>
          <a:p>
            <a:pPr algn="ctr"/>
            <a:r>
              <a:rPr lang="en-IN" b="1" dirty="0"/>
              <a:t> </a:t>
            </a:r>
            <a:r>
              <a:rPr lang="en-IN" dirty="0"/>
              <a:t>Directly supports Ayushman Bharat (PM-JAY), the Ayushman Bharat Digital Mission, and the National Health Mission — and aligns with the Digital India vision of bringing government services to citizens in their own language.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A4FF751-0BFA-1C03-95CF-61B58535E9A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6" t="4896" r="4987" b="2053"/>
          <a:stretch>
            <a:fillRect/>
          </a:stretch>
        </p:blipFill>
        <p:spPr>
          <a:xfrm>
            <a:off x="5048995" y="1547509"/>
            <a:ext cx="4371272" cy="3337155"/>
          </a:xfrm>
          <a:prstGeom prst="rect">
            <a:avLst/>
          </a:prstGeom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DE9629D7-C3E6-BFC8-0E02-F53FB937592D}"/>
              </a:ext>
            </a:extLst>
          </p:cNvPr>
          <p:cNvSpPr/>
          <p:nvPr/>
        </p:nvSpPr>
        <p:spPr>
          <a:xfrm>
            <a:off x="4426937" y="3209602"/>
            <a:ext cx="533400" cy="49270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7DEA4C9D-55A8-3F34-9270-5163BC228A4E}"/>
              </a:ext>
            </a:extLst>
          </p:cNvPr>
          <p:cNvSpPr/>
          <p:nvPr/>
        </p:nvSpPr>
        <p:spPr>
          <a:xfrm>
            <a:off x="4782295" y="7409269"/>
            <a:ext cx="533400" cy="49270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6C2D944-DAD4-ED04-3669-D65867D351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6" t="15941" r="5298" b="9413"/>
          <a:stretch>
            <a:fillRect/>
          </a:stretch>
        </p:blipFill>
        <p:spPr>
          <a:xfrm>
            <a:off x="11129020" y="5555599"/>
            <a:ext cx="5105399" cy="4220529"/>
          </a:xfrm>
          <a:prstGeom prst="rect">
            <a:avLst/>
          </a:prstGeom>
        </p:spPr>
      </p:pic>
      <p:sp>
        <p:nvSpPr>
          <p:cNvPr id="30" name="Arrow: Right 29">
            <a:extLst>
              <a:ext uri="{FF2B5EF4-FFF2-40B4-BE49-F238E27FC236}">
                <a16:creationId xmlns:a16="http://schemas.microsoft.com/office/drawing/2014/main" id="{9F721E4A-2CDC-4620-321E-55073338AFD6}"/>
              </a:ext>
            </a:extLst>
          </p:cNvPr>
          <p:cNvSpPr/>
          <p:nvPr/>
        </p:nvSpPr>
        <p:spPr>
          <a:xfrm rot="5400000">
            <a:off x="13004144" y="4925120"/>
            <a:ext cx="533400" cy="49270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A34807-B958-F7C2-739B-D91994C7812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7" b="15178"/>
          <a:stretch>
            <a:fillRect/>
          </a:stretch>
        </p:blipFill>
        <p:spPr>
          <a:xfrm>
            <a:off x="5637927" y="5879703"/>
            <a:ext cx="4371272" cy="29039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86F457-0610-A757-7E48-BAA88ECCCF24}"/>
              </a:ext>
            </a:extLst>
          </p:cNvPr>
          <p:cNvSpPr txBox="1"/>
          <p:nvPr/>
        </p:nvSpPr>
        <p:spPr>
          <a:xfrm>
            <a:off x="5102521" y="8632254"/>
            <a:ext cx="5554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highlight>
                  <a:srgbClr val="FFFF00"/>
                </a:highlight>
              </a:rPr>
              <a:t>Ayushman Bharat and other government schemes</a:t>
            </a:r>
            <a:endParaRPr lang="en-IN" u="sng" dirty="0">
              <a:highlight>
                <a:srgbClr val="FFFF00"/>
              </a:highlight>
            </a:endParaRPr>
          </a:p>
          <a:p>
            <a:endParaRPr lang="en-IN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04CE7071-1E40-93A1-C80E-647DC11EF9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2731262"/>
              </p:ext>
            </p:extLst>
          </p:nvPr>
        </p:nvGraphicFramePr>
        <p:xfrm>
          <a:off x="4654447" y="9062232"/>
          <a:ext cx="6449361" cy="518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FA2AECF-EDF1-4097-ECD7-A0B6A17FF91E}"/>
              </a:ext>
            </a:extLst>
          </p:cNvPr>
          <p:cNvSpPr txBox="1"/>
          <p:nvPr/>
        </p:nvSpPr>
        <p:spPr>
          <a:xfrm>
            <a:off x="4114800" y="9801545"/>
            <a:ext cx="9328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/>
            <a:r>
              <a:rPr lang="en-IN" b="1" dirty="0">
                <a:solidFill>
                  <a:srgbClr val="662924"/>
                </a:solidFill>
                <a:effectLst/>
                <a:highlight>
                  <a:srgbClr val="FFFF00"/>
                </a:highlight>
              </a:rPr>
              <a:t>"BRIDGING THE HEALTHCARE GAP, ONE SPOKEN WORD AT A TIME."</a:t>
            </a:r>
            <a:endParaRPr lang="en-IN" dirty="0">
              <a:solidFill>
                <a:srgbClr val="662924"/>
              </a:solidFill>
              <a:effectLst/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30870" y="-494919"/>
            <a:ext cx="10781919" cy="10781919"/>
            <a:chOff x="0" y="0"/>
            <a:chExt cx="14375892" cy="143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75892" cy="14375892"/>
            </a:xfrm>
            <a:custGeom>
              <a:avLst/>
              <a:gdLst/>
              <a:ahLst/>
              <a:cxnLst/>
              <a:rect l="l" t="t" r="r" b="b"/>
              <a:pathLst>
                <a:path w="14375892" h="14375892">
                  <a:moveTo>
                    <a:pt x="0" y="0"/>
                  </a:moveTo>
                  <a:lnTo>
                    <a:pt x="14375892" y="0"/>
                  </a:lnTo>
                  <a:lnTo>
                    <a:pt x="14375892" y="14375892"/>
                  </a:lnTo>
                  <a:lnTo>
                    <a:pt x="0" y="1437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5501499" y="325564"/>
            <a:ext cx="610934" cy="610934"/>
            <a:chOff x="0" y="0"/>
            <a:chExt cx="814578" cy="8145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4578" cy="814578"/>
            </a:xfrm>
            <a:custGeom>
              <a:avLst/>
              <a:gdLst/>
              <a:ahLst/>
              <a:cxnLst/>
              <a:rect l="l" t="t" r="r" b="b"/>
              <a:pathLst>
                <a:path w="814578" h="814578">
                  <a:moveTo>
                    <a:pt x="814578" y="407289"/>
                  </a:moveTo>
                  <a:cubicBezTo>
                    <a:pt x="814578" y="632206"/>
                    <a:pt x="632206" y="814578"/>
                    <a:pt x="407289" y="814578"/>
                  </a:cubicBezTo>
                  <a:cubicBezTo>
                    <a:pt x="182372" y="814578"/>
                    <a:pt x="0" y="632206"/>
                    <a:pt x="0" y="407289"/>
                  </a:cubicBezTo>
                  <a:cubicBezTo>
                    <a:pt x="0" y="182372"/>
                    <a:pt x="182372" y="0"/>
                    <a:pt x="407289" y="0"/>
                  </a:cubicBezTo>
                  <a:cubicBezTo>
                    <a:pt x="632206" y="0"/>
                    <a:pt x="814578" y="182372"/>
                    <a:pt x="814578" y="407289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6229667" y="154953"/>
            <a:ext cx="1668199" cy="71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OSCode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11991" y="634375"/>
            <a:ext cx="1585874" cy="34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8"/>
              </a:lnSpc>
            </a:pPr>
            <a:r>
              <a:rPr lang="en-US" sz="13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by community</a:t>
            </a:r>
            <a:r>
              <a:rPr lang="en-US" sz="1398" b="1">
                <a:solidFill>
                  <a:srgbClr val="00AEEF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3400" y="238529"/>
            <a:ext cx="7581900" cy="791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chemeClr val="accent3">
                    <a:lumMod val="50000"/>
                  </a:schemeClr>
                </a:solidFill>
                <a:latin typeface="Algerian" panose="04020705040A02060702" pitchFamily="82" charset="0"/>
                <a:ea typeface="Inter Bold"/>
                <a:cs typeface="Inter Bold"/>
                <a:sym typeface="Inter Bold"/>
              </a:rPr>
              <a:t>PROPOSED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190" y="4666051"/>
            <a:ext cx="16230600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1) Voice-first multilingual query &amp; response in the user’s own dialect.  </a:t>
            </a:r>
          </a:p>
          <a:p>
            <a:pPr algn="l">
              <a:lnSpc>
                <a:spcPts val="2039"/>
              </a:lnSpc>
            </a:pPr>
            <a:r>
              <a:rPr lang="en-US" sz="1700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2) Source-grounded scheme eligibility &amp; safe rule-based symptom triage. </a:t>
            </a:r>
          </a:p>
          <a:p>
            <a:pPr algn="l">
              <a:lnSpc>
                <a:spcPts val="2039"/>
              </a:lnSpc>
            </a:pPr>
            <a:r>
              <a:rPr lang="en-US" sz="1700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3) Nearest health facility locator.  </a:t>
            </a:r>
          </a:p>
          <a:p>
            <a:pPr algn="l">
              <a:lnSpc>
                <a:spcPts val="2039"/>
              </a:lnSpc>
            </a:pPr>
            <a:r>
              <a:rPr lang="en-US" sz="1700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4) SMS/USSD fallback for low-connectivity areas.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B7E4E4-56A9-CC02-40C7-016530E271D3}"/>
              </a:ext>
            </a:extLst>
          </p:cNvPr>
          <p:cNvSpPr txBox="1"/>
          <p:nvPr/>
        </p:nvSpPr>
        <p:spPr>
          <a:xfrm>
            <a:off x="703590" y="1845288"/>
            <a:ext cx="6019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voice-first AI copilot that makes healthcare and government welfare services accessible to rural citizens without requiring them to read, type, or navigate complex portals.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2D1358-E873-CCCA-DAC9-9DE0A56D9B79}"/>
              </a:ext>
            </a:extLst>
          </p:cNvPr>
          <p:cNvSpPr txBox="1"/>
          <p:nvPr/>
        </p:nvSpPr>
        <p:spPr>
          <a:xfrm>
            <a:off x="502920" y="1206922"/>
            <a:ext cx="716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highlight>
                  <a:srgbClr val="FFFF00"/>
                </a:highlight>
              </a:rPr>
              <a:t>ArogyaVani</a:t>
            </a:r>
            <a:r>
              <a:rPr lang="en-US" sz="2400" b="1" dirty="0">
                <a:highlight>
                  <a:srgbClr val="FFFF00"/>
                </a:highlight>
              </a:rPr>
              <a:t> AI The Voice of Health for Bharat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510182-3972-27A3-BA96-8C7398D50B8B}"/>
              </a:ext>
            </a:extLst>
          </p:cNvPr>
          <p:cNvSpPr txBox="1"/>
          <p:nvPr/>
        </p:nvSpPr>
        <p:spPr>
          <a:xfrm>
            <a:off x="533400" y="4089346"/>
            <a:ext cx="10561320" cy="358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39"/>
              </a:lnSpc>
            </a:pP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Inter Bold"/>
                <a:ea typeface="Inter Bold"/>
                <a:cs typeface="Inter Bold"/>
                <a:sym typeface="Inter Bold"/>
              </a:rPr>
              <a:t>What Are The 3-4 Key Features?</a:t>
            </a:r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F91B9183-1419-13C2-5A48-443F3C10A0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0739352"/>
              </p:ext>
            </p:extLst>
          </p:nvPr>
        </p:nvGraphicFramePr>
        <p:xfrm>
          <a:off x="721360" y="2831174"/>
          <a:ext cx="5143500" cy="1304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921F101-5492-E577-49DC-A8EBD2395BBC}"/>
              </a:ext>
            </a:extLst>
          </p:cNvPr>
          <p:cNvSpPr txBox="1"/>
          <p:nvPr/>
        </p:nvSpPr>
        <p:spPr>
          <a:xfrm>
            <a:off x="556995" y="5789327"/>
            <a:ext cx="6220470" cy="49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Inter Bold"/>
                <a:ea typeface="Inter Bold"/>
                <a:cs typeface="Inter Bold"/>
                <a:sym typeface="Inter Bold"/>
              </a:rPr>
              <a:t>What Makes It Different Or Innovative?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AAEE534-7519-AC1C-51A6-A69C731A12C5}"/>
              </a:ext>
            </a:extLst>
          </p:cNvPr>
          <p:cNvSpPr/>
          <p:nvPr/>
        </p:nvSpPr>
        <p:spPr>
          <a:xfrm>
            <a:off x="365202" y="6379636"/>
            <a:ext cx="7726326" cy="3630115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 Trust &amp; Accuracy—Never Guesses. Every answer is grounded and cited from official scheme documents and WHO/ICMR protocols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  Literacy-Proof by Design — Speaks Their Visual Language. Beyond text and voice generates simple, audio-narrated pictorial guides (e.g., medicine timings, vaccination steps) in local dialects.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   Universal Accessibility — Genuinely Reaches Everyone. Works seamlessly across voice, app, and SMS/USSD Built for low-end phones and unstable rural networks — no one is left out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5C412AE-8C65-CB73-79E3-87E90A32719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8468" y="1042921"/>
            <a:ext cx="8290792" cy="895178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4ECE853-5E1C-E1AA-A5A0-2E67F0FDE558}"/>
              </a:ext>
            </a:extLst>
          </p:cNvPr>
          <p:cNvSpPr txBox="1"/>
          <p:nvPr/>
        </p:nvSpPr>
        <p:spPr>
          <a:xfrm>
            <a:off x="4215665" y="9871627"/>
            <a:ext cx="9205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662924"/>
                </a:solidFill>
                <a:highlight>
                  <a:srgbClr val="FFFF00"/>
                </a:highlight>
              </a:rPr>
              <a:t>"Empowering frontline workers and protecting rural families with voice-first AI."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D5C85-7F5F-9D2C-FAF5-FC5AF9D3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F1B9E4-7EF0-6B23-9ADB-56AE5B36AAC7}"/>
              </a:ext>
            </a:extLst>
          </p:cNvPr>
          <p:cNvGrpSpPr/>
          <p:nvPr/>
        </p:nvGrpSpPr>
        <p:grpSpPr>
          <a:xfrm>
            <a:off x="10335949" y="1754505"/>
            <a:ext cx="10781919" cy="10781919"/>
            <a:chOff x="0" y="0"/>
            <a:chExt cx="14375892" cy="1437589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C1CB15D-E640-61A8-FCAC-23ADC33F0375}"/>
                </a:ext>
              </a:extLst>
            </p:cNvPr>
            <p:cNvSpPr/>
            <p:nvPr/>
          </p:nvSpPr>
          <p:spPr>
            <a:xfrm>
              <a:off x="0" y="0"/>
              <a:ext cx="14375892" cy="14375892"/>
            </a:xfrm>
            <a:custGeom>
              <a:avLst/>
              <a:gdLst/>
              <a:ahLst/>
              <a:cxnLst/>
              <a:rect l="l" t="t" r="r" b="b"/>
              <a:pathLst>
                <a:path w="14375892" h="14375892">
                  <a:moveTo>
                    <a:pt x="0" y="0"/>
                  </a:moveTo>
                  <a:lnTo>
                    <a:pt x="14375892" y="0"/>
                  </a:lnTo>
                  <a:lnTo>
                    <a:pt x="14375892" y="14375892"/>
                  </a:lnTo>
                  <a:lnTo>
                    <a:pt x="0" y="1437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/>
              </a:stretch>
            </a:blip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B67F626B-ABA4-5AA2-604C-23852DBD600A}"/>
              </a:ext>
            </a:extLst>
          </p:cNvPr>
          <p:cNvSpPr/>
          <p:nvPr/>
        </p:nvSpPr>
        <p:spPr>
          <a:xfrm>
            <a:off x="0" y="9985972"/>
            <a:ext cx="18288000" cy="301028"/>
          </a:xfrm>
          <a:custGeom>
            <a:avLst/>
            <a:gdLst/>
            <a:ahLst/>
            <a:cxnLst/>
            <a:rect l="l" t="t" r="r" b="b"/>
            <a:pathLst>
              <a:path w="18288000" h="301028">
                <a:moveTo>
                  <a:pt x="0" y="0"/>
                </a:moveTo>
                <a:lnTo>
                  <a:pt x="18288000" y="0"/>
                </a:lnTo>
                <a:lnTo>
                  <a:pt x="18288000" y="301028"/>
                </a:lnTo>
                <a:lnTo>
                  <a:pt x="0" y="3010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26" b="-626"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9EDDA9F-6E50-F1D2-03C1-C14EDE3FE471}"/>
              </a:ext>
            </a:extLst>
          </p:cNvPr>
          <p:cNvGrpSpPr/>
          <p:nvPr/>
        </p:nvGrpSpPr>
        <p:grpSpPr>
          <a:xfrm>
            <a:off x="15501499" y="325564"/>
            <a:ext cx="610934" cy="610934"/>
            <a:chOff x="0" y="0"/>
            <a:chExt cx="814578" cy="81457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82B3A37-B907-43EE-BD70-F4E02F0A43B7}"/>
                </a:ext>
              </a:extLst>
            </p:cNvPr>
            <p:cNvSpPr/>
            <p:nvPr/>
          </p:nvSpPr>
          <p:spPr>
            <a:xfrm>
              <a:off x="0" y="0"/>
              <a:ext cx="814578" cy="814578"/>
            </a:xfrm>
            <a:custGeom>
              <a:avLst/>
              <a:gdLst/>
              <a:ahLst/>
              <a:cxnLst/>
              <a:rect l="l" t="t" r="r" b="b"/>
              <a:pathLst>
                <a:path w="814578" h="814578">
                  <a:moveTo>
                    <a:pt x="814578" y="407289"/>
                  </a:moveTo>
                  <a:cubicBezTo>
                    <a:pt x="814578" y="632206"/>
                    <a:pt x="632206" y="814578"/>
                    <a:pt x="407289" y="814578"/>
                  </a:cubicBezTo>
                  <a:cubicBezTo>
                    <a:pt x="182372" y="814578"/>
                    <a:pt x="0" y="632206"/>
                    <a:pt x="0" y="407289"/>
                  </a:cubicBezTo>
                  <a:cubicBezTo>
                    <a:pt x="0" y="182372"/>
                    <a:pt x="182372" y="0"/>
                    <a:pt x="407289" y="0"/>
                  </a:cubicBezTo>
                  <a:cubicBezTo>
                    <a:pt x="632206" y="0"/>
                    <a:pt x="814578" y="182372"/>
                    <a:pt x="814578" y="407289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221365BB-D7F1-AD91-39F1-E90F7F65D803}"/>
              </a:ext>
            </a:extLst>
          </p:cNvPr>
          <p:cNvSpPr txBox="1"/>
          <p:nvPr/>
        </p:nvSpPr>
        <p:spPr>
          <a:xfrm>
            <a:off x="16229667" y="154953"/>
            <a:ext cx="1668199" cy="71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OSCode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BB0A769-DDAE-8AA5-0D42-704477589795}"/>
              </a:ext>
            </a:extLst>
          </p:cNvPr>
          <p:cNvSpPr txBox="1"/>
          <p:nvPr/>
        </p:nvSpPr>
        <p:spPr>
          <a:xfrm>
            <a:off x="16311991" y="634375"/>
            <a:ext cx="1585874" cy="34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8"/>
              </a:lnSpc>
            </a:pPr>
            <a:r>
              <a:rPr lang="en-US" sz="13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by community</a:t>
            </a:r>
            <a:r>
              <a:rPr lang="en-US" sz="1398" b="1">
                <a:solidFill>
                  <a:srgbClr val="00AEEF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78532D-D47B-E3D9-5748-B9A9D29CE7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3" y="950649"/>
            <a:ext cx="16535400" cy="936318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9819E96-884C-73DA-688C-F243C2E0E207}"/>
              </a:ext>
            </a:extLst>
          </p:cNvPr>
          <p:cNvSpPr txBox="1"/>
          <p:nvPr/>
        </p:nvSpPr>
        <p:spPr>
          <a:xfrm>
            <a:off x="446266" y="262617"/>
            <a:ext cx="10561320" cy="49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358"/>
              </a:lnSpc>
            </a:pPr>
            <a:r>
              <a:rPr lang="en-US" sz="2400" b="1" dirty="0">
                <a:solidFill>
                  <a:srgbClr val="000000"/>
                </a:solidFill>
                <a:highlight>
                  <a:srgbClr val="FFFF00"/>
                </a:highlight>
                <a:latin typeface="Inter Bold"/>
                <a:ea typeface="Inter Bold"/>
                <a:cs typeface="Inter Bold"/>
                <a:sym typeface="Inter Bold"/>
              </a:rPr>
              <a:t>What Are You Building?</a:t>
            </a:r>
          </a:p>
        </p:txBody>
      </p:sp>
    </p:spTree>
    <p:extLst>
      <p:ext uri="{BB962C8B-B14F-4D97-AF65-F5344CB8AC3E}">
        <p14:creationId xmlns:p14="http://schemas.microsoft.com/office/powerpoint/2010/main" val="416149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35949" y="1754505"/>
            <a:ext cx="10781919" cy="10781919"/>
            <a:chOff x="0" y="0"/>
            <a:chExt cx="14375892" cy="143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75892" cy="14375892"/>
            </a:xfrm>
            <a:custGeom>
              <a:avLst/>
              <a:gdLst/>
              <a:ahLst/>
              <a:cxnLst/>
              <a:rect l="l" t="t" r="r" b="b"/>
              <a:pathLst>
                <a:path w="14375892" h="14375892">
                  <a:moveTo>
                    <a:pt x="0" y="0"/>
                  </a:moveTo>
                  <a:lnTo>
                    <a:pt x="14375892" y="0"/>
                  </a:lnTo>
                  <a:lnTo>
                    <a:pt x="14375892" y="14375892"/>
                  </a:lnTo>
                  <a:lnTo>
                    <a:pt x="0" y="1437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9985972"/>
            <a:ext cx="18288000" cy="301028"/>
          </a:xfrm>
          <a:custGeom>
            <a:avLst/>
            <a:gdLst/>
            <a:ahLst/>
            <a:cxnLst/>
            <a:rect l="l" t="t" r="r" b="b"/>
            <a:pathLst>
              <a:path w="18288000" h="301028">
                <a:moveTo>
                  <a:pt x="0" y="0"/>
                </a:moveTo>
                <a:lnTo>
                  <a:pt x="18288000" y="0"/>
                </a:lnTo>
                <a:lnTo>
                  <a:pt x="18288000" y="301028"/>
                </a:lnTo>
                <a:lnTo>
                  <a:pt x="0" y="3010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26" b="-62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09" y="-170175"/>
            <a:ext cx="18288000" cy="10331698"/>
          </a:xfrm>
          <a:custGeom>
            <a:avLst/>
            <a:gdLst/>
            <a:ahLst/>
            <a:cxnLst/>
            <a:rect l="l" t="t" r="r" b="b"/>
            <a:pathLst>
              <a:path w="18288000" h="10026898">
                <a:moveTo>
                  <a:pt x="0" y="0"/>
                </a:moveTo>
                <a:lnTo>
                  <a:pt x="18288000" y="0"/>
                </a:lnTo>
                <a:lnTo>
                  <a:pt x="18288000" y="10026898"/>
                </a:lnTo>
                <a:lnTo>
                  <a:pt x="0" y="10026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9" b="-869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421441" y="342900"/>
            <a:ext cx="610934" cy="610934"/>
            <a:chOff x="0" y="0"/>
            <a:chExt cx="814578" cy="8145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4578" cy="814578"/>
            </a:xfrm>
            <a:custGeom>
              <a:avLst/>
              <a:gdLst/>
              <a:ahLst/>
              <a:cxnLst/>
              <a:rect l="l" t="t" r="r" b="b"/>
              <a:pathLst>
                <a:path w="814578" h="814578">
                  <a:moveTo>
                    <a:pt x="814578" y="407289"/>
                  </a:moveTo>
                  <a:cubicBezTo>
                    <a:pt x="814578" y="632206"/>
                    <a:pt x="632206" y="814578"/>
                    <a:pt x="407289" y="814578"/>
                  </a:cubicBezTo>
                  <a:cubicBezTo>
                    <a:pt x="182372" y="814578"/>
                    <a:pt x="0" y="632206"/>
                    <a:pt x="0" y="407289"/>
                  </a:cubicBezTo>
                  <a:cubicBezTo>
                    <a:pt x="0" y="182372"/>
                    <a:pt x="182372" y="0"/>
                    <a:pt x="407289" y="0"/>
                  </a:cubicBezTo>
                  <a:cubicBezTo>
                    <a:pt x="632206" y="0"/>
                    <a:pt x="814578" y="182372"/>
                    <a:pt x="814578" y="407289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35949" y="1754505"/>
            <a:ext cx="10781919" cy="10781919"/>
            <a:chOff x="0" y="0"/>
            <a:chExt cx="14375892" cy="143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75892" cy="14375892"/>
            </a:xfrm>
            <a:custGeom>
              <a:avLst/>
              <a:gdLst/>
              <a:ahLst/>
              <a:cxnLst/>
              <a:rect l="l" t="t" r="r" b="b"/>
              <a:pathLst>
                <a:path w="14375892" h="14375892">
                  <a:moveTo>
                    <a:pt x="0" y="0"/>
                  </a:moveTo>
                  <a:lnTo>
                    <a:pt x="14375892" y="0"/>
                  </a:lnTo>
                  <a:lnTo>
                    <a:pt x="14375892" y="14375892"/>
                  </a:lnTo>
                  <a:lnTo>
                    <a:pt x="0" y="1437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9985972"/>
            <a:ext cx="18288000" cy="301028"/>
          </a:xfrm>
          <a:custGeom>
            <a:avLst/>
            <a:gdLst/>
            <a:ahLst/>
            <a:cxnLst/>
            <a:rect l="l" t="t" r="r" b="b"/>
            <a:pathLst>
              <a:path w="18288000" h="301028">
                <a:moveTo>
                  <a:pt x="0" y="0"/>
                </a:moveTo>
                <a:lnTo>
                  <a:pt x="18288000" y="0"/>
                </a:lnTo>
                <a:lnTo>
                  <a:pt x="18288000" y="301028"/>
                </a:lnTo>
                <a:lnTo>
                  <a:pt x="0" y="3010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26" b="-626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501499" y="325564"/>
            <a:ext cx="610934" cy="610934"/>
            <a:chOff x="0" y="0"/>
            <a:chExt cx="814578" cy="8145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4578" cy="814578"/>
            </a:xfrm>
            <a:custGeom>
              <a:avLst/>
              <a:gdLst/>
              <a:ahLst/>
              <a:cxnLst/>
              <a:rect l="l" t="t" r="r" b="b"/>
              <a:pathLst>
                <a:path w="814578" h="814578">
                  <a:moveTo>
                    <a:pt x="814578" y="407289"/>
                  </a:moveTo>
                  <a:cubicBezTo>
                    <a:pt x="814578" y="632206"/>
                    <a:pt x="632206" y="814578"/>
                    <a:pt x="407289" y="814578"/>
                  </a:cubicBezTo>
                  <a:cubicBezTo>
                    <a:pt x="182372" y="814578"/>
                    <a:pt x="0" y="632206"/>
                    <a:pt x="0" y="407289"/>
                  </a:cubicBezTo>
                  <a:cubicBezTo>
                    <a:pt x="0" y="182372"/>
                    <a:pt x="182372" y="0"/>
                    <a:pt x="407289" y="0"/>
                  </a:cubicBezTo>
                  <a:cubicBezTo>
                    <a:pt x="632206" y="0"/>
                    <a:pt x="814578" y="182372"/>
                    <a:pt x="814578" y="407289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53817" y="1978820"/>
            <a:ext cx="17244048" cy="7649726"/>
            <a:chOff x="0" y="0"/>
            <a:chExt cx="18830658" cy="87412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830646" cy="8741283"/>
            </a:xfrm>
            <a:custGeom>
              <a:avLst/>
              <a:gdLst/>
              <a:ahLst/>
              <a:cxnLst/>
              <a:rect l="l" t="t" r="r" b="b"/>
              <a:pathLst>
                <a:path w="18830646" h="8741283">
                  <a:moveTo>
                    <a:pt x="0" y="0"/>
                  </a:moveTo>
                  <a:lnTo>
                    <a:pt x="18830646" y="0"/>
                  </a:lnTo>
                  <a:lnTo>
                    <a:pt x="18830646" y="8741283"/>
                  </a:lnTo>
                  <a:lnTo>
                    <a:pt x="0" y="8741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092" b="-2092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6229667" y="154953"/>
            <a:ext cx="1668199" cy="71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OSCode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11991" y="634375"/>
            <a:ext cx="1585874" cy="34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8"/>
              </a:lnSpc>
            </a:pPr>
            <a:r>
              <a:rPr lang="en-US" sz="13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by community</a:t>
            </a:r>
            <a:r>
              <a:rPr lang="en-US" sz="1398" b="1">
                <a:solidFill>
                  <a:srgbClr val="00AEEF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2000" y="410060"/>
            <a:ext cx="8648700" cy="791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>
                <a:solidFill>
                  <a:srgbClr val="662924"/>
                </a:solidFill>
                <a:latin typeface="Algerian" panose="04020705040A02060702" pitchFamily="82" charset="0"/>
                <a:ea typeface="Inter Bold"/>
                <a:cs typeface="Inter Bold"/>
                <a:sym typeface="Inter Bold"/>
              </a:rPr>
              <a:t>ARCHITECTURE DIAGRAM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4177" y="1351133"/>
            <a:ext cx="16230600" cy="376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1600" b="1" dirty="0">
                <a:solidFill>
                  <a:srgbClr val="303642"/>
                </a:solidFill>
                <a:latin typeface="Inter"/>
                <a:ea typeface="Inter"/>
                <a:cs typeface="Inter"/>
                <a:sym typeface="Inter"/>
              </a:rPr>
              <a:t>End-to-end flow: Voice input → Bhashini language layer → RAG + Triage reasoning → grounded LLM answer → voice/SMS response back to the citizen.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98082" y="350964"/>
            <a:ext cx="10781919" cy="10781919"/>
            <a:chOff x="0" y="0"/>
            <a:chExt cx="14375892" cy="143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75892" cy="14375892"/>
            </a:xfrm>
            <a:custGeom>
              <a:avLst/>
              <a:gdLst/>
              <a:ahLst/>
              <a:cxnLst/>
              <a:rect l="l" t="t" r="r" b="b"/>
              <a:pathLst>
                <a:path w="14375892" h="14375892">
                  <a:moveTo>
                    <a:pt x="0" y="0"/>
                  </a:moveTo>
                  <a:lnTo>
                    <a:pt x="14375892" y="0"/>
                  </a:lnTo>
                  <a:lnTo>
                    <a:pt x="14375892" y="14375892"/>
                  </a:lnTo>
                  <a:lnTo>
                    <a:pt x="0" y="14375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9985972"/>
            <a:ext cx="18288000" cy="301028"/>
          </a:xfrm>
          <a:custGeom>
            <a:avLst/>
            <a:gdLst/>
            <a:ahLst/>
            <a:cxnLst/>
            <a:rect l="l" t="t" r="r" b="b"/>
            <a:pathLst>
              <a:path w="18288000" h="301028">
                <a:moveTo>
                  <a:pt x="0" y="0"/>
                </a:moveTo>
                <a:lnTo>
                  <a:pt x="18288000" y="0"/>
                </a:lnTo>
                <a:lnTo>
                  <a:pt x="18288000" y="301028"/>
                </a:lnTo>
                <a:lnTo>
                  <a:pt x="0" y="3010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26" b="-626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501499" y="325564"/>
            <a:ext cx="610934" cy="610934"/>
            <a:chOff x="0" y="0"/>
            <a:chExt cx="814578" cy="8145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4578" cy="814578"/>
            </a:xfrm>
            <a:custGeom>
              <a:avLst/>
              <a:gdLst/>
              <a:ahLst/>
              <a:cxnLst/>
              <a:rect l="l" t="t" r="r" b="b"/>
              <a:pathLst>
                <a:path w="814578" h="814578">
                  <a:moveTo>
                    <a:pt x="814578" y="407289"/>
                  </a:moveTo>
                  <a:cubicBezTo>
                    <a:pt x="814578" y="632206"/>
                    <a:pt x="632206" y="814578"/>
                    <a:pt x="407289" y="814578"/>
                  </a:cubicBezTo>
                  <a:cubicBezTo>
                    <a:pt x="182372" y="814578"/>
                    <a:pt x="0" y="632206"/>
                    <a:pt x="0" y="407289"/>
                  </a:cubicBezTo>
                  <a:cubicBezTo>
                    <a:pt x="0" y="182372"/>
                    <a:pt x="182372" y="0"/>
                    <a:pt x="407289" y="0"/>
                  </a:cubicBezTo>
                  <a:cubicBezTo>
                    <a:pt x="632206" y="0"/>
                    <a:pt x="814578" y="182372"/>
                    <a:pt x="814578" y="407289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6229667" y="154953"/>
            <a:ext cx="1668199" cy="716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OSCode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11991" y="634375"/>
            <a:ext cx="1585874" cy="343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58"/>
              </a:lnSpc>
            </a:pPr>
            <a:r>
              <a:rPr lang="en-US" sz="139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by community</a:t>
            </a:r>
            <a:r>
              <a:rPr lang="en-US" sz="1398" b="1">
                <a:solidFill>
                  <a:srgbClr val="00AEEF"/>
                </a:solidFill>
                <a:latin typeface="Poppins Bold"/>
                <a:ea typeface="Poppins Bold"/>
                <a:cs typeface="Poppins Bold"/>
                <a:sym typeface="Poppins Bold"/>
              </a:rPr>
              <a:t>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20813" y="3243670"/>
            <a:ext cx="5446384" cy="986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61"/>
              </a:lnSpc>
            </a:pPr>
            <a:endParaRPr lang="en-US" sz="583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053AC9-182D-4121-676F-383F51E9F81E}"/>
              </a:ext>
            </a:extLst>
          </p:cNvPr>
          <p:cNvSpPr txBox="1"/>
          <p:nvPr/>
        </p:nvSpPr>
        <p:spPr>
          <a:xfrm>
            <a:off x="736600" y="2019300"/>
            <a:ext cx="12506949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000" b="1" dirty="0"/>
              <a:t>National Health Authority (NHA), Government of India    Ayushman Bharat Digital Mission (ABDM</a:t>
            </a:r>
            <a:r>
              <a:rPr lang="en-IN" sz="2000" dirty="0"/>
              <a:t>) ⁠￼ </a:t>
            </a:r>
            <a:r>
              <a:rPr lang="en-IN" sz="2000" b="1" dirty="0">
                <a:hlinkClick r:id="rId5"/>
              </a:rPr>
              <a:t>https://abdm.gov.in/abdm</a:t>
            </a:r>
            <a:r>
              <a:rPr lang="en-IN" sz="2000" b="1" dirty="0"/>
              <a:t> </a:t>
            </a:r>
          </a:p>
          <a:p>
            <a:pPr marL="342900" indent="-342900">
              <a:buAutoNum type="arabicPeriod"/>
            </a:pPr>
            <a:endParaRPr lang="en-IN" sz="2000" b="1" dirty="0"/>
          </a:p>
          <a:p>
            <a:pPr marL="342900" indent="-342900">
              <a:buAutoNum type="arabicPeriod"/>
            </a:pPr>
            <a:r>
              <a:rPr lang="en-IN" sz="2000" b="1" dirty="0"/>
              <a:t>National Health Authority (NHA), Government of India    Health Facility Registry (HFR)     </a:t>
            </a:r>
            <a:r>
              <a:rPr lang="en-IN" sz="2000" b="1" dirty="0">
                <a:hlinkClick r:id="rId6"/>
              </a:rPr>
              <a:t>https://abdm.gov.in/health-facilities</a:t>
            </a:r>
            <a:r>
              <a:rPr lang="en-IN" sz="2000" b="1" dirty="0"/>
              <a:t> </a:t>
            </a:r>
          </a:p>
          <a:p>
            <a:pPr marL="342900" indent="-342900">
              <a:buAutoNum type="arabicPeriod"/>
            </a:pPr>
            <a:endParaRPr lang="en-IN" sz="2000" dirty="0"/>
          </a:p>
          <a:p>
            <a:pPr marL="342900" indent="-342900">
              <a:buAutoNum type="arabicPeriod"/>
            </a:pPr>
            <a:r>
              <a:rPr lang="en-IN" sz="2000" b="1" dirty="0"/>
              <a:t>National Health Authority (NHA), Government of India    ABDM — Multilingual Support &amp; Citizen Services    </a:t>
            </a:r>
            <a:r>
              <a:rPr lang="en-IN" sz="2000" b="1" dirty="0">
                <a:hlinkClick r:id="rId7"/>
              </a:rPr>
              <a:t>https://abdm.gov.in/call-center</a:t>
            </a:r>
            <a:endParaRPr lang="en-IN" sz="2000" b="1" dirty="0"/>
          </a:p>
          <a:p>
            <a:pPr marL="342900" indent="-342900">
              <a:buAutoNum type="arabicPeriod"/>
            </a:pPr>
            <a:endParaRPr lang="en-IN" sz="2000" b="1" dirty="0"/>
          </a:p>
          <a:p>
            <a:pPr marL="342900" indent="-342900">
              <a:buAutoNum type="arabicPeriod"/>
            </a:pPr>
            <a:r>
              <a:rPr lang="en-IN" sz="2000" b="1" dirty="0"/>
              <a:t>⁠National Health Mission (NHM), Ministry of Health &amp; Family Welfare, Government of India    Accredited Social Health Activist (ASHA) Programme    </a:t>
            </a:r>
            <a:r>
              <a:rPr lang="en-IN" sz="2000" b="1" dirty="0">
                <a:hlinkClick r:id="rId8"/>
              </a:rPr>
              <a:t>https://nhm.gov.in/nammamihaan/index1.php?lang=1&amp;level=1&amp;lid=226&amp;sublinkid=150</a:t>
            </a:r>
            <a:endParaRPr lang="en-IN" sz="2000" b="1" dirty="0"/>
          </a:p>
          <a:p>
            <a:pPr marL="342900" indent="-342900">
              <a:buAutoNum type="arabicPeriod"/>
            </a:pPr>
            <a:endParaRPr lang="en-IN" sz="2000" b="1" dirty="0"/>
          </a:p>
          <a:p>
            <a:r>
              <a:rPr lang="en-IN" sz="2000" b="1" dirty="0"/>
              <a:t>⁠5. World Health Organization (WHO)    Interagency Integrated Triage Tool</a:t>
            </a:r>
          </a:p>
          <a:p>
            <a:r>
              <a:rPr lang="en-IN" sz="2000" b="1" dirty="0"/>
              <a:t>          </a:t>
            </a:r>
            <a:r>
              <a:rPr lang="en-IN" sz="2000" b="1" dirty="0">
                <a:hlinkClick r:id="rId9"/>
              </a:rPr>
              <a:t>https://www.who.int/tools/triage</a:t>
            </a:r>
            <a:r>
              <a:rPr lang="en-IN" sz="2000" b="1" dirty="0"/>
              <a:t> ⁠￼</a:t>
            </a:r>
          </a:p>
          <a:p>
            <a:endParaRPr lang="en-IN" sz="2000" b="1" dirty="0"/>
          </a:p>
          <a:p>
            <a:r>
              <a:rPr lang="en-IN" sz="2000" b="1" dirty="0"/>
              <a:t>6. National Health Authority (NHA), Government of India ABDM — Health Facility Registry</a:t>
            </a:r>
          </a:p>
          <a:p>
            <a:r>
              <a:rPr lang="en-IN" sz="2000" b="1" dirty="0"/>
              <a:t>     &amp; Digital  Health Ecosystem </a:t>
            </a:r>
            <a:r>
              <a:rPr lang="en-IN" sz="2000" b="1" dirty="0">
                <a:hlinkClick r:id="rId10"/>
              </a:rPr>
              <a:t>https://abdm.gov.in/ebook</a:t>
            </a:r>
            <a:r>
              <a:rPr lang="en-IN" sz="2000" b="1" dirty="0"/>
              <a:t>   </a:t>
            </a:r>
          </a:p>
          <a:p>
            <a:r>
              <a:rPr lang="en-IN" sz="2000" b="1" dirty="0"/>
              <a:t>⁠￼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100A2E-F19E-8F82-D5D7-488A50B66636}"/>
              </a:ext>
            </a:extLst>
          </p:cNvPr>
          <p:cNvSpPr txBox="1"/>
          <p:nvPr/>
        </p:nvSpPr>
        <p:spPr>
          <a:xfrm>
            <a:off x="762000" y="548957"/>
            <a:ext cx="95821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chemeClr val="accent3">
                    <a:lumMod val="50000"/>
                  </a:schemeClr>
                </a:solidFill>
                <a:latin typeface="Algerian" panose="04020705040A02060702" pitchFamily="82" charset="0"/>
              </a:rPr>
              <a:t>RESEARCH AND RESOURCES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460211-3DF9-A08E-925C-87E7E8BE48B2}"/>
              </a:ext>
            </a:extLst>
          </p:cNvPr>
          <p:cNvSpPr txBox="1"/>
          <p:nvPr/>
        </p:nvSpPr>
        <p:spPr>
          <a:xfrm>
            <a:off x="4933716" y="9140089"/>
            <a:ext cx="12964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"SPEAK IN YOUR DIALECT, SECURE YOUR HEALTH."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CC0153-503A-96FB-4225-B9D15D5A826E}"/>
              </a:ext>
            </a:extLst>
          </p:cNvPr>
          <p:cNvSpPr/>
          <p:nvPr/>
        </p:nvSpPr>
        <p:spPr>
          <a:xfrm>
            <a:off x="12881807" y="1546915"/>
            <a:ext cx="5239384" cy="529276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/>
              <a:t>📂 </a:t>
            </a:r>
            <a:r>
              <a:rPr lang="en-IN" sz="2000" b="1" dirty="0">
                <a:solidFill>
                  <a:schemeClr val="tx1"/>
                </a:solidFill>
              </a:rPr>
              <a:t>OUR PROJECT REPOSITORY:</a:t>
            </a:r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r>
              <a:rPr lang="en-IN" sz="2400" b="1" dirty="0"/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D1E3B2-B4AC-2C1F-E891-07215E68819C}"/>
              </a:ext>
            </a:extLst>
          </p:cNvPr>
          <p:cNvSpPr/>
          <p:nvPr/>
        </p:nvSpPr>
        <p:spPr>
          <a:xfrm>
            <a:off x="14627552" y="3850685"/>
            <a:ext cx="2133600" cy="2585630"/>
          </a:xfrm>
          <a:prstGeom prst="rect">
            <a:avLst/>
          </a:prstGeom>
          <a:gradFill flip="none" rotWithShape="1">
            <a:gsLst>
              <a:gs pos="0">
                <a:schemeClr val="dk1">
                  <a:tint val="66000"/>
                  <a:satMod val="160000"/>
                </a:schemeClr>
              </a:gs>
              <a:gs pos="50000">
                <a:schemeClr val="dk1">
                  <a:tint val="44500"/>
                  <a:satMod val="160000"/>
                </a:schemeClr>
              </a:gs>
              <a:gs pos="100000">
                <a:schemeClr val="dk1"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SCAN ME</a:t>
            </a:r>
          </a:p>
          <a:p>
            <a:pPr algn="ctr"/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endParaRPr lang="en-IN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9B700F-2597-D0F1-7C3C-126413937A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V="1">
            <a:off x="14842835" y="4663461"/>
            <a:ext cx="1703034" cy="170303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3D0F9BC-839A-F217-C13E-AA904E4F7247}"/>
              </a:ext>
            </a:extLst>
          </p:cNvPr>
          <p:cNvSpPr txBox="1"/>
          <p:nvPr/>
        </p:nvSpPr>
        <p:spPr>
          <a:xfrm>
            <a:off x="13256249" y="2388468"/>
            <a:ext cx="515937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1" dirty="0"/>
          </a:p>
          <a:p>
            <a:r>
              <a:rPr lang="en-US" dirty="0"/>
              <a:t>✅</a:t>
            </a:r>
            <a:r>
              <a:rPr lang="en-IN" dirty="0"/>
              <a:t>Research Papers &amp; References</a:t>
            </a:r>
          </a:p>
          <a:p>
            <a:r>
              <a:rPr lang="en-US" dirty="0"/>
              <a:t>✅</a:t>
            </a:r>
            <a:r>
              <a:rPr lang="en-IN" dirty="0"/>
              <a:t>High-quality Model Images &amp; Flowcharts           </a:t>
            </a:r>
            <a:r>
              <a:rPr lang="en-US" dirty="0"/>
              <a:t>✅</a:t>
            </a:r>
            <a:r>
              <a:rPr lang="en-IN" dirty="0"/>
              <a:t>Future Scope Concept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405</TotalTime>
  <Words>953</Words>
  <Application>Microsoft Office PowerPoint</Application>
  <PresentationFormat>Custom</PresentationFormat>
  <Paragraphs>135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Poppins</vt:lpstr>
      <vt:lpstr>Inter</vt:lpstr>
      <vt:lpstr>Algerian</vt:lpstr>
      <vt:lpstr>System Font Regular</vt:lpstr>
      <vt:lpstr>Google Sans Text</vt:lpstr>
      <vt:lpstr>Inter Bold</vt:lpstr>
      <vt:lpstr>Arial Rounded MT Bold</vt:lpstr>
      <vt:lpstr>Arial</vt:lpstr>
      <vt:lpstr>Poppins Bold</vt:lpstr>
      <vt:lpstr>Wingdings</vt:lpstr>
      <vt:lpstr>Neue Haas Grotesk Text Pro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OSCode - Decode SIH 2026 - Ideation PPT Template.pptx</dc:title>
  <dc:creator>SRIHARINI</dc:creator>
  <cp:lastModifiedBy>Srii .</cp:lastModifiedBy>
  <cp:revision>6</cp:revision>
  <dcterms:created xsi:type="dcterms:W3CDTF">2006-08-16T00:00:00Z</dcterms:created>
  <dcterms:modified xsi:type="dcterms:W3CDTF">2026-08-13T15:06:37Z</dcterms:modified>
  <dc:identifier>DAHSEduaOM0</dc:identifier>
</cp:coreProperties>
</file>