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2"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lgerian" panose="04020705040A02060702" pitchFamily="82" charset="0"/>
      <p:regular r:id="rId10"/>
    </p:embeddedFont>
    <p:embeddedFont>
      <p:font typeface="Arial Rounded MT Bold" panose="020F0704030504030204" pitchFamily="34" charset="0"/>
      <p:regular r:id="rId11"/>
    </p:embeddedFont>
    <p:embeddedFont>
      <p:font typeface="Inter" panose="020B0604020202020204" charset="0"/>
      <p:regular r:id="rId12"/>
    </p:embeddedFont>
    <p:embeddedFont>
      <p:font typeface="Inter Bold" panose="020B0604020202020204" charset="0"/>
      <p:regular r:id="rId13"/>
    </p:embeddedFont>
    <p:embeddedFont>
      <p:font typeface="Neue Haas Grotesk Text Pro" panose="020B0504020202020204" pitchFamily="34" charset="0"/>
      <p:regular r:id="rId14"/>
      <p:bold r:id="rId15"/>
      <p:italic r:id="rId16"/>
      <p:boldItalic r:id="rId17"/>
    </p:embeddedFont>
    <p:embeddedFont>
      <p:font typeface="Poppins" panose="00000500000000000000" pitchFamily="2" charset="0"/>
      <p:regular r:id="rId18"/>
      <p:bold r:id="rId19"/>
      <p:italic r:id="rId20"/>
      <p:boldItalic r:id="rId21"/>
    </p:embeddedFont>
    <p:embeddedFont>
      <p:font typeface="Poppins Bold" panose="00000800000000000000"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2924"/>
    <a:srgbClr val="7337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3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font" Target="fonts/font13.fntdata"/></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F18B2D-5069-449E-A1FB-C155088D1DE5}" type="doc">
      <dgm:prSet loTypeId="urn:microsoft.com/office/officeart/2005/8/layout/matrix2" loCatId="matrix" qsTypeId="urn:microsoft.com/office/officeart/2005/8/quickstyle/simple1" qsCatId="simple" csTypeId="urn:microsoft.com/office/officeart/2005/8/colors/colorful4" csCatId="colorful" phldr="1"/>
      <dgm:spPr/>
      <dgm:t>
        <a:bodyPr/>
        <a:lstStyle/>
        <a:p>
          <a:endParaRPr lang="en-IN"/>
        </a:p>
      </dgm:t>
    </dgm:pt>
    <dgm:pt modelId="{AE16D350-E13F-438E-A546-E2E1C3FA6AB7}">
      <dgm:prSet>
        <dgm:style>
          <a:lnRef idx="1">
            <a:schemeClr val="accent3"/>
          </a:lnRef>
          <a:fillRef idx="2">
            <a:schemeClr val="accent3"/>
          </a:fillRef>
          <a:effectRef idx="1">
            <a:schemeClr val="accent3"/>
          </a:effectRef>
          <a:fontRef idx="minor">
            <a:schemeClr val="dk1"/>
          </a:fontRef>
        </dgm:style>
      </dgm:prSet>
      <dgm:spPr/>
      <dgm:t>
        <a:bodyPr/>
        <a:lstStyle/>
        <a:p>
          <a:r>
            <a:rPr lang="en-IN" b="1" dirty="0">
              <a:solidFill>
                <a:schemeClr val="tx1"/>
              </a:solidFill>
            </a:rPr>
            <a:t>Language and Literacy Barriers:</a:t>
          </a:r>
          <a:r>
            <a:rPr lang="en-IN" dirty="0">
              <a:solidFill>
                <a:schemeClr val="tx1"/>
              </a:solidFill>
            </a:rPr>
            <a:t> Rural citizens face severe barriers accessing healthcare because vital scheme details are only available in formal languages and complex forms they cannot easily read.</a:t>
          </a:r>
        </a:p>
      </dgm:t>
    </dgm:pt>
    <dgm:pt modelId="{1D4B8406-3E58-48E1-9EFA-EA8BBDE35298}" type="parTrans" cxnId="{4A1C3003-E52B-4100-A2FD-454AFCD2AAEF}">
      <dgm:prSet/>
      <dgm:spPr/>
      <dgm:t>
        <a:bodyPr/>
        <a:lstStyle/>
        <a:p>
          <a:endParaRPr lang="en-IN"/>
        </a:p>
      </dgm:t>
    </dgm:pt>
    <dgm:pt modelId="{7976FA1E-06B4-4A7E-A2D2-A4AE1BCB2626}" type="sibTrans" cxnId="{4A1C3003-E52B-4100-A2FD-454AFCD2AAEF}">
      <dgm:prSet/>
      <dgm:spPr/>
      <dgm:t>
        <a:bodyPr/>
        <a:lstStyle/>
        <a:p>
          <a:endParaRPr lang="en-IN"/>
        </a:p>
      </dgm:t>
    </dgm:pt>
    <dgm:pt modelId="{853430D1-4B3B-4237-A43E-F52CE91A1096}">
      <dgm:prSet>
        <dgm:style>
          <a:lnRef idx="1">
            <a:schemeClr val="accent3"/>
          </a:lnRef>
          <a:fillRef idx="2">
            <a:schemeClr val="accent3"/>
          </a:fillRef>
          <a:effectRef idx="1">
            <a:schemeClr val="accent3"/>
          </a:effectRef>
          <a:fontRef idx="minor">
            <a:schemeClr val="dk1"/>
          </a:fontRef>
        </dgm:style>
      </dgm:prSet>
      <dgm:spPr/>
      <dgm:t>
        <a:bodyPr/>
        <a:lstStyle/>
        <a:p>
          <a:r>
            <a:rPr lang="en-IN" b="1" dirty="0">
              <a:solidFill>
                <a:schemeClr val="tx1"/>
              </a:solidFill>
            </a:rPr>
            <a:t>Lack of Program Awareness:</a:t>
          </a:r>
          <a:r>
            <a:rPr lang="en-IN" dirty="0">
              <a:solidFill>
                <a:schemeClr val="tx1"/>
              </a:solidFill>
            </a:rPr>
            <a:t> Consequently, millions of vulnerable families remain completely unaware of their eligibility for crucial government programs like Ayushman Bharat</a:t>
          </a:r>
          <a:r>
            <a:rPr lang="en-IN" dirty="0"/>
            <a:t>.</a:t>
          </a:r>
        </a:p>
      </dgm:t>
    </dgm:pt>
    <dgm:pt modelId="{0BA3B00A-6861-4039-8505-FF5B0DD263D0}" type="parTrans" cxnId="{8A718A85-8211-4D61-9947-16AEDD2F34EE}">
      <dgm:prSet/>
      <dgm:spPr/>
      <dgm:t>
        <a:bodyPr/>
        <a:lstStyle/>
        <a:p>
          <a:endParaRPr lang="en-IN"/>
        </a:p>
      </dgm:t>
    </dgm:pt>
    <dgm:pt modelId="{2AABDD63-6994-48E3-9CDC-CCA755AB4454}" type="sibTrans" cxnId="{8A718A85-8211-4D61-9947-16AEDD2F34EE}">
      <dgm:prSet/>
      <dgm:spPr/>
      <dgm:t>
        <a:bodyPr/>
        <a:lstStyle/>
        <a:p>
          <a:endParaRPr lang="en-IN"/>
        </a:p>
      </dgm:t>
    </dgm:pt>
    <dgm:pt modelId="{7D775508-2D1D-4FD4-8B06-B41AFC8B1DAF}">
      <dgm:prSet>
        <dgm:style>
          <a:lnRef idx="1">
            <a:schemeClr val="accent3"/>
          </a:lnRef>
          <a:fillRef idx="2">
            <a:schemeClr val="accent3"/>
          </a:fillRef>
          <a:effectRef idx="1">
            <a:schemeClr val="accent3"/>
          </a:effectRef>
          <a:fontRef idx="minor">
            <a:schemeClr val="dk1"/>
          </a:fontRef>
        </dgm:style>
      </dgm:prSet>
      <dgm:spPr/>
      <dgm:t>
        <a:bodyPr/>
        <a:lstStyle/>
        <a:p>
          <a:r>
            <a:rPr lang="en-IN" b="1" dirty="0">
              <a:solidFill>
                <a:schemeClr val="tx1"/>
              </a:solidFill>
            </a:rPr>
            <a:t>Difficulty with Symptom Triage:</a:t>
          </a:r>
          <a:r>
            <a:rPr lang="en-IN" dirty="0">
              <a:solidFill>
                <a:schemeClr val="tx1"/>
              </a:solidFill>
            </a:rPr>
            <a:t> During sudden illnesses, patients struggle with safe symptom triage, leaving them unsure whether to seek home care or emergency medical help.</a:t>
          </a:r>
        </a:p>
      </dgm:t>
    </dgm:pt>
    <dgm:pt modelId="{131CF8EB-C963-4880-8850-0FA2CBEDBD95}" type="parTrans" cxnId="{516601CA-A59C-42B4-9F0F-914EF7E6332F}">
      <dgm:prSet/>
      <dgm:spPr/>
      <dgm:t>
        <a:bodyPr/>
        <a:lstStyle/>
        <a:p>
          <a:endParaRPr lang="en-IN"/>
        </a:p>
      </dgm:t>
    </dgm:pt>
    <dgm:pt modelId="{67D7651A-1275-4772-9B3D-612CC047D36D}" type="sibTrans" cxnId="{516601CA-A59C-42B4-9F0F-914EF7E6332F}">
      <dgm:prSet/>
      <dgm:spPr/>
      <dgm:t>
        <a:bodyPr/>
        <a:lstStyle/>
        <a:p>
          <a:endParaRPr lang="en-IN"/>
        </a:p>
      </dgm:t>
    </dgm:pt>
    <dgm:pt modelId="{0FEE227F-97AC-4B32-9951-3B75458A1349}">
      <dgm:prSet>
        <dgm:style>
          <a:lnRef idx="1">
            <a:schemeClr val="accent3"/>
          </a:lnRef>
          <a:fillRef idx="2">
            <a:schemeClr val="accent3"/>
          </a:fillRef>
          <a:effectRef idx="1">
            <a:schemeClr val="accent3"/>
          </a:effectRef>
          <a:fontRef idx="minor">
            <a:schemeClr val="dk1"/>
          </a:fontRef>
        </dgm:style>
      </dgm:prSet>
      <dgm:spPr/>
      <dgm:t>
        <a:bodyPr/>
        <a:lstStyle/>
        <a:p>
          <a:r>
            <a:rPr lang="en-IN" b="1" dirty="0">
              <a:solidFill>
                <a:schemeClr val="tx1"/>
              </a:solidFill>
            </a:rPr>
            <a:t>Inability to Locate Facilities:</a:t>
          </a:r>
          <a:r>
            <a:rPr lang="en-IN" dirty="0">
              <a:solidFill>
                <a:schemeClr val="tx1"/>
              </a:solidFill>
            </a:rPr>
            <a:t> Patients face significant challenges in easily locating the nearest healthcare facilities when they need them.</a:t>
          </a:r>
        </a:p>
      </dgm:t>
    </dgm:pt>
    <dgm:pt modelId="{046EFC7A-AF66-4D02-8004-9FC70B0824D1}" type="parTrans" cxnId="{8211DD0A-762F-4B9E-B8E0-55BE2BD4CD6D}">
      <dgm:prSet/>
      <dgm:spPr/>
      <dgm:t>
        <a:bodyPr/>
        <a:lstStyle/>
        <a:p>
          <a:endParaRPr lang="en-IN"/>
        </a:p>
      </dgm:t>
    </dgm:pt>
    <dgm:pt modelId="{A38FD366-99FB-48BB-9292-99BC78CF5EB8}" type="sibTrans" cxnId="{8211DD0A-762F-4B9E-B8E0-55BE2BD4CD6D}">
      <dgm:prSet/>
      <dgm:spPr/>
      <dgm:t>
        <a:bodyPr/>
        <a:lstStyle/>
        <a:p>
          <a:endParaRPr lang="en-IN"/>
        </a:p>
      </dgm:t>
    </dgm:pt>
    <dgm:pt modelId="{3EE33D1E-2639-4B02-895B-CFD92474EBD2}" type="pres">
      <dgm:prSet presAssocID="{1BF18B2D-5069-449E-A1FB-C155088D1DE5}" presName="matrix" presStyleCnt="0">
        <dgm:presLayoutVars>
          <dgm:chMax val="1"/>
          <dgm:dir/>
          <dgm:resizeHandles val="exact"/>
        </dgm:presLayoutVars>
      </dgm:prSet>
      <dgm:spPr/>
    </dgm:pt>
    <dgm:pt modelId="{38069655-F957-4A23-80CA-07D6F3E83CA9}" type="pres">
      <dgm:prSet presAssocID="{1BF18B2D-5069-449E-A1FB-C155088D1DE5}" presName="axisShape" presStyleLbl="bgShp" presStyleIdx="0" presStyleCnt="1" custLinFactNeighborX="-1904" custLinFactNeighborY="-3265"/>
      <dgm:spPr/>
    </dgm:pt>
    <dgm:pt modelId="{35D3A36E-672F-4F6E-8DB6-475228CCCF35}" type="pres">
      <dgm:prSet presAssocID="{1BF18B2D-5069-449E-A1FB-C155088D1DE5}" presName="rect1" presStyleLbl="node1" presStyleIdx="0" presStyleCnt="4" custScaleX="149980" custLinFactNeighborX="-44193" custLinFactNeighborY="-4065">
        <dgm:presLayoutVars>
          <dgm:chMax val="0"/>
          <dgm:chPref val="0"/>
          <dgm:bulletEnabled val="1"/>
        </dgm:presLayoutVars>
      </dgm:prSet>
      <dgm:spPr/>
    </dgm:pt>
    <dgm:pt modelId="{AD85514E-D99E-4AB0-8783-0E8590FE7EAB}" type="pres">
      <dgm:prSet presAssocID="{1BF18B2D-5069-449E-A1FB-C155088D1DE5}" presName="rect2" presStyleLbl="node1" presStyleIdx="1" presStyleCnt="4" custScaleX="159384" custLinFactNeighborX="27332" custLinFactNeighborY="-3092">
        <dgm:presLayoutVars>
          <dgm:chMax val="0"/>
          <dgm:chPref val="0"/>
          <dgm:bulletEnabled val="1"/>
        </dgm:presLayoutVars>
      </dgm:prSet>
      <dgm:spPr/>
    </dgm:pt>
    <dgm:pt modelId="{24A36AAE-7F4C-48BA-B81A-93BD31652D33}" type="pres">
      <dgm:prSet presAssocID="{1BF18B2D-5069-449E-A1FB-C155088D1DE5}" presName="rect3" presStyleLbl="node1" presStyleIdx="2" presStyleCnt="4" custScaleX="153047" custLinFactNeighborX="-34565" custLinFactNeighborY="6819">
        <dgm:presLayoutVars>
          <dgm:chMax val="0"/>
          <dgm:chPref val="0"/>
          <dgm:bulletEnabled val="1"/>
        </dgm:presLayoutVars>
      </dgm:prSet>
      <dgm:spPr/>
    </dgm:pt>
    <dgm:pt modelId="{BC1A005C-2271-4B3B-B113-F1FE59A47E5A}" type="pres">
      <dgm:prSet presAssocID="{1BF18B2D-5069-449E-A1FB-C155088D1DE5}" presName="rect4" presStyleLbl="node1" presStyleIdx="3" presStyleCnt="4" custScaleX="154360" custLinFactNeighborX="32320" custLinFactNeighborY="4322">
        <dgm:presLayoutVars>
          <dgm:chMax val="0"/>
          <dgm:chPref val="0"/>
          <dgm:bulletEnabled val="1"/>
        </dgm:presLayoutVars>
      </dgm:prSet>
      <dgm:spPr/>
    </dgm:pt>
  </dgm:ptLst>
  <dgm:cxnLst>
    <dgm:cxn modelId="{4A1C3003-E52B-4100-A2FD-454AFCD2AAEF}" srcId="{1BF18B2D-5069-449E-A1FB-C155088D1DE5}" destId="{AE16D350-E13F-438E-A546-E2E1C3FA6AB7}" srcOrd="0" destOrd="0" parTransId="{1D4B8406-3E58-48E1-9EFA-EA8BBDE35298}" sibTransId="{7976FA1E-06B4-4A7E-A2D2-A4AE1BCB2626}"/>
    <dgm:cxn modelId="{8211DD0A-762F-4B9E-B8E0-55BE2BD4CD6D}" srcId="{1BF18B2D-5069-449E-A1FB-C155088D1DE5}" destId="{0FEE227F-97AC-4B32-9951-3B75458A1349}" srcOrd="3" destOrd="0" parTransId="{046EFC7A-AF66-4D02-8004-9FC70B0824D1}" sibTransId="{A38FD366-99FB-48BB-9292-99BC78CF5EB8}"/>
    <dgm:cxn modelId="{78B3D44E-1405-4983-A060-2FF5D40FD24C}" type="presOf" srcId="{7D775508-2D1D-4FD4-8B06-B41AFC8B1DAF}" destId="{24A36AAE-7F4C-48BA-B81A-93BD31652D33}" srcOrd="0" destOrd="0" presId="urn:microsoft.com/office/officeart/2005/8/layout/matrix2"/>
    <dgm:cxn modelId="{380D8E56-06FD-4581-A1C0-41DEBD3B7C0A}" type="presOf" srcId="{853430D1-4B3B-4237-A43E-F52CE91A1096}" destId="{AD85514E-D99E-4AB0-8783-0E8590FE7EAB}" srcOrd="0" destOrd="0" presId="urn:microsoft.com/office/officeart/2005/8/layout/matrix2"/>
    <dgm:cxn modelId="{8A718A85-8211-4D61-9947-16AEDD2F34EE}" srcId="{1BF18B2D-5069-449E-A1FB-C155088D1DE5}" destId="{853430D1-4B3B-4237-A43E-F52CE91A1096}" srcOrd="1" destOrd="0" parTransId="{0BA3B00A-6861-4039-8505-FF5B0DD263D0}" sibTransId="{2AABDD63-6994-48E3-9CDC-CCA755AB4454}"/>
    <dgm:cxn modelId="{516601CA-A59C-42B4-9F0F-914EF7E6332F}" srcId="{1BF18B2D-5069-449E-A1FB-C155088D1DE5}" destId="{7D775508-2D1D-4FD4-8B06-B41AFC8B1DAF}" srcOrd="2" destOrd="0" parTransId="{131CF8EB-C963-4880-8850-0FA2CBEDBD95}" sibTransId="{67D7651A-1275-4772-9B3D-612CC047D36D}"/>
    <dgm:cxn modelId="{FCCAEBCB-B368-4C4B-9334-354F539789AE}" type="presOf" srcId="{1BF18B2D-5069-449E-A1FB-C155088D1DE5}" destId="{3EE33D1E-2639-4B02-895B-CFD92474EBD2}" srcOrd="0" destOrd="0" presId="urn:microsoft.com/office/officeart/2005/8/layout/matrix2"/>
    <dgm:cxn modelId="{0AB08CCC-8E96-45EC-833E-E20F01BB7839}" type="presOf" srcId="{AE16D350-E13F-438E-A546-E2E1C3FA6AB7}" destId="{35D3A36E-672F-4F6E-8DB6-475228CCCF35}" srcOrd="0" destOrd="0" presId="urn:microsoft.com/office/officeart/2005/8/layout/matrix2"/>
    <dgm:cxn modelId="{52137CDF-01F3-41C2-8B7E-41EBF9D22F4A}" type="presOf" srcId="{0FEE227F-97AC-4B32-9951-3B75458A1349}" destId="{BC1A005C-2271-4B3B-B113-F1FE59A47E5A}" srcOrd="0" destOrd="0" presId="urn:microsoft.com/office/officeart/2005/8/layout/matrix2"/>
    <dgm:cxn modelId="{BA79BD39-4CDD-4E27-9A55-19978FBE55E4}" type="presParOf" srcId="{3EE33D1E-2639-4B02-895B-CFD92474EBD2}" destId="{38069655-F957-4A23-80CA-07D6F3E83CA9}" srcOrd="0" destOrd="0" presId="urn:microsoft.com/office/officeart/2005/8/layout/matrix2"/>
    <dgm:cxn modelId="{F08CD0B0-CA3B-4D16-B4DF-F268D1FBBA65}" type="presParOf" srcId="{3EE33D1E-2639-4B02-895B-CFD92474EBD2}" destId="{35D3A36E-672F-4F6E-8DB6-475228CCCF35}" srcOrd="1" destOrd="0" presId="urn:microsoft.com/office/officeart/2005/8/layout/matrix2"/>
    <dgm:cxn modelId="{E108D4A7-1976-4A93-8A1F-B3A213CD4CD6}" type="presParOf" srcId="{3EE33D1E-2639-4B02-895B-CFD92474EBD2}" destId="{AD85514E-D99E-4AB0-8783-0E8590FE7EAB}" srcOrd="2" destOrd="0" presId="urn:microsoft.com/office/officeart/2005/8/layout/matrix2"/>
    <dgm:cxn modelId="{2F869D18-05C9-4AC7-A604-7CCB427A04E1}" type="presParOf" srcId="{3EE33D1E-2639-4B02-895B-CFD92474EBD2}" destId="{24A36AAE-7F4C-48BA-B81A-93BD31652D33}" srcOrd="3" destOrd="0" presId="urn:microsoft.com/office/officeart/2005/8/layout/matrix2"/>
    <dgm:cxn modelId="{FCDDC926-82B3-4136-A264-A3451C85BCE2}" type="presParOf" srcId="{3EE33D1E-2639-4B02-895B-CFD92474EBD2}" destId="{BC1A005C-2271-4B3B-B113-F1FE59A47E5A}" srcOrd="4" destOrd="0" presId="urn:microsoft.com/office/officeart/2005/8/layout/matrix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069655-F957-4A23-80CA-07D6F3E83CA9}">
      <dsp:nvSpPr>
        <dsp:cNvPr id="0" name=""/>
        <dsp:cNvSpPr/>
      </dsp:nvSpPr>
      <dsp:spPr>
        <a:xfrm>
          <a:off x="1462484" y="0"/>
          <a:ext cx="8260407" cy="8260407"/>
        </a:xfrm>
        <a:prstGeom prst="quadArrow">
          <a:avLst>
            <a:gd name="adj1" fmla="val 2000"/>
            <a:gd name="adj2" fmla="val 4000"/>
            <a:gd name="adj3" fmla="val 5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D3A36E-672F-4F6E-8DB6-475228CCCF35}">
      <dsp:nvSpPr>
        <dsp:cNvPr id="0" name=""/>
        <dsp:cNvSpPr/>
      </dsp:nvSpPr>
      <dsp:spPr>
        <a:xfrm>
          <a:off x="0" y="402612"/>
          <a:ext cx="4955583" cy="3304162"/>
        </a:xfrm>
        <a:prstGeom prst="round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1"/>
              </a:solidFill>
            </a:rPr>
            <a:t>Language and Literacy Barriers:</a:t>
          </a:r>
          <a:r>
            <a:rPr lang="en-IN" sz="2200" kern="1200" dirty="0">
              <a:solidFill>
                <a:schemeClr val="tx1"/>
              </a:solidFill>
            </a:rPr>
            <a:t> Rural citizens face severe barriers accessing healthcare because vital scheme details are only available in formal languages and complex forms they cannot easily read.</a:t>
          </a:r>
        </a:p>
      </dsp:txBody>
      <dsp:txXfrm>
        <a:off x="161296" y="563908"/>
        <a:ext cx="4632991" cy="2981570"/>
      </dsp:txXfrm>
    </dsp:sp>
    <dsp:sp modelId="{AD85514E-D99E-4AB0-8783-0E8590FE7EAB}">
      <dsp:nvSpPr>
        <dsp:cNvPr id="0" name=""/>
        <dsp:cNvSpPr/>
      </dsp:nvSpPr>
      <dsp:spPr>
        <a:xfrm>
          <a:off x="5961102" y="434761"/>
          <a:ext cx="5266306" cy="3304162"/>
        </a:xfrm>
        <a:prstGeom prst="round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tx1"/>
              </a:solidFill>
            </a:rPr>
            <a:t>Lack of Program Awareness:</a:t>
          </a:r>
          <a:r>
            <a:rPr lang="en-IN" sz="2200" kern="1200" dirty="0">
              <a:solidFill>
                <a:schemeClr val="tx1"/>
              </a:solidFill>
            </a:rPr>
            <a:t> Consequently, millions of vulnerable families remain completely unaware of their eligibility for crucial government programs like Ayushman Bharat</a:t>
          </a:r>
          <a:r>
            <a:rPr lang="en-IN" sz="2200" kern="1200" dirty="0"/>
            <a:t>.</a:t>
          </a:r>
        </a:p>
      </dsp:txBody>
      <dsp:txXfrm>
        <a:off x="6122398" y="596057"/>
        <a:ext cx="4943714" cy="2981570"/>
      </dsp:txXfrm>
    </dsp:sp>
    <dsp:sp modelId="{24A36AAE-7F4C-48BA-B81A-93BD31652D33}">
      <dsp:nvSpPr>
        <dsp:cNvPr id="0" name=""/>
        <dsp:cNvSpPr/>
      </dsp:nvSpPr>
      <dsp:spPr>
        <a:xfrm>
          <a:off x="138225" y="4644628"/>
          <a:ext cx="5056922" cy="3304162"/>
        </a:xfrm>
        <a:prstGeom prst="round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dirty="0">
              <a:solidFill>
                <a:schemeClr val="tx1"/>
              </a:solidFill>
            </a:rPr>
            <a:t>Difficulty with Symptom Triage:</a:t>
          </a:r>
          <a:r>
            <a:rPr lang="en-IN" sz="2100" kern="1200" dirty="0">
              <a:solidFill>
                <a:schemeClr val="tx1"/>
              </a:solidFill>
            </a:rPr>
            <a:t> During sudden illnesses, patients struggle with safe symptom triage, leaving them unsure whether to seek home care or emergency medical help.</a:t>
          </a:r>
        </a:p>
      </dsp:txBody>
      <dsp:txXfrm>
        <a:off x="299521" y="4805924"/>
        <a:ext cx="4734330" cy="2981570"/>
      </dsp:txXfrm>
    </dsp:sp>
    <dsp:sp modelId="{BC1A005C-2271-4B3B-B113-F1FE59A47E5A}">
      <dsp:nvSpPr>
        <dsp:cNvPr id="0" name=""/>
        <dsp:cNvSpPr/>
      </dsp:nvSpPr>
      <dsp:spPr>
        <a:xfrm>
          <a:off x="6208914" y="4562123"/>
          <a:ext cx="5100305" cy="3304162"/>
        </a:xfrm>
        <a:prstGeom prst="round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dirty="0">
              <a:solidFill>
                <a:schemeClr val="tx1"/>
              </a:solidFill>
            </a:rPr>
            <a:t>Inability to Locate Facilities:</a:t>
          </a:r>
          <a:r>
            <a:rPr lang="en-IN" sz="2100" kern="1200" dirty="0">
              <a:solidFill>
                <a:schemeClr val="tx1"/>
              </a:solidFill>
            </a:rPr>
            <a:t> Patients face significant challenges in easily locating the nearest healthcare facilities when they need them.</a:t>
          </a:r>
        </a:p>
      </dsp:txBody>
      <dsp:txXfrm>
        <a:off x="6370210" y="4723419"/>
        <a:ext cx="4777713" cy="2981570"/>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123444" y="96011"/>
            <a:ext cx="18022824" cy="7680959"/>
          </a:xfrm>
        </p:spPr>
        <p:txBody>
          <a:bodyPr>
            <a:normAutofit/>
          </a:bodyPr>
          <a:lstStyle>
            <a:lvl1pPr>
              <a:defRPr sz="165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632204" y="8041317"/>
            <a:ext cx="15055596" cy="850392"/>
          </a:xfrm>
        </p:spPr>
        <p:txBody>
          <a:bodyPr anchor="b" anchorCtr="0">
            <a:normAutofit/>
          </a:bodyPr>
          <a:lstStyle>
            <a:lvl1pPr marL="0" indent="0" algn="r">
              <a:lnSpc>
                <a:spcPct val="100000"/>
              </a:lnSpc>
              <a:buNone/>
              <a:defRPr sz="30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7081708" y="8624891"/>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298151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632204" y="1635369"/>
            <a:ext cx="16260939" cy="1185765"/>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632203" y="2821134"/>
            <a:ext cx="16260941" cy="68372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1" y="180880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368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31771" y="7014266"/>
            <a:ext cx="16253459" cy="1979265"/>
          </a:xfrm>
        </p:spPr>
        <p:txBody>
          <a:bodyPr vert="horz" lIns="91440" tIns="45720" rIns="91440" bIns="45720" rtlCol="0" anchor="b">
            <a:noAutofit/>
          </a:bodyPr>
          <a:lstStyle>
            <a:lvl1pPr>
              <a:defRPr lang="en-US" sz="81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631771" y="9097701"/>
            <a:ext cx="16253459" cy="560649"/>
          </a:xfrm>
        </p:spPr>
        <p:txBody>
          <a:bodyPr vert="horz" lIns="91440" tIns="45720" rIns="91440" bIns="45720" rtlCol="0" anchor="b">
            <a:noAutofit/>
          </a:bodyPr>
          <a:lstStyle>
            <a:lvl1pPr marL="0" indent="0">
              <a:spcBef>
                <a:spcPts val="0"/>
              </a:spcBef>
              <a:buNone/>
              <a:defRPr lang="en-US" sz="3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2"/>
            <a:ext cx="18287999" cy="6701742"/>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1" y="8572500"/>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8/12/2026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49671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769585" y="2117038"/>
            <a:ext cx="5604015" cy="4268351"/>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69583" y="6604559"/>
            <a:ext cx="5594873" cy="1684683"/>
          </a:xfrm>
        </p:spPr>
        <p:txBody>
          <a:bodyPr vert="horz" lIns="91440" tIns="45720" rIns="91440" bIns="45720" rtlCol="0">
            <a:normAutofit/>
          </a:bodyPr>
          <a:lstStyle>
            <a:lvl1pPr marL="0" indent="0">
              <a:lnSpc>
                <a:spcPct val="100000"/>
              </a:lnSpc>
              <a:buNone/>
              <a:defRPr lang="en-US" sz="24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11426678" cy="10287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11769583" y="9658350"/>
            <a:ext cx="2571452" cy="628650"/>
          </a:xfrm>
        </p:spPr>
        <p:txBody>
          <a:bodyPr/>
          <a:lstStyle/>
          <a:p>
            <a:endParaRPr lang="en-US"/>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14476344" y="9658350"/>
            <a:ext cx="1297056" cy="628650"/>
          </a:xfrm>
        </p:spPr>
        <p:txBody>
          <a:bodyPr/>
          <a:lstStyle/>
          <a:p>
            <a:fld id="{1D8BD707-D9CF-40AE-B4C6-C98DA3205C09}" type="datetimeFigureOut">
              <a:rPr lang="en-US" smtClean="0"/>
              <a:pPr/>
              <a:t>8/12/2026</a:t>
            </a:fld>
            <a:endParaRPr lang="en-US"/>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5785646" y="9658350"/>
            <a:ext cx="902154" cy="62865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11211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632204" y="1635367"/>
            <a:ext cx="15055596" cy="7738886"/>
          </a:xfrm>
        </p:spPr>
        <p:txBody>
          <a:bodyPr>
            <a:normAutofit/>
          </a:bodyPr>
          <a:lstStyle>
            <a:lvl1pPr>
              <a:defRPr sz="12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8/12/2026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1" y="1808802"/>
            <a:ext cx="1206293"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82977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636410" y="1633054"/>
            <a:ext cx="12718608" cy="2093330"/>
          </a:xfrm>
        </p:spPr>
        <p:txBody>
          <a:bodyPr anchor="t">
            <a:normAutofit/>
          </a:bodyPr>
          <a:lstStyle>
            <a:lvl1pPr>
              <a:defRPr sz="54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645046" y="3726383"/>
            <a:ext cx="12701337" cy="5309271"/>
          </a:xfrm>
        </p:spPr>
        <p:txBody>
          <a:bodyPr>
            <a:normAutofit/>
          </a:bodyPr>
          <a:lstStyle>
            <a:lvl1pPr marL="685800" indent="-685800">
              <a:lnSpc>
                <a:spcPct val="100000"/>
              </a:lnSpc>
              <a:buFont typeface="+mj-lt"/>
              <a:buAutoNum type="arabicPeriod"/>
              <a:defRPr sz="3000"/>
            </a:lvl1pPr>
            <a:lvl2pPr marL="1028700" indent="-685800">
              <a:lnSpc>
                <a:spcPct val="100000"/>
              </a:lnSpc>
              <a:buFont typeface="+mj-lt"/>
              <a:buAutoNum type="arabicPeriod"/>
              <a:defRPr sz="3000"/>
            </a:lvl2pPr>
            <a:lvl3pPr marL="1200150" indent="-514350">
              <a:lnSpc>
                <a:spcPct val="100000"/>
              </a:lnSpc>
              <a:buFont typeface="+mj-lt"/>
              <a:buAutoNum type="arabicPeriod"/>
              <a:defRPr sz="3000"/>
            </a:lvl3pPr>
            <a:lvl4pPr marL="1543050" indent="-514350">
              <a:lnSpc>
                <a:spcPct val="100000"/>
              </a:lnSpc>
              <a:buFont typeface="+mj-lt"/>
              <a:buAutoNum type="arabicPeriod"/>
              <a:defRPr sz="3000"/>
            </a:lvl4pPr>
            <a:lvl5pPr marL="1885950" indent="-514350">
              <a:lnSpc>
                <a:spcPct val="100000"/>
              </a:lnSpc>
              <a:buFont typeface="+mj-lt"/>
              <a:buAutoNum type="arabicPeriod"/>
              <a:defRPr sz="3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8/12/2026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80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632204" y="1632204"/>
            <a:ext cx="8624088" cy="2331720"/>
          </a:xfrm>
        </p:spPr>
        <p:txBody>
          <a:bodyPr anchor="t" anchorCtr="0">
            <a:normAutofit/>
          </a:bodyPr>
          <a:lstStyle>
            <a:lvl1pPr>
              <a:defRPr sz="54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632204" y="3977640"/>
            <a:ext cx="8624088" cy="5541264"/>
          </a:xfrm>
        </p:spPr>
        <p:txBody>
          <a:bodyPr>
            <a:normAutofit/>
          </a:bodyPr>
          <a:lstStyle>
            <a:lvl1pPr marL="514350" indent="-514350">
              <a:lnSpc>
                <a:spcPct val="100000"/>
              </a:lnSpc>
              <a:buFont typeface="System Font Regular"/>
              <a:buChar char="-"/>
              <a:defRPr sz="3000"/>
            </a:lvl1pPr>
            <a:lvl2pPr>
              <a:lnSpc>
                <a:spcPct val="100000"/>
              </a:lnSpc>
              <a:defRPr sz="3000"/>
            </a:lvl2pPr>
            <a:lvl3pPr>
              <a:lnSpc>
                <a:spcPct val="100000"/>
              </a:lnSpc>
              <a:defRPr sz="3000"/>
            </a:lvl3pPr>
            <a:lvl4pPr>
              <a:lnSpc>
                <a:spcPct val="100000"/>
              </a:lnSpc>
              <a:defRPr sz="3000"/>
            </a:lvl4pPr>
            <a:lvl5pPr>
              <a:lnSpc>
                <a:spcPct val="100000"/>
              </a:lnSpc>
              <a:defRPr sz="3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636410" y="9658350"/>
            <a:ext cx="5873106" cy="628650"/>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509516" y="9658350"/>
            <a:ext cx="1689180" cy="628650"/>
          </a:xfrm>
        </p:spPr>
        <p:txBody>
          <a:bodyPr/>
          <a:lstStyle/>
          <a:p>
            <a:fld id="{8A60B404-9532-4DA8-8A40-EC339A5BE635}" type="datetime1">
              <a:rPr lang="en-US" smtClean="0"/>
              <a:t>8/12/2026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9198696" y="9658350"/>
            <a:ext cx="1057596" cy="628650"/>
          </a:xfrm>
        </p:spPr>
        <p:txBody>
          <a:bodyPr/>
          <a:lstStyle/>
          <a:p>
            <a:fld id="{B6F15528-21DE-4FAA-801E-634DDDAF4B2B}" type="slidenum">
              <a:rPr lang="en-US" smtClean="0"/>
              <a:pPr/>
              <a:t>‹#›</a:t>
            </a:fld>
            <a:endParaRPr lang="en-US"/>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10972800" y="0"/>
            <a:ext cx="7315200" cy="10287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040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31515" y="1672284"/>
            <a:ext cx="5885183" cy="6125370"/>
          </a:xfrm>
        </p:spPr>
        <p:txBody>
          <a:bodyPr anchor="t">
            <a:norm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7941919" y="1672935"/>
            <a:ext cx="8714570" cy="7756815"/>
          </a:xfrm>
        </p:spPr>
        <p:txBody>
          <a:bodyPr>
            <a:normAutofit/>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4809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25552" y="1671983"/>
            <a:ext cx="4156989" cy="5513328"/>
          </a:xfrm>
        </p:spPr>
        <p:txBody>
          <a:bodyPr anchor="t">
            <a:norm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201799" y="1693718"/>
            <a:ext cx="11691347" cy="7736033"/>
          </a:xfrm>
        </p:spPr>
        <p:txBody>
          <a:bodyPr>
            <a:normAutofit/>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02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78682" y="1666652"/>
            <a:ext cx="9509118" cy="17145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8289" y="0"/>
            <a:ext cx="6759878"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7178681" y="3604331"/>
            <a:ext cx="9509121" cy="5825421"/>
          </a:xfrm>
        </p:spPr>
        <p:txBody>
          <a:bodyPr>
            <a:normAutofit/>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7063420"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7178682" y="9658350"/>
            <a:ext cx="7162353" cy="628650"/>
          </a:xfrm>
        </p:spPr>
        <p:txBody>
          <a:bodyPr/>
          <a:lstStyle/>
          <a:p>
            <a:endParaRPr lang="en-US"/>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14476344" y="9658350"/>
            <a:ext cx="1297056" cy="628650"/>
          </a:xfrm>
        </p:spPr>
        <p:txBody>
          <a:bodyPr/>
          <a:lstStyle/>
          <a:p>
            <a:fld id="{1D8BD707-D9CF-40AE-B4C6-C98DA3205C09}" type="datetimeFigureOut">
              <a:rPr lang="en-US" smtClean="0"/>
              <a:pPr/>
              <a:t>8/12/2026</a:t>
            </a:fld>
            <a:endParaRPr lang="en-US"/>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5785646" y="9658350"/>
            <a:ext cx="902154" cy="62865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99658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65487" y="1668156"/>
            <a:ext cx="10982423" cy="1399032"/>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1" y="0"/>
            <a:ext cx="5289659"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5664113" y="3280887"/>
            <a:ext cx="11023689" cy="6148863"/>
          </a:xfrm>
        </p:spPr>
        <p:txBody>
          <a:bodyPr>
            <a:normAutofit/>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7063420"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5664114" y="9658350"/>
            <a:ext cx="8676921" cy="628650"/>
          </a:xfrm>
        </p:spPr>
        <p:txBody>
          <a:bodyPr/>
          <a:lstStyle/>
          <a:p>
            <a:endParaRPr lang="en-US"/>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14476344" y="9658350"/>
            <a:ext cx="1297056" cy="628650"/>
          </a:xfrm>
        </p:spPr>
        <p:txBody>
          <a:bodyPr/>
          <a:lstStyle/>
          <a:p>
            <a:fld id="{1D8BD707-D9CF-40AE-B4C6-C98DA3205C09}" type="datetimeFigureOut">
              <a:rPr lang="en-US" smtClean="0"/>
              <a:pPr/>
              <a:t>8/12/2026</a:t>
            </a:fld>
            <a:endParaRPr lang="en-US"/>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5785646" y="9658350"/>
            <a:ext cx="902154" cy="62865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0266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640091" y="1668156"/>
            <a:ext cx="11015346" cy="139903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640090" y="3280887"/>
            <a:ext cx="11015348" cy="6148863"/>
          </a:xfrm>
        </p:spPr>
        <p:txBody>
          <a:bodyPr>
            <a:normAutofit/>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640091" y="9658350"/>
            <a:ext cx="8668581" cy="628650"/>
          </a:xfrm>
        </p:spPr>
        <p:txBody>
          <a:bodyPr/>
          <a:lstStyle/>
          <a:p>
            <a:endParaRPr lang="en-US"/>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10443981" y="9658350"/>
            <a:ext cx="1297056" cy="628650"/>
          </a:xfrm>
        </p:spPr>
        <p:txBody>
          <a:bodyPr/>
          <a:lstStyle/>
          <a:p>
            <a:fld id="{1D8BD707-D9CF-40AE-B4C6-C98DA3205C09}" type="datetimeFigureOut">
              <a:rPr lang="en-US" smtClean="0"/>
              <a:pPr/>
              <a:t>8/12/2026</a:t>
            </a:fld>
            <a:endParaRPr lang="en-US"/>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11753283" y="9658350"/>
            <a:ext cx="902154" cy="628650"/>
          </a:xfrm>
        </p:spPr>
        <p:txBody>
          <a:bodyPr/>
          <a:lstStyle/>
          <a:p>
            <a:fld id="{B6F15528-21DE-4FAA-801E-634DDDAF4B2B}" type="slidenum">
              <a:rPr lang="en-US" smtClean="0"/>
              <a:pPr/>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12998339" y="0"/>
            <a:ext cx="5289659"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069433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632100" y="1673605"/>
            <a:ext cx="7107875" cy="1932254"/>
          </a:xfrm>
        </p:spPr>
        <p:txBody>
          <a:bodyPr anchor="t">
            <a:norm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632288" y="3828186"/>
            <a:ext cx="7107675" cy="56015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632100" y="9658350"/>
            <a:ext cx="4761098" cy="628650"/>
          </a:xfrm>
        </p:spPr>
        <p:txBody>
          <a:bodyPr/>
          <a:lstStyle/>
          <a:p>
            <a:endParaRPr lang="en-US"/>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6528507" y="9658350"/>
            <a:ext cx="1297056" cy="628650"/>
          </a:xfrm>
        </p:spPr>
        <p:txBody>
          <a:bodyPr/>
          <a:lstStyle/>
          <a:p>
            <a:fld id="{1D8BD707-D9CF-40AE-B4C6-C98DA3205C09}" type="datetimeFigureOut">
              <a:rPr lang="en-US" smtClean="0"/>
              <a:pPr/>
              <a:t>8/12/2026</a:t>
            </a:fld>
            <a:endParaRPr lang="en-US"/>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7837809" y="9658350"/>
            <a:ext cx="902154" cy="628650"/>
          </a:xfrm>
        </p:spPr>
        <p:txBody>
          <a:bodyPr/>
          <a:lstStyle/>
          <a:p>
            <a:fld id="{B6F15528-21DE-4FAA-801E-634DDDAF4B2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144000" y="0"/>
            <a:ext cx="9144000"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651620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647595" y="1666652"/>
            <a:ext cx="5720768" cy="2240795"/>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647596" y="4051007"/>
            <a:ext cx="5720769" cy="537874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647593" y="9658350"/>
            <a:ext cx="3374003" cy="628650"/>
          </a:xfrm>
        </p:spPr>
        <p:txBody>
          <a:bodyPr/>
          <a:lstStyle/>
          <a:p>
            <a:endParaRPr lang="en-US"/>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5156906" y="9658350"/>
            <a:ext cx="1297056" cy="628650"/>
          </a:xfrm>
        </p:spPr>
        <p:txBody>
          <a:bodyPr/>
          <a:lstStyle/>
          <a:p>
            <a:fld id="{2ABAD28B-DD56-4B56-883A-96608C765E28}" type="datetimeFigureOut">
              <a:rPr lang="en-US" smtClean="0"/>
              <a:pPr/>
              <a:t>8/12/2026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6466208" y="9658350"/>
            <a:ext cx="902154" cy="628650"/>
          </a:xfrm>
        </p:spPr>
        <p:txBody>
          <a:bodyPr/>
          <a:lstStyle/>
          <a:p>
            <a:fld id="{B6F15528-21DE-4FAA-801E-634DDDAF4B2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788348" y="0"/>
            <a:ext cx="10499652"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75173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11841311" y="1668647"/>
            <a:ext cx="4846490" cy="2788412"/>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8289" y="0"/>
            <a:ext cx="11222666" cy="10287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11851920" y="4699883"/>
            <a:ext cx="4835880" cy="3984375"/>
          </a:xfrm>
        </p:spPr>
        <p:txBody>
          <a:bodyPr vert="horz" lIns="91440" tIns="45720" rIns="91440" bIns="45720" rtlCol="0">
            <a:normAutofit/>
          </a:bodyPr>
          <a:lstStyle>
            <a:lvl1pPr marL="0" indent="0">
              <a:lnSpc>
                <a:spcPct val="100000"/>
              </a:lnSpc>
              <a:buNone/>
              <a:defRPr lang="en-US" dirty="0"/>
            </a:lvl1pPr>
            <a:lvl2pPr marL="342900" indent="0">
              <a:lnSpc>
                <a:spcPct val="100000"/>
              </a:lnSpc>
              <a:buNone/>
              <a:defRPr lang="en-US" dirty="0"/>
            </a:lvl2pPr>
            <a:lvl3pPr marL="685800" indent="0">
              <a:lnSpc>
                <a:spcPct val="100000"/>
              </a:lnSpc>
              <a:buNone/>
              <a:defRPr lang="en-US" dirty="0"/>
            </a:lvl3pPr>
            <a:lvl4pPr marL="1028700" indent="0">
              <a:lnSpc>
                <a:spcPct val="100000"/>
              </a:lnSpc>
              <a:buNone/>
              <a:defRPr lang="en-US" dirty="0"/>
            </a:lvl4pPr>
            <a:lvl5pPr marL="13716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7063420"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11841311" y="9658350"/>
            <a:ext cx="2499723" cy="628650"/>
          </a:xfrm>
        </p:spPr>
        <p:txBody>
          <a:bodyPr/>
          <a:lstStyle/>
          <a:p>
            <a:endParaRPr lang="en-US"/>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14476344" y="9658350"/>
            <a:ext cx="1297056" cy="628650"/>
          </a:xfrm>
        </p:spPr>
        <p:txBody>
          <a:bodyPr/>
          <a:lstStyle/>
          <a:p>
            <a:fld id="{1D8BD707-D9CF-40AE-B4C6-C98DA3205C09}" type="datetimeFigureOut">
              <a:rPr lang="en-US" smtClean="0"/>
              <a:pPr/>
              <a:t>8/12/2026</a:t>
            </a:fld>
            <a:endParaRPr lang="en-US"/>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5785646" y="9658350"/>
            <a:ext cx="902154" cy="62865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957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672986" y="5981704"/>
            <a:ext cx="4567431" cy="3464678"/>
          </a:xfrm>
        </p:spPr>
        <p:txBody>
          <a:bodyPr anchor="t">
            <a:norm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2" y="1"/>
            <a:ext cx="18288000" cy="516499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383903" y="5981704"/>
            <a:ext cx="11190044" cy="3464678"/>
          </a:xfrm>
        </p:spPr>
        <p:txBody>
          <a:bodyPr vert="horz" lIns="91440" tIns="45720" rIns="91440" bIns="45720" rtlCol="0" anchor="t">
            <a:normAutofit/>
          </a:bodyPr>
          <a:lstStyle>
            <a:lvl1pPr marL="0" indent="0">
              <a:lnSpc>
                <a:spcPct val="100000"/>
              </a:lnSpc>
              <a:buNone/>
              <a:defRPr lang="en-US" dirty="0"/>
            </a:lvl1pPr>
            <a:lvl2pPr marL="342900" indent="0">
              <a:lnSpc>
                <a:spcPct val="100000"/>
              </a:lnSpc>
              <a:buNone/>
              <a:defRPr lang="en-US" dirty="0"/>
            </a:lvl2pPr>
            <a:lvl3pPr marL="685800" indent="0">
              <a:lnSpc>
                <a:spcPct val="100000"/>
              </a:lnSpc>
              <a:buNone/>
              <a:defRPr lang="en-US" dirty="0"/>
            </a:lvl3pPr>
            <a:lvl4pPr marL="1028700" indent="0">
              <a:lnSpc>
                <a:spcPct val="100000"/>
              </a:lnSpc>
              <a:buNone/>
              <a:defRPr lang="en-US" dirty="0"/>
            </a:lvl4pPr>
            <a:lvl5pPr marL="13716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1" y="6172638"/>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1D8BD707-D9CF-40AE-B4C6-C98DA3205C09}" type="datetimeFigureOut">
              <a:rPr lang="en-US" smtClean="0"/>
              <a:pPr/>
              <a:t>8/12/2026</a:t>
            </a:fld>
            <a:endParaRPr lang="en-US"/>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24147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636410" y="1681485"/>
            <a:ext cx="15715980" cy="1453896"/>
          </a:xfrm>
        </p:spPr>
        <p:txBody>
          <a:bodyPr anchor="t">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2" y="3429012"/>
            <a:ext cx="9144000" cy="6857988"/>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037618" y="3429012"/>
            <a:ext cx="7314773" cy="60007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10037617" y="9658350"/>
            <a:ext cx="4438727" cy="628650"/>
          </a:xfrm>
        </p:spPr>
        <p:txBody>
          <a:bodyPr/>
          <a:lstStyle/>
          <a:p>
            <a:endParaRPr lang="en-US"/>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90073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636411" y="1683301"/>
            <a:ext cx="5545289" cy="2257736"/>
          </a:xfrm>
        </p:spPr>
        <p:txBody>
          <a:bodyPr anchor="t">
            <a:noAutofit/>
          </a:bodyPr>
          <a:lstStyle>
            <a:lvl1pPr>
              <a:defRPr sz="54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771651" y="4260272"/>
            <a:ext cx="5410049" cy="5169476"/>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7670510" y="1683302"/>
            <a:ext cx="9903437" cy="77464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4250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6970956" y="7135790"/>
            <a:ext cx="9716844" cy="1689831"/>
          </a:xfrm>
        </p:spPr>
        <p:txBody>
          <a:bodyPr anchor="b">
            <a:normAutofit/>
          </a:bodyPr>
          <a:lstStyle>
            <a:lvl1pPr algn="r">
              <a:defRPr sz="3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123444" y="96012"/>
            <a:ext cx="18041112" cy="6900888"/>
          </a:xfrm>
        </p:spPr>
        <p:txBody>
          <a:bodyPr>
            <a:noAutofit/>
          </a:bodyPr>
          <a:lstStyle>
            <a:lvl1pPr>
              <a:lnSpc>
                <a:spcPct val="85000"/>
              </a:lnSpc>
              <a:defRPr sz="465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8/12/2026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7081708" y="8572500"/>
            <a:ext cx="1206293"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7477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918972" y="-1929392"/>
            <a:ext cx="15979140" cy="1700784"/>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32204" y="1558643"/>
            <a:ext cx="14127480" cy="7605102"/>
          </a:xfrm>
        </p:spPr>
        <p:txBody>
          <a:bodyPr anchor="t">
            <a:noAutofit/>
          </a:bodyPr>
          <a:lstStyle>
            <a:lvl1pPr marL="0" indent="0">
              <a:lnSpc>
                <a:spcPct val="90000"/>
              </a:lnSpc>
              <a:buNone/>
              <a:defRPr sz="9000" b="1"/>
            </a:lvl1pPr>
            <a:lvl2pPr marL="342900" indent="0">
              <a:lnSpc>
                <a:spcPct val="90000"/>
              </a:lnSpc>
              <a:buNone/>
              <a:defRPr sz="9000" b="1"/>
            </a:lvl2pPr>
            <a:lvl3pPr marL="685800" indent="0">
              <a:lnSpc>
                <a:spcPct val="90000"/>
              </a:lnSpc>
              <a:buNone/>
              <a:defRPr sz="9000" b="1"/>
            </a:lvl3pPr>
            <a:lvl4pPr marL="1028700" indent="0">
              <a:lnSpc>
                <a:spcPct val="90000"/>
              </a:lnSpc>
              <a:buNone/>
              <a:defRPr sz="9000" b="1"/>
            </a:lvl4pPr>
            <a:lvl5pPr marL="1371600" indent="0">
              <a:lnSpc>
                <a:spcPct val="90000"/>
              </a:lnSpc>
              <a:buNone/>
              <a:defRPr sz="9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741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600200" y="8127541"/>
            <a:ext cx="15087600" cy="699518"/>
          </a:xfrm>
        </p:spPr>
        <p:txBody>
          <a:bodyPr anchor="b">
            <a:normAutofit/>
          </a:bodyPr>
          <a:lstStyle>
            <a:lvl1pPr algn="r">
              <a:lnSpc>
                <a:spcPct val="100000"/>
              </a:lnSpc>
              <a:defRPr sz="3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142875" y="95250"/>
            <a:ext cx="17966532" cy="7620000"/>
          </a:xfrm>
        </p:spPr>
        <p:txBody>
          <a:bodyPr>
            <a:normAutofit/>
          </a:bodyPr>
          <a:lstStyle>
            <a:lvl1pPr>
              <a:lnSpc>
                <a:spcPct val="85000"/>
              </a:lnSpc>
              <a:defRPr sz="12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8/12/2026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7081708" y="8572938"/>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13854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632204" y="1678698"/>
            <a:ext cx="14835099" cy="1806890"/>
          </a:xfrm>
        </p:spPr>
        <p:txBody>
          <a:bodyPr>
            <a:norm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623278" y="3660852"/>
            <a:ext cx="7262258" cy="570192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9258300" y="3660853"/>
            <a:ext cx="7209003" cy="57019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0416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636411" y="1672994"/>
            <a:ext cx="14924183" cy="1258284"/>
          </a:xfrm>
        </p:spPr>
        <p:txBody>
          <a:bodyPr>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638133" y="2884785"/>
            <a:ext cx="7224713" cy="1258284"/>
          </a:xfrm>
        </p:spPr>
        <p:txBody>
          <a:bodyPr anchor="b">
            <a:normAutofit/>
          </a:bodyPr>
          <a:lstStyle>
            <a:lvl1pPr marL="0" indent="0">
              <a:lnSpc>
                <a:spcPct val="100000"/>
              </a:lnSpc>
              <a:buNone/>
              <a:defRPr sz="2700" b="1" cap="all" spc="150"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9323224" y="2884785"/>
            <a:ext cx="7237370" cy="1258284"/>
          </a:xfrm>
        </p:spPr>
        <p:txBody>
          <a:bodyPr anchor="b">
            <a:normAutofit/>
          </a:bodyPr>
          <a:lstStyle>
            <a:lvl1pPr marL="0" indent="0">
              <a:lnSpc>
                <a:spcPct val="100000"/>
              </a:lnSpc>
              <a:buNone/>
              <a:defRPr sz="2700" b="1" cap="all" spc="150"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638133" y="4238687"/>
            <a:ext cx="7224713" cy="504580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9323224" y="4238687"/>
            <a:ext cx="7237370" cy="504580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442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632204" y="1656150"/>
            <a:ext cx="14884146" cy="1941342"/>
          </a:xfrm>
        </p:spPr>
        <p:txBody>
          <a:bodyPr>
            <a:normAutofit/>
          </a:bodyPr>
          <a:lstStyle>
            <a:lvl1pPr>
              <a:defRPr sz="54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883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68001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32204" y="1632203"/>
            <a:ext cx="15941742" cy="3126827"/>
          </a:xfrm>
        </p:spPr>
        <p:txBody>
          <a:bodyPr anchor="t" anchorCtr="0">
            <a:noAutofit/>
          </a:bodyPr>
          <a:lstStyle>
            <a:lvl1pPr>
              <a:defRPr sz="9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632202" y="4914900"/>
            <a:ext cx="15941744" cy="4743450"/>
          </a:xfrm>
        </p:spPr>
        <p:txBody>
          <a:bodyPr/>
          <a:lstStyle>
            <a:lvl1pPr marL="0" indent="0">
              <a:lnSpc>
                <a:spcPct val="100000"/>
              </a:lnSpc>
              <a:buNone/>
              <a:defRPr>
                <a:solidFill>
                  <a:schemeClr val="tx1"/>
                </a:solidFill>
              </a:defRPr>
            </a:lvl1pPr>
            <a:lvl2pPr marL="342900" indent="0">
              <a:lnSpc>
                <a:spcPct val="100000"/>
              </a:lnSpc>
              <a:buNone/>
              <a:defRPr>
                <a:solidFill>
                  <a:schemeClr val="tx1"/>
                </a:solidFill>
              </a:defRPr>
            </a:lvl2pPr>
            <a:lvl3pPr marL="685800" indent="0">
              <a:lnSpc>
                <a:spcPct val="100000"/>
              </a:lnSpc>
              <a:buNone/>
              <a:defRPr>
                <a:solidFill>
                  <a:schemeClr val="tx1"/>
                </a:solidFill>
              </a:defRPr>
            </a:lvl3pPr>
            <a:lvl4pPr marL="1028700" indent="0">
              <a:lnSpc>
                <a:spcPct val="100000"/>
              </a:lnSpc>
              <a:buNone/>
              <a:defRPr>
                <a:solidFill>
                  <a:schemeClr val="tx1"/>
                </a:solidFill>
              </a:defRPr>
            </a:lvl4pPr>
            <a:lvl5pPr marL="13716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1624274"/>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32205" y="1632204"/>
            <a:ext cx="12646151" cy="2763030"/>
          </a:xfrm>
        </p:spPr>
        <p:txBody>
          <a:bodyPr anchor="t" anchorCtr="0">
            <a:noAutofit/>
          </a:bodyPr>
          <a:lstStyle>
            <a:lvl1pPr>
              <a:defRPr sz="9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615820" y="6370038"/>
            <a:ext cx="12645959" cy="2412012"/>
          </a:xfrm>
        </p:spPr>
        <p:txBody>
          <a:bodyPr anchor="b">
            <a:noAutofit/>
          </a:bodyPr>
          <a:lstStyle>
            <a:lvl1pPr marL="0" indent="0">
              <a:lnSpc>
                <a:spcPct val="100000"/>
              </a:lnSpc>
              <a:buNone/>
              <a:defRPr sz="3000">
                <a:solidFill>
                  <a:schemeClr val="tx1"/>
                </a:solidFill>
              </a:defRPr>
            </a:lvl1pPr>
            <a:lvl2pPr marL="342900" indent="0">
              <a:lnSpc>
                <a:spcPct val="100000"/>
              </a:lnSpc>
              <a:buNone/>
              <a:defRPr sz="3000">
                <a:solidFill>
                  <a:schemeClr val="tx1"/>
                </a:solidFill>
              </a:defRPr>
            </a:lvl2pPr>
            <a:lvl3pPr marL="685800" indent="0">
              <a:lnSpc>
                <a:spcPct val="100000"/>
              </a:lnSpc>
              <a:buNone/>
              <a:defRPr sz="3000">
                <a:solidFill>
                  <a:schemeClr val="tx1"/>
                </a:solidFill>
              </a:defRPr>
            </a:lvl3pPr>
            <a:lvl4pPr marL="1028700" indent="0">
              <a:lnSpc>
                <a:spcPct val="100000"/>
              </a:lnSpc>
              <a:buNone/>
              <a:defRPr sz="3000">
                <a:solidFill>
                  <a:schemeClr val="tx1"/>
                </a:solidFill>
              </a:defRPr>
            </a:lvl4pPr>
            <a:lvl5pPr marL="1371600" indent="0">
              <a:lnSpc>
                <a:spcPct val="100000"/>
              </a:lnSpc>
              <a:buNone/>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1" y="1809192"/>
            <a:ext cx="1206293"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236771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632204" y="1635368"/>
            <a:ext cx="14884146" cy="140397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632204" y="3179618"/>
            <a:ext cx="14884146" cy="62501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632204" y="9658350"/>
            <a:ext cx="12844140" cy="628650"/>
          </a:xfrm>
          <a:prstGeom prst="rect">
            <a:avLst/>
          </a:prstGeom>
        </p:spPr>
        <p:txBody>
          <a:bodyPr vert="horz" lIns="91440" tIns="45720" rIns="91440" bIns="45720" rtlCol="0" anchor="ctr"/>
          <a:lstStyle>
            <a:lvl1pPr algn="l" rtl="0">
              <a:defRPr sz="1350">
                <a:solidFill>
                  <a:schemeClr val="tx1"/>
                </a:solidFill>
              </a:defRPr>
            </a:lvl1pPr>
          </a:lstStyle>
          <a:p>
            <a:endParaRPr lang="en-US"/>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14476344" y="9658350"/>
            <a:ext cx="1297056" cy="628650"/>
          </a:xfrm>
          <a:prstGeom prst="rect">
            <a:avLst/>
          </a:prstGeom>
        </p:spPr>
        <p:txBody>
          <a:bodyPr vert="horz" lIns="91440" tIns="45720" rIns="91440" bIns="45720" rtlCol="0" anchor="ctr"/>
          <a:lstStyle>
            <a:lvl1pPr algn="l" rtl="0">
              <a:defRPr sz="1350">
                <a:solidFill>
                  <a:schemeClr val="tx1"/>
                </a:solidFill>
              </a:defRPr>
            </a:lvl1pPr>
          </a:lstStyle>
          <a:p>
            <a:fld id="{1D8BD707-D9CF-40AE-B4C6-C98DA3205C09}" type="datetimeFigureOut">
              <a:rPr lang="en-US" smtClean="0"/>
              <a:pPr/>
              <a:t>8/12/2026</a:t>
            </a:fld>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5785646" y="9658350"/>
            <a:ext cx="902154" cy="628650"/>
          </a:xfrm>
          <a:prstGeom prst="rect">
            <a:avLst/>
          </a:prstGeom>
        </p:spPr>
        <p:txBody>
          <a:bodyPr vert="horz" lIns="91440" tIns="45720" rIns="91440" bIns="45720" rtlCol="0" anchor="ctr"/>
          <a:lstStyle>
            <a:lvl1pPr algn="r" rtl="0">
              <a:defRPr sz="1350">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6837476"/>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Lst>
  <p:txStyles>
    <p:titleStyle>
      <a:lvl1pPr algn="l" defTabSz="1371600" rtl="0" eaLnBrk="1" latinLnBrk="0" hangingPunct="1">
        <a:lnSpc>
          <a:spcPct val="85000"/>
        </a:lnSpc>
        <a:spcBef>
          <a:spcPct val="0"/>
        </a:spcBef>
        <a:buNone/>
        <a:defRPr sz="5400" b="1" kern="1200" cap="all" baseline="0">
          <a:solidFill>
            <a:schemeClr val="tx1"/>
          </a:solidFill>
          <a:latin typeface="+mj-lt"/>
          <a:ea typeface="+mj-ea"/>
          <a:cs typeface="+mj-cs"/>
        </a:defRPr>
      </a:lvl1pPr>
    </p:titleStyle>
    <p:bodyStyle>
      <a:lvl1pPr marL="0" indent="0" algn="l" defTabSz="1371600" rtl="0" eaLnBrk="1" latinLnBrk="0" hangingPunct="1">
        <a:lnSpc>
          <a:spcPct val="130000"/>
        </a:lnSpc>
        <a:spcBef>
          <a:spcPts val="0"/>
        </a:spcBef>
        <a:buFont typeface="Neue Haas Grotesk Text Pro" panose="020B0504020202020204" pitchFamily="34" charset="0"/>
        <a:buNone/>
        <a:defRPr sz="2400" kern="1200">
          <a:solidFill>
            <a:schemeClr val="tx1"/>
          </a:solidFill>
          <a:latin typeface="+mn-lt"/>
          <a:ea typeface="+mn-ea"/>
          <a:cs typeface="+mn-cs"/>
        </a:defRPr>
      </a:lvl1pPr>
      <a:lvl2pPr marL="754380" indent="-342900" algn="l" defTabSz="1371600" rtl="0" eaLnBrk="1" latinLnBrk="0" hangingPunct="1">
        <a:lnSpc>
          <a:spcPct val="130000"/>
        </a:lnSpc>
        <a:spcBef>
          <a:spcPts val="0"/>
        </a:spcBef>
        <a:buFont typeface="Neue Haas Grotesk Text Pro" panose="020B0504020202020204" pitchFamily="34" charset="0"/>
        <a:buChar char="-"/>
        <a:defRPr sz="2400" kern="1200">
          <a:solidFill>
            <a:schemeClr val="tx1"/>
          </a:solidFill>
          <a:latin typeface="+mn-lt"/>
          <a:ea typeface="+mn-ea"/>
          <a:cs typeface="+mn-cs"/>
        </a:defRPr>
      </a:lvl2pPr>
      <a:lvl3pPr marL="1097280" indent="-342900" algn="l" defTabSz="1371600" rtl="0" eaLnBrk="1" latinLnBrk="0" hangingPunct="1">
        <a:lnSpc>
          <a:spcPct val="130000"/>
        </a:lnSpc>
        <a:spcBef>
          <a:spcPts val="0"/>
        </a:spcBef>
        <a:buFont typeface="Neue Haas Grotesk Text Pro" panose="020B0504020202020204" pitchFamily="34" charset="0"/>
        <a:buChar char="-"/>
        <a:defRPr sz="2400" kern="1200">
          <a:solidFill>
            <a:schemeClr val="tx1"/>
          </a:solidFill>
          <a:latin typeface="+mn-lt"/>
          <a:ea typeface="+mn-ea"/>
          <a:cs typeface="+mn-cs"/>
        </a:defRPr>
      </a:lvl3pPr>
      <a:lvl4pPr marL="1508760" indent="-342900" algn="l" defTabSz="1371600" rtl="0" eaLnBrk="1" latinLnBrk="0" hangingPunct="1">
        <a:lnSpc>
          <a:spcPct val="130000"/>
        </a:lnSpc>
        <a:spcBef>
          <a:spcPts val="0"/>
        </a:spcBef>
        <a:buFont typeface="Neue Haas Grotesk Text Pro" panose="020B0504020202020204" pitchFamily="34" charset="0"/>
        <a:buChar char="-"/>
        <a:defRPr sz="2400" kern="1200">
          <a:solidFill>
            <a:schemeClr val="tx1"/>
          </a:solidFill>
          <a:latin typeface="+mn-lt"/>
          <a:ea typeface="+mn-ea"/>
          <a:cs typeface="+mn-cs"/>
        </a:defRPr>
      </a:lvl4pPr>
      <a:lvl5pPr marL="1920240" indent="-342900" algn="l" defTabSz="1371600" rtl="0" eaLnBrk="1" latinLnBrk="0" hangingPunct="1">
        <a:lnSpc>
          <a:spcPct val="130000"/>
        </a:lnSpc>
        <a:spcBef>
          <a:spcPts val="0"/>
        </a:spcBef>
        <a:buFont typeface="Neue Haas Grotesk Text Pro" panose="020B0504020202020204" pitchFamily="34" charset="0"/>
        <a:buChar char="-"/>
        <a:defRPr sz="24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9.jpeg"/><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image" Target="../media/image7.svg"/><Relationship Id="rId1" Type="http://schemas.openxmlformats.org/officeDocument/2006/relationships/slideLayout" Target="../slideLayouts/slideLayout2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5.jpeg"/><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8.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17.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hyperlink" Target="https://nhm.gov.in/nammamihaan/index1.php?lang=1&amp;level=1&amp;lid=226&amp;sublinkid=150" TargetMode="External"/><Relationship Id="rId3" Type="http://schemas.openxmlformats.org/officeDocument/2006/relationships/image" Target="../media/image7.svg"/><Relationship Id="rId7" Type="http://schemas.openxmlformats.org/officeDocument/2006/relationships/hyperlink" Target="https://abdm.gov.in/call-center" TargetMode="External"/><Relationship Id="rId2"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hyperlink" Target="https://abdm.gov.in/health-facilities" TargetMode="External"/><Relationship Id="rId5" Type="http://schemas.openxmlformats.org/officeDocument/2006/relationships/hyperlink" Target="https://abdm.gov.in/abdm" TargetMode="External"/><Relationship Id="rId10" Type="http://schemas.openxmlformats.org/officeDocument/2006/relationships/hyperlink" Target="https://abdm.gov.in/ebook" TargetMode="External"/><Relationship Id="rId4" Type="http://schemas.openxmlformats.org/officeDocument/2006/relationships/image" Target="../media/image8.jpeg"/><Relationship Id="rId9" Type="http://schemas.openxmlformats.org/officeDocument/2006/relationships/hyperlink" Target="https://www.who.int/tools/tria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0" y="1729468"/>
            <a:ext cx="10781919" cy="10781919"/>
            <a:chOff x="-65265" y="-33383"/>
            <a:chExt cx="14375892" cy="14375892"/>
          </a:xfrm>
        </p:grpSpPr>
        <p:sp>
          <p:nvSpPr>
            <p:cNvPr id="3" name="Freeform 3"/>
            <p:cNvSpPr/>
            <p:nvPr/>
          </p:nvSpPr>
          <p:spPr>
            <a:xfrm>
              <a:off x="-65265" y="-33383"/>
              <a:ext cx="14375892" cy="14375892"/>
            </a:xfrm>
            <a:custGeom>
              <a:avLst/>
              <a:gdLst/>
              <a:ahLst/>
              <a:cxnLst/>
              <a:rect l="l" t="t" r="r" b="b"/>
              <a:pathLst>
                <a:path w="14375892" h="14375892">
                  <a:moveTo>
                    <a:pt x="0" y="0"/>
                  </a:moveTo>
                  <a:lnTo>
                    <a:pt x="14375892" y="0"/>
                  </a:lnTo>
                  <a:lnTo>
                    <a:pt x="14375892" y="14375892"/>
                  </a:lnTo>
                  <a:lnTo>
                    <a:pt x="0" y="14375892"/>
                  </a:lnTo>
                  <a:lnTo>
                    <a:pt x="0" y="0"/>
                  </a:lnTo>
                  <a:close/>
                </a:path>
              </a:pathLst>
            </a:custGeom>
            <a:blipFill>
              <a:blip r:embed="rId2">
                <a:alphaModFix amt="7999"/>
              </a:blip>
              <a:stretch>
                <a:fillRect/>
              </a:stretch>
            </a:blipFill>
          </p:spPr>
        </p:sp>
      </p:grpSp>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3"/>
                </a:ext>
              </a:extLst>
            </a:blip>
            <a:stretch>
              <a:fillRect t="-626" b="-626"/>
            </a:stretch>
          </a:blipFill>
        </p:spPr>
      </p:sp>
      <p:grpSp>
        <p:nvGrpSpPr>
          <p:cNvPr id="5" name="Group 5"/>
          <p:cNvGrpSpPr/>
          <p:nvPr/>
        </p:nvGrpSpPr>
        <p:grpSpPr>
          <a:xfrm>
            <a:off x="15501499" y="325564"/>
            <a:ext cx="610934" cy="610934"/>
            <a:chOff x="0" y="0"/>
            <a:chExt cx="814578" cy="814578"/>
          </a:xfrm>
        </p:grpSpPr>
        <p:sp>
          <p:nvSpPr>
            <p:cNvPr id="6" name="Freeform 6"/>
            <p:cNvSpPr/>
            <p:nvPr/>
          </p:nvSpPr>
          <p:spPr>
            <a:xfrm>
              <a:off x="0" y="0"/>
              <a:ext cx="814578" cy="814578"/>
            </a:xfrm>
            <a:custGeom>
              <a:avLst/>
              <a:gdLst/>
              <a:ahLst/>
              <a:cxnLst/>
              <a:rect l="l" t="t" r="r" b="b"/>
              <a:pathLst>
                <a:path w="814578" h="814578">
                  <a:moveTo>
                    <a:pt x="814578" y="407289"/>
                  </a:moveTo>
                  <a:cubicBezTo>
                    <a:pt x="814578" y="632206"/>
                    <a:pt x="632206" y="814578"/>
                    <a:pt x="407289" y="814578"/>
                  </a:cubicBezTo>
                  <a:cubicBezTo>
                    <a:pt x="182372" y="814578"/>
                    <a:pt x="0" y="632206"/>
                    <a:pt x="0" y="407289"/>
                  </a:cubicBezTo>
                  <a:cubicBezTo>
                    <a:pt x="0" y="182372"/>
                    <a:pt x="182372" y="0"/>
                    <a:pt x="407289" y="0"/>
                  </a:cubicBezTo>
                  <a:cubicBezTo>
                    <a:pt x="632206" y="0"/>
                    <a:pt x="814578" y="182372"/>
                    <a:pt x="814578" y="407289"/>
                  </a:cubicBezTo>
                  <a:close/>
                </a:path>
              </a:pathLst>
            </a:custGeom>
            <a:blipFill>
              <a:blip r:embed="rId4"/>
              <a:stretch>
                <a:fillRect/>
              </a:stretch>
            </a:blipFill>
          </p:spPr>
        </p:sp>
      </p:grpSp>
      <p:sp>
        <p:nvSpPr>
          <p:cNvPr id="7" name="TextBox 7"/>
          <p:cNvSpPr txBox="1"/>
          <p:nvPr/>
        </p:nvSpPr>
        <p:spPr>
          <a:xfrm>
            <a:off x="16229667" y="154953"/>
            <a:ext cx="1668199" cy="716442"/>
          </a:xfrm>
          <a:prstGeom prst="rect">
            <a:avLst/>
          </a:prstGeom>
        </p:spPr>
        <p:txBody>
          <a:bodyPr lIns="0" tIns="0" rIns="0" bIns="0" rtlCol="0" anchor="t">
            <a:spAutoFit/>
          </a:bodyPr>
          <a:lstStyle/>
          <a:p>
            <a:pPr algn="l">
              <a:lnSpc>
                <a:spcPts val="4479"/>
              </a:lnSpc>
            </a:pPr>
            <a:r>
              <a:rPr lang="en-US" sz="3199" b="1">
                <a:solidFill>
                  <a:srgbClr val="303642"/>
                </a:solidFill>
                <a:latin typeface="Poppins Bold"/>
                <a:ea typeface="Poppins Bold"/>
                <a:cs typeface="Poppins Bold"/>
                <a:sym typeface="Poppins Bold"/>
              </a:rPr>
              <a:t>OSCode</a:t>
            </a:r>
          </a:p>
        </p:txBody>
      </p:sp>
      <p:sp>
        <p:nvSpPr>
          <p:cNvPr id="8" name="TextBox 8"/>
          <p:cNvSpPr txBox="1"/>
          <p:nvPr/>
        </p:nvSpPr>
        <p:spPr>
          <a:xfrm>
            <a:off x="16311991" y="634375"/>
            <a:ext cx="1585874" cy="343062"/>
          </a:xfrm>
          <a:prstGeom prst="rect">
            <a:avLst/>
          </a:prstGeom>
        </p:spPr>
        <p:txBody>
          <a:bodyPr lIns="0" tIns="0" rIns="0" bIns="0" rtlCol="0" anchor="t">
            <a:spAutoFit/>
          </a:bodyPr>
          <a:lstStyle/>
          <a:p>
            <a:pPr algn="r">
              <a:lnSpc>
                <a:spcPts val="1958"/>
              </a:lnSpc>
            </a:pPr>
            <a:r>
              <a:rPr lang="en-US" sz="1398" dirty="0">
                <a:solidFill>
                  <a:srgbClr val="303642"/>
                </a:solidFill>
                <a:latin typeface="Poppins"/>
                <a:ea typeface="Poppins"/>
                <a:cs typeface="Poppins"/>
                <a:sym typeface="Poppins"/>
              </a:rPr>
              <a:t>by </a:t>
            </a:r>
            <a:r>
              <a:rPr lang="en-US" sz="1398" dirty="0" err="1">
                <a:solidFill>
                  <a:srgbClr val="303642"/>
                </a:solidFill>
                <a:latin typeface="Poppins"/>
                <a:ea typeface="Poppins"/>
                <a:cs typeface="Poppins"/>
                <a:sym typeface="Poppins"/>
              </a:rPr>
              <a:t>community</a:t>
            </a:r>
            <a:r>
              <a:rPr lang="en-US" sz="1398" b="1" dirty="0" err="1">
                <a:solidFill>
                  <a:srgbClr val="00AEEF"/>
                </a:solidFill>
                <a:latin typeface="Poppins Bold"/>
                <a:ea typeface="Poppins Bold"/>
                <a:cs typeface="Poppins Bold"/>
                <a:sym typeface="Poppins Bold"/>
              </a:rPr>
              <a:t>X</a:t>
            </a:r>
            <a:endParaRPr lang="en-US" sz="1398" b="1" dirty="0">
              <a:solidFill>
                <a:srgbClr val="00AEEF"/>
              </a:solidFill>
              <a:latin typeface="Poppins Bold"/>
              <a:ea typeface="Poppins Bold"/>
              <a:cs typeface="Poppins Bold"/>
              <a:sym typeface="Poppins Bold"/>
            </a:endParaRPr>
          </a:p>
        </p:txBody>
      </p:sp>
      <p:sp>
        <p:nvSpPr>
          <p:cNvPr id="9" name="TextBox 9"/>
          <p:cNvSpPr txBox="1"/>
          <p:nvPr/>
        </p:nvSpPr>
        <p:spPr>
          <a:xfrm>
            <a:off x="6781952" y="4494847"/>
            <a:ext cx="4724105" cy="1650901"/>
          </a:xfrm>
          <a:prstGeom prst="rect">
            <a:avLst/>
          </a:prstGeom>
        </p:spPr>
        <p:txBody>
          <a:bodyPr lIns="0" tIns="0" rIns="0" bIns="0" rtlCol="0" anchor="t">
            <a:spAutoFit/>
          </a:bodyPr>
          <a:lstStyle/>
          <a:p>
            <a:pPr algn="ctr">
              <a:lnSpc>
                <a:spcPts val="6715"/>
              </a:lnSpc>
            </a:pPr>
            <a:endParaRPr lang="en-US" sz="4800" dirty="0">
              <a:solidFill>
                <a:srgbClr val="000000"/>
              </a:solidFill>
              <a:latin typeface="Inter"/>
              <a:ea typeface="Inter"/>
              <a:cs typeface="Inter"/>
              <a:sym typeface="Inter"/>
            </a:endParaRPr>
          </a:p>
          <a:p>
            <a:pPr algn="ctr">
              <a:lnSpc>
                <a:spcPts val="6719"/>
              </a:lnSpc>
            </a:pPr>
            <a:endParaRPr lang="en-US" sz="4800" dirty="0">
              <a:solidFill>
                <a:srgbClr val="000000"/>
              </a:solidFill>
              <a:latin typeface="Inter"/>
              <a:ea typeface="Inter"/>
              <a:cs typeface="Inter"/>
              <a:sym typeface="Inter"/>
            </a:endParaRPr>
          </a:p>
        </p:txBody>
      </p:sp>
      <p:sp>
        <p:nvSpPr>
          <p:cNvPr id="10" name="TextBox 10"/>
          <p:cNvSpPr txBox="1"/>
          <p:nvPr/>
        </p:nvSpPr>
        <p:spPr>
          <a:xfrm>
            <a:off x="5858315" y="271943"/>
            <a:ext cx="5867400" cy="811569"/>
          </a:xfrm>
          <a:prstGeom prst="rect">
            <a:avLst/>
          </a:prstGeom>
        </p:spPr>
        <p:txBody>
          <a:bodyPr wrap="square" lIns="0" tIns="0" rIns="0" bIns="0" rtlCol="0" anchor="t">
            <a:spAutoFit/>
          </a:bodyPr>
          <a:lstStyle/>
          <a:p>
            <a:pPr algn="l">
              <a:lnSpc>
                <a:spcPts val="6719"/>
              </a:lnSpc>
            </a:pPr>
            <a:r>
              <a:rPr lang="en-US" sz="5400" b="1" dirty="0">
                <a:solidFill>
                  <a:schemeClr val="tx2"/>
                </a:solidFill>
                <a:latin typeface="Algerian" panose="04020705040A02060702" pitchFamily="82" charset="0"/>
                <a:ea typeface="Inter Bold"/>
                <a:cs typeface="Inter Bold"/>
                <a:sym typeface="Inter Bold"/>
              </a:rPr>
              <a:t>DECODE SIH 2026</a:t>
            </a:r>
          </a:p>
        </p:txBody>
      </p:sp>
      <p:sp>
        <p:nvSpPr>
          <p:cNvPr id="11" name="TextBox 11"/>
          <p:cNvSpPr txBox="1"/>
          <p:nvPr/>
        </p:nvSpPr>
        <p:spPr>
          <a:xfrm>
            <a:off x="415834" y="7665238"/>
            <a:ext cx="2493016" cy="400622"/>
          </a:xfrm>
          <a:prstGeom prst="rect">
            <a:avLst/>
          </a:prstGeom>
        </p:spPr>
        <p:txBody>
          <a:bodyPr wrap="square" lIns="0" tIns="0" rIns="0" bIns="0" rtlCol="0" anchor="t">
            <a:spAutoFit/>
          </a:bodyPr>
          <a:lstStyle/>
          <a:p>
            <a:pPr algn="l">
              <a:lnSpc>
                <a:spcPts val="3358"/>
              </a:lnSpc>
            </a:pPr>
            <a:r>
              <a:rPr lang="en-US" sz="2400" b="1" dirty="0">
                <a:solidFill>
                  <a:schemeClr val="accent2">
                    <a:lumMod val="75000"/>
                  </a:schemeClr>
                </a:solidFill>
                <a:latin typeface="Inter Bold"/>
                <a:ea typeface="Inter Bold"/>
                <a:cs typeface="Inter Bold"/>
                <a:sym typeface="Inter Bold"/>
              </a:rPr>
              <a:t>PRESENTED BY:</a:t>
            </a:r>
          </a:p>
        </p:txBody>
      </p:sp>
      <p:sp>
        <p:nvSpPr>
          <p:cNvPr id="12" name="TextBox 12"/>
          <p:cNvSpPr txBox="1"/>
          <p:nvPr/>
        </p:nvSpPr>
        <p:spPr>
          <a:xfrm>
            <a:off x="1144632" y="8349799"/>
            <a:ext cx="3274967" cy="836639"/>
          </a:xfrm>
          <a:prstGeom prst="rect">
            <a:avLst/>
          </a:prstGeom>
        </p:spPr>
        <p:txBody>
          <a:bodyPr wrap="square" lIns="0" tIns="0" rIns="0" bIns="0" rtlCol="0" anchor="t">
            <a:spAutoFit/>
          </a:bodyPr>
          <a:lstStyle/>
          <a:p>
            <a:pPr algn="l">
              <a:lnSpc>
                <a:spcPts val="3357"/>
              </a:lnSpc>
            </a:pPr>
            <a:r>
              <a:rPr lang="en-US" sz="2400" dirty="0">
                <a:solidFill>
                  <a:schemeClr val="accent3">
                    <a:lumMod val="50000"/>
                  </a:schemeClr>
                </a:solidFill>
                <a:latin typeface="Inter Bold"/>
                <a:ea typeface="Inter Bold"/>
                <a:cs typeface="Inter Bold"/>
                <a:sym typeface="Inter Bold"/>
              </a:rPr>
              <a:t>CODE </a:t>
            </a:r>
            <a:r>
              <a:rPr lang="en-US" sz="2400" b="1" dirty="0">
                <a:solidFill>
                  <a:schemeClr val="accent3">
                    <a:lumMod val="50000"/>
                  </a:schemeClr>
                </a:solidFill>
                <a:latin typeface="Inter Bold"/>
                <a:ea typeface="Inter Bold"/>
                <a:cs typeface="Inter Bold"/>
                <a:sym typeface="Inter Bold"/>
              </a:rPr>
              <a:t>ALCHEMIST</a:t>
            </a:r>
            <a:r>
              <a:rPr lang="en-US" sz="2400" b="1" dirty="0">
                <a:solidFill>
                  <a:schemeClr val="accent3">
                    <a:lumMod val="50000"/>
                  </a:schemeClr>
                </a:solidFill>
                <a:latin typeface="Inter"/>
                <a:ea typeface="Inter"/>
                <a:cs typeface="Inter"/>
                <a:sym typeface="Inter"/>
              </a:rPr>
              <a:t>S</a:t>
            </a:r>
          </a:p>
          <a:p>
            <a:pPr algn="l">
              <a:lnSpc>
                <a:spcPts val="3358"/>
              </a:lnSpc>
            </a:pPr>
            <a:endParaRPr lang="en-US" sz="2400" dirty="0">
              <a:solidFill>
                <a:srgbClr val="000000"/>
              </a:solidFill>
              <a:latin typeface="Inter"/>
              <a:ea typeface="Inter"/>
              <a:cs typeface="Inter"/>
              <a:sym typeface="Inter"/>
            </a:endParaRPr>
          </a:p>
        </p:txBody>
      </p:sp>
      <p:sp>
        <p:nvSpPr>
          <p:cNvPr id="14" name="TextBox 13">
            <a:extLst>
              <a:ext uri="{FF2B5EF4-FFF2-40B4-BE49-F238E27FC236}">
                <a16:creationId xmlns:a16="http://schemas.microsoft.com/office/drawing/2014/main" id="{5C87C76F-8E5C-4E74-0188-B4D93E14BE8A}"/>
              </a:ext>
            </a:extLst>
          </p:cNvPr>
          <p:cNvSpPr txBox="1"/>
          <p:nvPr/>
        </p:nvSpPr>
        <p:spPr>
          <a:xfrm>
            <a:off x="381000" y="1964191"/>
            <a:ext cx="10535194" cy="584775"/>
          </a:xfrm>
          <a:prstGeom prst="rect">
            <a:avLst/>
          </a:prstGeom>
          <a:noFill/>
        </p:spPr>
        <p:txBody>
          <a:bodyPr wrap="square">
            <a:spAutoFit/>
          </a:bodyPr>
          <a:lstStyle/>
          <a:p>
            <a:r>
              <a:rPr lang="en-IN" sz="3200" b="1" dirty="0">
                <a:latin typeface="+mj-lt"/>
              </a:rPr>
              <a:t>🏆</a:t>
            </a:r>
            <a:r>
              <a:rPr lang="en-IN" sz="3200" b="1" dirty="0">
                <a:solidFill>
                  <a:schemeClr val="accent3">
                    <a:lumMod val="50000"/>
                  </a:schemeClr>
                </a:solidFill>
                <a:latin typeface="+mj-lt"/>
              </a:rPr>
              <a:t>Bharat Shakti</a:t>
            </a:r>
          </a:p>
        </p:txBody>
      </p:sp>
      <p:sp>
        <p:nvSpPr>
          <p:cNvPr id="16" name="TextBox 15">
            <a:extLst>
              <a:ext uri="{FF2B5EF4-FFF2-40B4-BE49-F238E27FC236}">
                <a16:creationId xmlns:a16="http://schemas.microsoft.com/office/drawing/2014/main" id="{48DEE990-D928-6A32-8B46-DE8E8C18D72F}"/>
              </a:ext>
            </a:extLst>
          </p:cNvPr>
          <p:cNvSpPr txBox="1"/>
          <p:nvPr/>
        </p:nvSpPr>
        <p:spPr>
          <a:xfrm>
            <a:off x="885921" y="3139208"/>
            <a:ext cx="10535194" cy="584775"/>
          </a:xfrm>
          <a:prstGeom prst="rect">
            <a:avLst/>
          </a:prstGeom>
          <a:noFill/>
        </p:spPr>
        <p:txBody>
          <a:bodyPr wrap="square">
            <a:spAutoFit/>
          </a:bodyPr>
          <a:lstStyle/>
          <a:p>
            <a:r>
              <a:rPr lang="en-IN" sz="3200" dirty="0">
                <a:solidFill>
                  <a:schemeClr val="accent6">
                    <a:lumMod val="50000"/>
                  </a:schemeClr>
                </a:solidFill>
                <a:latin typeface="Arial Rounded MT Bold" panose="020F0704030504030204" pitchFamily="34" charset="0"/>
              </a:rPr>
              <a:t>PROBLEM STATEMENT 1 </a:t>
            </a:r>
          </a:p>
        </p:txBody>
      </p:sp>
      <p:sp>
        <p:nvSpPr>
          <p:cNvPr id="18" name="TextBox 17">
            <a:extLst>
              <a:ext uri="{FF2B5EF4-FFF2-40B4-BE49-F238E27FC236}">
                <a16:creationId xmlns:a16="http://schemas.microsoft.com/office/drawing/2014/main" id="{B19E5666-A9A2-3D4A-D70A-21D598A1FA6D}"/>
              </a:ext>
            </a:extLst>
          </p:cNvPr>
          <p:cNvSpPr txBox="1"/>
          <p:nvPr/>
        </p:nvSpPr>
        <p:spPr>
          <a:xfrm>
            <a:off x="1374217" y="3834923"/>
            <a:ext cx="8989968" cy="2369880"/>
          </a:xfrm>
          <a:prstGeom prst="rect">
            <a:avLst/>
          </a:prstGeom>
          <a:noFill/>
        </p:spPr>
        <p:txBody>
          <a:bodyPr wrap="square">
            <a:spAutoFit/>
          </a:bodyPr>
          <a:lstStyle/>
          <a:p>
            <a:r>
              <a:rPr lang="en-IN" sz="2800" b="1" dirty="0">
                <a:solidFill>
                  <a:schemeClr val="accent1">
                    <a:lumMod val="50000"/>
                  </a:schemeClr>
                </a:solidFill>
              </a:rPr>
              <a:t>AI Rural Health Assistant — Multilingual </a:t>
            </a:r>
          </a:p>
          <a:p>
            <a:r>
              <a:rPr lang="en-IN" sz="2800" b="1" dirty="0">
                <a:solidFill>
                  <a:schemeClr val="accent1">
                    <a:lumMod val="50000"/>
                  </a:schemeClr>
                </a:solidFill>
              </a:rPr>
              <a:t>Healthcare Access &amp; Government Scheme Guidance</a:t>
            </a:r>
          </a:p>
          <a:p>
            <a:endParaRPr lang="en-IN" sz="3200" b="1" dirty="0">
              <a:solidFill>
                <a:schemeClr val="accent4">
                  <a:lumMod val="50000"/>
                </a:schemeClr>
              </a:solidFill>
            </a:endParaRPr>
          </a:p>
          <a:p>
            <a:endParaRPr lang="en-IN" sz="3200" dirty="0">
              <a:solidFill>
                <a:schemeClr val="accent4">
                  <a:lumMod val="50000"/>
                </a:schemeClr>
              </a:solidFill>
            </a:endParaRPr>
          </a:p>
        </p:txBody>
      </p:sp>
      <p:sp>
        <p:nvSpPr>
          <p:cNvPr id="20" name="TextBox 19">
            <a:extLst>
              <a:ext uri="{FF2B5EF4-FFF2-40B4-BE49-F238E27FC236}">
                <a16:creationId xmlns:a16="http://schemas.microsoft.com/office/drawing/2014/main" id="{4F61418B-B5E7-8959-A0FF-BD0F9C2B785A}"/>
              </a:ext>
            </a:extLst>
          </p:cNvPr>
          <p:cNvSpPr txBox="1"/>
          <p:nvPr/>
        </p:nvSpPr>
        <p:spPr>
          <a:xfrm>
            <a:off x="953446" y="5668352"/>
            <a:ext cx="10535194" cy="584775"/>
          </a:xfrm>
          <a:prstGeom prst="rect">
            <a:avLst/>
          </a:prstGeom>
          <a:noFill/>
        </p:spPr>
        <p:txBody>
          <a:bodyPr wrap="square">
            <a:spAutoFit/>
          </a:bodyPr>
          <a:lstStyle/>
          <a:p>
            <a:r>
              <a:rPr lang="en-IN" sz="3200" b="1" dirty="0">
                <a:solidFill>
                  <a:srgbClr val="662924"/>
                </a:solidFill>
              </a:rPr>
              <a:t>THEME</a:t>
            </a:r>
            <a:r>
              <a:rPr lang="en-IN" sz="3200" b="1" dirty="0">
                <a:solidFill>
                  <a:schemeClr val="accent2">
                    <a:lumMod val="75000"/>
                  </a:schemeClr>
                </a:solidFill>
              </a:rPr>
              <a:t> :</a:t>
            </a:r>
            <a:r>
              <a:rPr lang="en-IN" sz="3200" dirty="0">
                <a:solidFill>
                  <a:schemeClr val="accent2">
                    <a:lumMod val="75000"/>
                  </a:schemeClr>
                </a:solidFill>
              </a:rPr>
              <a:t> </a:t>
            </a:r>
            <a:r>
              <a:rPr lang="en-IN" sz="3200" b="1" dirty="0">
                <a:solidFill>
                  <a:schemeClr val="accent1">
                    <a:lumMod val="50000"/>
                  </a:schemeClr>
                </a:solidFill>
              </a:rPr>
              <a:t>HEALTH TECH</a:t>
            </a:r>
          </a:p>
        </p:txBody>
      </p:sp>
      <p:pic>
        <p:nvPicPr>
          <p:cNvPr id="24" name="Picture 23">
            <a:extLst>
              <a:ext uri="{FF2B5EF4-FFF2-40B4-BE49-F238E27FC236}">
                <a16:creationId xmlns:a16="http://schemas.microsoft.com/office/drawing/2014/main" id="{260B60E6-A219-3707-E3B5-C543CC60003C}"/>
              </a:ext>
            </a:extLst>
          </p:cNvPr>
          <p:cNvPicPr>
            <a:picLocks noChangeAspect="1"/>
          </p:cNvPicPr>
          <p:nvPr/>
        </p:nvPicPr>
        <p:blipFill>
          <a:blip r:embed="rId5">
            <a:alphaModFix amt="56000"/>
            <a:extLst>
              <a:ext uri="{28A0092B-C50C-407E-A947-70E740481C1C}">
                <a14:useLocalDpi xmlns:a14="http://schemas.microsoft.com/office/drawing/2010/main" val="0"/>
              </a:ext>
            </a:extLst>
          </a:blip>
          <a:stretch>
            <a:fillRect/>
          </a:stretch>
        </p:blipFill>
        <p:spPr>
          <a:xfrm>
            <a:off x="8776251" y="1001087"/>
            <a:ext cx="9510051" cy="9095758"/>
          </a:xfrm>
          <a:prstGeom prst="rect">
            <a:avLst/>
          </a:prstGeom>
        </p:spPr>
      </p:pic>
      <p:sp>
        <p:nvSpPr>
          <p:cNvPr id="22" name="TextBox 21">
            <a:extLst>
              <a:ext uri="{FF2B5EF4-FFF2-40B4-BE49-F238E27FC236}">
                <a16:creationId xmlns:a16="http://schemas.microsoft.com/office/drawing/2014/main" id="{F013B728-F73A-1B4F-CA9F-0262A3C6E65E}"/>
              </a:ext>
            </a:extLst>
          </p:cNvPr>
          <p:cNvSpPr txBox="1"/>
          <p:nvPr/>
        </p:nvSpPr>
        <p:spPr>
          <a:xfrm>
            <a:off x="4038600" y="9394615"/>
            <a:ext cx="10535194" cy="461665"/>
          </a:xfrm>
          <a:prstGeom prst="rect">
            <a:avLst/>
          </a:prstGeom>
          <a:noFill/>
        </p:spPr>
        <p:txBody>
          <a:bodyPr wrap="square">
            <a:spAutoFit/>
          </a:bodyPr>
          <a:lstStyle/>
          <a:p>
            <a:r>
              <a:rPr lang="en-IN" sz="2400" b="1" dirty="0">
                <a:solidFill>
                  <a:schemeClr val="accent2">
                    <a:lumMod val="75000"/>
                  </a:schemeClr>
                </a:solidFill>
                <a:highlight>
                  <a:srgbClr val="FFFF00"/>
                </a:highlight>
              </a:rPr>
              <a:t>“</a:t>
            </a:r>
            <a:r>
              <a:rPr lang="en-IN" sz="2400" b="1" dirty="0">
                <a:solidFill>
                  <a:schemeClr val="bg2">
                    <a:lumMod val="25000"/>
                  </a:schemeClr>
                </a:solidFill>
                <a:highlight>
                  <a:srgbClr val="FFFF00"/>
                </a:highlight>
              </a:rPr>
              <a:t>ONE VOICE COMMAND, INSTANT HEALTHCARE GUIDANCE.”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2"/>
                </a:ext>
              </a:extLst>
            </a:blip>
            <a:stretch>
              <a:fillRect t="-626" b="-626"/>
            </a:stretch>
          </a:blipFill>
        </p:spPr>
      </p:sp>
      <p:sp>
        <p:nvSpPr>
          <p:cNvPr id="7" name="TextBox 7"/>
          <p:cNvSpPr txBox="1"/>
          <p:nvPr/>
        </p:nvSpPr>
        <p:spPr>
          <a:xfrm>
            <a:off x="16229667" y="154953"/>
            <a:ext cx="1668199" cy="547650"/>
          </a:xfrm>
          <a:prstGeom prst="rect">
            <a:avLst/>
          </a:prstGeom>
        </p:spPr>
        <p:txBody>
          <a:bodyPr lIns="0" tIns="0" rIns="0" bIns="0" rtlCol="0" anchor="t">
            <a:spAutoFit/>
          </a:bodyPr>
          <a:lstStyle/>
          <a:p>
            <a:pPr algn="l">
              <a:lnSpc>
                <a:spcPts val="4479"/>
              </a:lnSpc>
            </a:pPr>
            <a:endParaRPr lang="en-US" sz="3199" b="1" dirty="0">
              <a:solidFill>
                <a:srgbClr val="303642"/>
              </a:solidFill>
              <a:latin typeface="Poppins Bold"/>
              <a:ea typeface="Poppins Bold"/>
              <a:cs typeface="Poppins Bold"/>
              <a:sym typeface="Poppins Bold"/>
            </a:endParaRPr>
          </a:p>
        </p:txBody>
      </p:sp>
      <p:sp>
        <p:nvSpPr>
          <p:cNvPr id="14" name="TextBox 13">
            <a:extLst>
              <a:ext uri="{FF2B5EF4-FFF2-40B4-BE49-F238E27FC236}">
                <a16:creationId xmlns:a16="http://schemas.microsoft.com/office/drawing/2014/main" id="{E029208A-56E8-A1CD-2C38-E0F43B66C760}"/>
              </a:ext>
            </a:extLst>
          </p:cNvPr>
          <p:cNvSpPr txBox="1"/>
          <p:nvPr/>
        </p:nvSpPr>
        <p:spPr>
          <a:xfrm>
            <a:off x="1447800" y="1462028"/>
            <a:ext cx="9696450" cy="923330"/>
          </a:xfrm>
          <a:prstGeom prst="rect">
            <a:avLst/>
          </a:prstGeom>
          <a:noFill/>
        </p:spPr>
        <p:txBody>
          <a:bodyPr wrap="square">
            <a:spAutoFit/>
          </a:bodyPr>
          <a:lstStyle/>
          <a:p>
            <a:endParaRPr lang="en-IN" dirty="0">
              <a:effectLst/>
              <a:latin typeface="Google Sans Text"/>
            </a:endParaRPr>
          </a:p>
          <a:p>
            <a:endParaRPr lang="en-IN" dirty="0">
              <a:latin typeface="Google Sans Text"/>
            </a:endParaRPr>
          </a:p>
          <a:p>
            <a:endParaRPr lang="en-IN" dirty="0">
              <a:effectLst/>
              <a:latin typeface="Google Sans Text"/>
            </a:endParaRPr>
          </a:p>
        </p:txBody>
      </p:sp>
      <p:pic>
        <p:nvPicPr>
          <p:cNvPr id="35" name="Picture 34">
            <a:extLst>
              <a:ext uri="{FF2B5EF4-FFF2-40B4-BE49-F238E27FC236}">
                <a16:creationId xmlns:a16="http://schemas.microsoft.com/office/drawing/2014/main" id="{EB775A84-3263-308E-F987-4961EC748E54}"/>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6480566" y="0"/>
            <a:ext cx="11807434" cy="10132047"/>
          </a:xfrm>
          <a:prstGeom prst="rect">
            <a:avLst/>
          </a:prstGeom>
        </p:spPr>
      </p:pic>
      <p:sp>
        <p:nvSpPr>
          <p:cNvPr id="16" name="TextBox 15">
            <a:extLst>
              <a:ext uri="{FF2B5EF4-FFF2-40B4-BE49-F238E27FC236}">
                <a16:creationId xmlns:a16="http://schemas.microsoft.com/office/drawing/2014/main" id="{EEEA9FF5-6FB5-99B8-D666-34FA3FF9C1AB}"/>
              </a:ext>
            </a:extLst>
          </p:cNvPr>
          <p:cNvSpPr txBox="1"/>
          <p:nvPr/>
        </p:nvSpPr>
        <p:spPr>
          <a:xfrm>
            <a:off x="314601" y="-26905"/>
            <a:ext cx="9848850" cy="830997"/>
          </a:xfrm>
          <a:prstGeom prst="rect">
            <a:avLst/>
          </a:prstGeom>
          <a:noFill/>
        </p:spPr>
        <p:txBody>
          <a:bodyPr wrap="square">
            <a:spAutoFit/>
          </a:bodyPr>
          <a:lstStyle/>
          <a:p>
            <a:r>
              <a:rPr lang="en-IN" sz="4800" dirty="0">
                <a:solidFill>
                  <a:schemeClr val="accent3">
                    <a:lumMod val="50000"/>
                  </a:schemeClr>
                </a:solidFill>
                <a:effectLst/>
                <a:latin typeface="Algerian" panose="04020705040A02060702" pitchFamily="82" charset="0"/>
              </a:rPr>
              <a:t>REAL WORLD PROBLEM</a:t>
            </a:r>
            <a:endParaRPr lang="en-IN" sz="4800" dirty="0">
              <a:solidFill>
                <a:schemeClr val="accent3">
                  <a:lumMod val="50000"/>
                </a:schemeClr>
              </a:solidFill>
              <a:latin typeface="Algerian" panose="04020705040A02060702" pitchFamily="82" charset="0"/>
            </a:endParaRPr>
          </a:p>
        </p:txBody>
      </p:sp>
      <p:graphicFrame>
        <p:nvGraphicFramePr>
          <p:cNvPr id="20" name="Diagram 19">
            <a:extLst>
              <a:ext uri="{FF2B5EF4-FFF2-40B4-BE49-F238E27FC236}">
                <a16:creationId xmlns:a16="http://schemas.microsoft.com/office/drawing/2014/main" id="{87BBFD97-7A91-A8C2-23E4-8CE5062CE585}"/>
              </a:ext>
            </a:extLst>
          </p:cNvPr>
          <p:cNvGraphicFramePr/>
          <p:nvPr>
            <p:extLst>
              <p:ext uri="{D42A27DB-BD31-4B8C-83A1-F6EECF244321}">
                <p14:modId xmlns:p14="http://schemas.microsoft.com/office/powerpoint/2010/main" val="1317908540"/>
              </p:ext>
            </p:extLst>
          </p:nvPr>
        </p:nvGraphicFramePr>
        <p:xfrm>
          <a:off x="814251" y="1181101"/>
          <a:ext cx="11604625" cy="82604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7" name="Table 26">
            <a:extLst>
              <a:ext uri="{FF2B5EF4-FFF2-40B4-BE49-F238E27FC236}">
                <a16:creationId xmlns:a16="http://schemas.microsoft.com/office/drawing/2014/main" id="{AAA99D48-B3DC-E92D-76BD-496E2AF6CDCC}"/>
              </a:ext>
            </a:extLst>
          </p:cNvPr>
          <p:cNvGraphicFramePr>
            <a:graphicFrameLocks noGrp="1"/>
          </p:cNvGraphicFramePr>
          <p:nvPr>
            <p:extLst>
              <p:ext uri="{D42A27DB-BD31-4B8C-83A1-F6EECF244321}">
                <p14:modId xmlns:p14="http://schemas.microsoft.com/office/powerpoint/2010/main" val="2278549711"/>
              </p:ext>
            </p:extLst>
          </p:nvPr>
        </p:nvGraphicFramePr>
        <p:xfrm>
          <a:off x="14490700" y="7343127"/>
          <a:ext cx="3810000" cy="2788920"/>
        </p:xfrm>
        <a:graphic>
          <a:graphicData uri="http://schemas.openxmlformats.org/drawingml/2006/table">
            <a:tbl>
              <a:tblPr firstRow="1" bandRow="1">
                <a:tableStyleId>{7DF18680-E054-41AD-8BC1-D1AEF772440D}</a:tableStyleId>
              </a:tblPr>
              <a:tblGrid>
                <a:gridCol w="3810000">
                  <a:extLst>
                    <a:ext uri="{9D8B030D-6E8A-4147-A177-3AD203B41FA5}">
                      <a16:colId xmlns:a16="http://schemas.microsoft.com/office/drawing/2014/main" val="503387002"/>
                    </a:ext>
                  </a:extLst>
                </a:gridCol>
              </a:tblGrid>
              <a:tr h="2547594">
                <a:tc>
                  <a:txBody>
                    <a:bodyPr/>
                    <a:lstStyle/>
                    <a:p>
                      <a:r>
                        <a:rPr lang="en-IN" dirty="0">
                          <a:solidFill>
                            <a:srgbClr val="662924"/>
                          </a:solidFill>
                        </a:rPr>
                        <a:t>TEAM MEMBERS</a:t>
                      </a:r>
                    </a:p>
                    <a:p>
                      <a:endParaRPr lang="en-IN" dirty="0"/>
                    </a:p>
                    <a:p>
                      <a:r>
                        <a:rPr lang="en-IN" sz="1600" dirty="0">
                          <a:solidFill>
                            <a:schemeClr val="accent1">
                              <a:lumMod val="50000"/>
                            </a:schemeClr>
                          </a:solidFill>
                        </a:rPr>
                        <a:t>KAMALESHWARAN B (TEAM LEAD)</a:t>
                      </a:r>
                    </a:p>
                    <a:p>
                      <a:r>
                        <a:rPr lang="en-IN" sz="1600" dirty="0">
                          <a:solidFill>
                            <a:schemeClr val="accent1">
                              <a:lumMod val="50000"/>
                            </a:schemeClr>
                          </a:solidFill>
                        </a:rPr>
                        <a:t>VISHNUVARDHAN B</a:t>
                      </a:r>
                    </a:p>
                    <a:p>
                      <a:r>
                        <a:rPr lang="en-IN" sz="1600" dirty="0">
                          <a:solidFill>
                            <a:schemeClr val="accent1">
                              <a:lumMod val="50000"/>
                            </a:schemeClr>
                          </a:solidFill>
                        </a:rPr>
                        <a:t>KEVIN CRIS F</a:t>
                      </a:r>
                    </a:p>
                    <a:p>
                      <a:r>
                        <a:rPr lang="en-IN" sz="1600" dirty="0">
                          <a:solidFill>
                            <a:schemeClr val="accent1">
                              <a:lumMod val="50000"/>
                            </a:schemeClr>
                          </a:solidFill>
                        </a:rPr>
                        <a:t>JOHN EZRA P</a:t>
                      </a:r>
                    </a:p>
                    <a:p>
                      <a:r>
                        <a:rPr lang="en-IN" sz="1600" dirty="0">
                          <a:solidFill>
                            <a:schemeClr val="accent1">
                              <a:lumMod val="50000"/>
                            </a:schemeClr>
                          </a:solidFill>
                        </a:rPr>
                        <a:t>SRIHARINI D </a:t>
                      </a:r>
                    </a:p>
                    <a:p>
                      <a:r>
                        <a:rPr lang="en-IN" sz="1600" dirty="0">
                          <a:solidFill>
                            <a:schemeClr val="accent1">
                              <a:lumMod val="50000"/>
                            </a:schemeClr>
                          </a:solidFill>
                        </a:rPr>
                        <a:t>POOJA SRI AB</a:t>
                      </a:r>
                    </a:p>
                    <a:p>
                      <a:endParaRPr lang="en-IN" dirty="0"/>
                    </a:p>
                  </a:txBody>
                  <a:tcPr>
                    <a:solidFill>
                      <a:schemeClr val="accent3">
                        <a:lumMod val="40000"/>
                        <a:lumOff val="60000"/>
                      </a:schemeClr>
                    </a:solidFill>
                  </a:tcPr>
                </a:tc>
                <a:extLst>
                  <a:ext uri="{0D108BD9-81ED-4DB2-BD59-A6C34878D82A}">
                    <a16:rowId xmlns:a16="http://schemas.microsoft.com/office/drawing/2014/main" val="2441386315"/>
                  </a:ext>
                </a:extLst>
              </a:tr>
            </a:tbl>
          </a:graphicData>
        </a:graphic>
      </p:graphicFrame>
      <p:sp>
        <p:nvSpPr>
          <p:cNvPr id="29" name="TextBox 28">
            <a:extLst>
              <a:ext uri="{FF2B5EF4-FFF2-40B4-BE49-F238E27FC236}">
                <a16:creationId xmlns:a16="http://schemas.microsoft.com/office/drawing/2014/main" id="{CC385638-6AF3-07E3-7929-A7E886290ECF}"/>
              </a:ext>
            </a:extLst>
          </p:cNvPr>
          <p:cNvSpPr txBox="1"/>
          <p:nvPr/>
        </p:nvSpPr>
        <p:spPr>
          <a:xfrm>
            <a:off x="3667851" y="9633851"/>
            <a:ext cx="9810750" cy="369332"/>
          </a:xfrm>
          <a:prstGeom prst="rect">
            <a:avLst/>
          </a:prstGeom>
          <a:noFill/>
        </p:spPr>
        <p:txBody>
          <a:bodyPr wrap="square">
            <a:spAutoFit/>
          </a:bodyPr>
          <a:lstStyle/>
          <a:p>
            <a:r>
              <a:rPr lang="en-IN" b="1" dirty="0">
                <a:solidFill>
                  <a:srgbClr val="662924"/>
                </a:solidFill>
                <a:highlight>
                  <a:srgbClr val="FFFF00"/>
                </a:highlight>
              </a:rPr>
              <a:t>"FROM RURAL SYMPTOM TO RIGHT SOLUTION IN YOUR MOTHER TONGUE."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72400" y="154953"/>
            <a:ext cx="10781919" cy="10781919"/>
            <a:chOff x="0" y="0"/>
            <a:chExt cx="14375892" cy="14375892"/>
          </a:xfrm>
        </p:grpSpPr>
        <p:sp>
          <p:nvSpPr>
            <p:cNvPr id="3" name="Freeform 3"/>
            <p:cNvSpPr/>
            <p:nvPr/>
          </p:nvSpPr>
          <p:spPr>
            <a:xfrm>
              <a:off x="0" y="0"/>
              <a:ext cx="14375892" cy="14375892"/>
            </a:xfrm>
            <a:custGeom>
              <a:avLst/>
              <a:gdLst/>
              <a:ahLst/>
              <a:cxnLst/>
              <a:rect l="l" t="t" r="r" b="b"/>
              <a:pathLst>
                <a:path w="14375892" h="14375892">
                  <a:moveTo>
                    <a:pt x="0" y="0"/>
                  </a:moveTo>
                  <a:lnTo>
                    <a:pt x="14375892" y="0"/>
                  </a:lnTo>
                  <a:lnTo>
                    <a:pt x="14375892" y="14375892"/>
                  </a:lnTo>
                  <a:lnTo>
                    <a:pt x="0" y="14375892"/>
                  </a:lnTo>
                  <a:lnTo>
                    <a:pt x="0" y="0"/>
                  </a:lnTo>
                  <a:close/>
                </a:path>
              </a:pathLst>
            </a:custGeom>
            <a:blipFill>
              <a:blip r:embed="rId2">
                <a:alphaModFix amt="7999"/>
              </a:blip>
              <a:stretch>
                <a:fillRect/>
              </a:stretch>
            </a:blipFill>
          </p:spPr>
        </p:sp>
      </p:grpSp>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3"/>
                </a:ext>
              </a:extLst>
            </a:blip>
            <a:stretch>
              <a:fillRect t="-626" b="-626"/>
            </a:stretch>
          </a:blipFill>
        </p:spPr>
      </p:sp>
      <p:grpSp>
        <p:nvGrpSpPr>
          <p:cNvPr id="5" name="Group 5"/>
          <p:cNvGrpSpPr/>
          <p:nvPr/>
        </p:nvGrpSpPr>
        <p:grpSpPr>
          <a:xfrm>
            <a:off x="15501499" y="325564"/>
            <a:ext cx="610934" cy="610934"/>
            <a:chOff x="0" y="0"/>
            <a:chExt cx="814578" cy="814578"/>
          </a:xfrm>
        </p:grpSpPr>
        <p:sp>
          <p:nvSpPr>
            <p:cNvPr id="6" name="Freeform 6"/>
            <p:cNvSpPr/>
            <p:nvPr/>
          </p:nvSpPr>
          <p:spPr>
            <a:xfrm>
              <a:off x="0" y="0"/>
              <a:ext cx="814578" cy="814578"/>
            </a:xfrm>
            <a:custGeom>
              <a:avLst/>
              <a:gdLst/>
              <a:ahLst/>
              <a:cxnLst/>
              <a:rect l="l" t="t" r="r" b="b"/>
              <a:pathLst>
                <a:path w="814578" h="814578">
                  <a:moveTo>
                    <a:pt x="814578" y="407289"/>
                  </a:moveTo>
                  <a:cubicBezTo>
                    <a:pt x="814578" y="632206"/>
                    <a:pt x="632206" y="814578"/>
                    <a:pt x="407289" y="814578"/>
                  </a:cubicBezTo>
                  <a:cubicBezTo>
                    <a:pt x="182372" y="814578"/>
                    <a:pt x="0" y="632206"/>
                    <a:pt x="0" y="407289"/>
                  </a:cubicBezTo>
                  <a:cubicBezTo>
                    <a:pt x="0" y="182372"/>
                    <a:pt x="182372" y="0"/>
                    <a:pt x="407289" y="0"/>
                  </a:cubicBezTo>
                  <a:cubicBezTo>
                    <a:pt x="632206" y="0"/>
                    <a:pt x="814578" y="182372"/>
                    <a:pt x="814578" y="407289"/>
                  </a:cubicBezTo>
                  <a:close/>
                </a:path>
              </a:pathLst>
            </a:custGeom>
            <a:blipFill>
              <a:blip r:embed="rId4"/>
              <a:stretch>
                <a:fillRect/>
              </a:stretch>
            </a:blipFill>
          </p:spPr>
        </p:sp>
      </p:grpSp>
      <p:sp>
        <p:nvSpPr>
          <p:cNvPr id="7" name="TextBox 7"/>
          <p:cNvSpPr txBox="1"/>
          <p:nvPr/>
        </p:nvSpPr>
        <p:spPr>
          <a:xfrm>
            <a:off x="16229667" y="154953"/>
            <a:ext cx="1668199" cy="716442"/>
          </a:xfrm>
          <a:prstGeom prst="rect">
            <a:avLst/>
          </a:prstGeom>
        </p:spPr>
        <p:txBody>
          <a:bodyPr lIns="0" tIns="0" rIns="0" bIns="0" rtlCol="0" anchor="t">
            <a:spAutoFit/>
          </a:bodyPr>
          <a:lstStyle/>
          <a:p>
            <a:pPr algn="l">
              <a:lnSpc>
                <a:spcPts val="4479"/>
              </a:lnSpc>
            </a:pPr>
            <a:r>
              <a:rPr lang="en-US" sz="3199" b="1">
                <a:solidFill>
                  <a:srgbClr val="303642"/>
                </a:solidFill>
                <a:latin typeface="Poppins Bold"/>
                <a:ea typeface="Poppins Bold"/>
                <a:cs typeface="Poppins Bold"/>
                <a:sym typeface="Poppins Bold"/>
              </a:rPr>
              <a:t>OSCode</a:t>
            </a:r>
          </a:p>
        </p:txBody>
      </p:sp>
      <p:sp>
        <p:nvSpPr>
          <p:cNvPr id="8" name="TextBox 8"/>
          <p:cNvSpPr txBox="1"/>
          <p:nvPr/>
        </p:nvSpPr>
        <p:spPr>
          <a:xfrm>
            <a:off x="16311991" y="634375"/>
            <a:ext cx="1585874" cy="343062"/>
          </a:xfrm>
          <a:prstGeom prst="rect">
            <a:avLst/>
          </a:prstGeom>
        </p:spPr>
        <p:txBody>
          <a:bodyPr lIns="0" tIns="0" rIns="0" bIns="0" rtlCol="0" anchor="t">
            <a:spAutoFit/>
          </a:bodyPr>
          <a:lstStyle/>
          <a:p>
            <a:pPr algn="r">
              <a:lnSpc>
                <a:spcPts val="1958"/>
              </a:lnSpc>
            </a:pPr>
            <a:r>
              <a:rPr lang="en-US" sz="1398">
                <a:solidFill>
                  <a:srgbClr val="303642"/>
                </a:solidFill>
                <a:latin typeface="Poppins"/>
                <a:ea typeface="Poppins"/>
                <a:cs typeface="Poppins"/>
                <a:sym typeface="Poppins"/>
              </a:rPr>
              <a:t>by community</a:t>
            </a:r>
            <a:r>
              <a:rPr lang="en-US" sz="1398" b="1">
                <a:solidFill>
                  <a:srgbClr val="00AEEF"/>
                </a:solidFill>
                <a:latin typeface="Poppins Bold"/>
                <a:ea typeface="Poppins Bold"/>
                <a:cs typeface="Poppins Bold"/>
                <a:sym typeface="Poppins Bold"/>
              </a:rPr>
              <a:t>X</a:t>
            </a:r>
          </a:p>
        </p:txBody>
      </p:sp>
      <p:pic>
        <p:nvPicPr>
          <p:cNvPr id="23" name="Picture 22">
            <a:extLst>
              <a:ext uri="{FF2B5EF4-FFF2-40B4-BE49-F238E27FC236}">
                <a16:creationId xmlns:a16="http://schemas.microsoft.com/office/drawing/2014/main" id="{6BDC8692-A4E8-C599-16D7-D9208B637B90}"/>
              </a:ext>
            </a:extLst>
          </p:cNvPr>
          <p:cNvPicPr>
            <a:picLocks noChangeAspect="1"/>
          </p:cNvPicPr>
          <p:nvPr/>
        </p:nvPicPr>
        <p:blipFill rotWithShape="1">
          <a:blip r:embed="rId5">
            <a:alphaModFix amt="70000"/>
            <a:extLst>
              <a:ext uri="{28A0092B-C50C-407E-A947-70E740481C1C}">
                <a14:useLocalDpi xmlns:a14="http://schemas.microsoft.com/office/drawing/2010/main" val="0"/>
              </a:ext>
            </a:extLst>
          </a:blip>
          <a:srcRect l="52222"/>
          <a:stretch>
            <a:fillRect/>
          </a:stretch>
        </p:blipFill>
        <p:spPr>
          <a:xfrm>
            <a:off x="8915400" y="0"/>
            <a:ext cx="9372600" cy="10287000"/>
          </a:xfrm>
          <a:prstGeom prst="rect">
            <a:avLst/>
          </a:prstGeom>
        </p:spPr>
      </p:pic>
      <p:sp>
        <p:nvSpPr>
          <p:cNvPr id="9" name="TextBox 9"/>
          <p:cNvSpPr txBox="1"/>
          <p:nvPr/>
        </p:nvSpPr>
        <p:spPr>
          <a:xfrm>
            <a:off x="390134" y="356109"/>
            <a:ext cx="8115300" cy="791692"/>
          </a:xfrm>
          <a:prstGeom prst="rect">
            <a:avLst/>
          </a:prstGeom>
        </p:spPr>
        <p:txBody>
          <a:bodyPr wrap="square" lIns="0" tIns="0" rIns="0" bIns="0" rtlCol="0" anchor="t">
            <a:spAutoFit/>
          </a:bodyPr>
          <a:lstStyle/>
          <a:p>
            <a:pPr algn="l">
              <a:lnSpc>
                <a:spcPts val="6719"/>
              </a:lnSpc>
            </a:pPr>
            <a:r>
              <a:rPr lang="en-US" sz="4800" b="1" dirty="0">
                <a:solidFill>
                  <a:schemeClr val="accent3">
                    <a:lumMod val="50000"/>
                  </a:schemeClr>
                </a:solidFill>
                <a:latin typeface="Algerian" panose="04020705040A02060702" pitchFamily="82" charset="0"/>
                <a:ea typeface="Inter Bold"/>
                <a:cs typeface="Inter Bold"/>
                <a:sym typeface="Inter Bold"/>
              </a:rPr>
              <a:t>PROBLEM STATEMENT</a:t>
            </a:r>
          </a:p>
        </p:txBody>
      </p:sp>
      <p:sp>
        <p:nvSpPr>
          <p:cNvPr id="13" name="Flowchart: Document 12">
            <a:extLst>
              <a:ext uri="{FF2B5EF4-FFF2-40B4-BE49-F238E27FC236}">
                <a16:creationId xmlns:a16="http://schemas.microsoft.com/office/drawing/2014/main" id="{1580AE9F-F416-9182-CE44-82D0BB90969B}"/>
              </a:ext>
            </a:extLst>
          </p:cNvPr>
          <p:cNvSpPr/>
          <p:nvPr/>
        </p:nvSpPr>
        <p:spPr>
          <a:xfrm>
            <a:off x="304800" y="1790700"/>
            <a:ext cx="4628769" cy="5575547"/>
          </a:xfrm>
          <a:prstGeom prst="flowChart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nSpc>
                <a:spcPts val="3358"/>
              </a:lnSpc>
            </a:pPr>
            <a:r>
              <a:rPr lang="en-US" sz="2400" b="1" dirty="0">
                <a:solidFill>
                  <a:srgbClr val="000000"/>
                </a:solidFill>
                <a:latin typeface="Inter Bold"/>
                <a:ea typeface="Inter Bold"/>
                <a:cs typeface="Inter Bold"/>
                <a:sym typeface="Inter Bold"/>
              </a:rPr>
              <a:t>What does this problem aim to solve?</a:t>
            </a:r>
          </a:p>
          <a:p>
            <a:pPr>
              <a:lnSpc>
                <a:spcPts val="2039"/>
              </a:lnSpc>
            </a:pPr>
            <a:r>
              <a:rPr lang="en-US" dirty="0">
                <a:solidFill>
                  <a:srgbClr val="303642"/>
                </a:solidFill>
                <a:latin typeface="Inter"/>
                <a:ea typeface="Inter"/>
                <a:cs typeface="Inter"/>
                <a:sym typeface="Inter"/>
              </a:rPr>
              <a:t>                 Rural citizens often don’t know they qualify for schemes like Ayushman Bharat, and can’t read English or complex forms to check. When they fall sick, they don’t know whether to rest at home, visit a PHC, or rush to a hospital — and often don’t know where the nearest facility is. Our assistant closes this gap by letting people simply speak in their own language to check eligibility, get safe symptom guidance, and find nearby healthcare facilities  all grounded in official documents, not guesswork.</a:t>
            </a:r>
          </a:p>
        </p:txBody>
      </p:sp>
      <p:sp>
        <p:nvSpPr>
          <p:cNvPr id="14" name="Flowchart: Document 13">
            <a:extLst>
              <a:ext uri="{FF2B5EF4-FFF2-40B4-BE49-F238E27FC236}">
                <a16:creationId xmlns:a16="http://schemas.microsoft.com/office/drawing/2014/main" id="{9199B426-DB0B-5D6B-893C-EE847FD9DD4C}"/>
              </a:ext>
            </a:extLst>
          </p:cNvPr>
          <p:cNvSpPr/>
          <p:nvPr/>
        </p:nvSpPr>
        <p:spPr>
          <a:xfrm>
            <a:off x="5757995" y="1790700"/>
            <a:ext cx="4628769" cy="4940053"/>
          </a:xfrm>
          <a:prstGeom prst="flowChart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nSpc>
                <a:spcPts val="3358"/>
              </a:lnSpc>
            </a:pPr>
            <a:r>
              <a:rPr lang="en-US" sz="2400" b="1" dirty="0">
                <a:solidFill>
                  <a:srgbClr val="000000"/>
                </a:solidFill>
                <a:latin typeface="Inter Bold"/>
                <a:ea typeface="Inter Bold"/>
                <a:cs typeface="Inter Bold"/>
                <a:sym typeface="Inter Bold"/>
              </a:rPr>
              <a:t>Why did your team choose this?</a:t>
            </a:r>
          </a:p>
          <a:p>
            <a:pPr>
              <a:lnSpc>
                <a:spcPts val="2039"/>
              </a:lnSpc>
            </a:pPr>
            <a:r>
              <a:rPr lang="en-US" dirty="0">
                <a:solidFill>
                  <a:srgbClr val="303642"/>
                </a:solidFill>
                <a:latin typeface="Inter"/>
                <a:ea typeface="Inter"/>
                <a:cs typeface="Inter"/>
                <a:sym typeface="Inter"/>
              </a:rPr>
              <a:t>      </a:t>
            </a:r>
          </a:p>
          <a:p>
            <a:pPr>
              <a:lnSpc>
                <a:spcPts val="2039"/>
              </a:lnSpc>
            </a:pPr>
            <a:r>
              <a:rPr lang="en-US" dirty="0">
                <a:solidFill>
                  <a:srgbClr val="303642"/>
                </a:solidFill>
                <a:latin typeface="Inter"/>
                <a:ea typeface="Inter"/>
                <a:cs typeface="Inter"/>
                <a:sym typeface="Inter"/>
              </a:rPr>
              <a:t>           This problem sits at the intersection of real impact and real feasibility. Millions of rural families are entitled to free healthcare and financial protection but never claim it, simply because of language and awareness barriers. It’s a problem software can genuinely fix — no new hospitals or infrastructure needed, just better access to information that already exists.</a:t>
            </a:r>
          </a:p>
        </p:txBody>
      </p:sp>
      <p:sp>
        <p:nvSpPr>
          <p:cNvPr id="15" name="Flowchart: Document 14">
            <a:extLst>
              <a:ext uri="{FF2B5EF4-FFF2-40B4-BE49-F238E27FC236}">
                <a16:creationId xmlns:a16="http://schemas.microsoft.com/office/drawing/2014/main" id="{613EB141-5DB8-D98A-0B05-8156AD0E6DBA}"/>
              </a:ext>
            </a:extLst>
          </p:cNvPr>
          <p:cNvSpPr/>
          <p:nvPr/>
        </p:nvSpPr>
        <p:spPr>
          <a:xfrm>
            <a:off x="11125200" y="1790700"/>
            <a:ext cx="4376299" cy="4343153"/>
          </a:xfrm>
          <a:prstGeom prst="flowChart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nSpc>
                <a:spcPts val="3358"/>
              </a:lnSpc>
            </a:pPr>
            <a:r>
              <a:rPr lang="en-US" sz="2400" b="1" dirty="0">
                <a:solidFill>
                  <a:srgbClr val="000000"/>
                </a:solidFill>
                <a:latin typeface="Inter Bold"/>
                <a:ea typeface="Inter Bold"/>
                <a:cs typeface="Inter Bold"/>
                <a:sym typeface="Inter Bold"/>
              </a:rPr>
              <a:t>Who faces this issue?</a:t>
            </a:r>
          </a:p>
          <a:p>
            <a:pPr>
              <a:lnSpc>
                <a:spcPts val="3358"/>
              </a:lnSpc>
            </a:pPr>
            <a:endParaRPr lang="en-US" sz="2400" b="1" dirty="0">
              <a:solidFill>
                <a:srgbClr val="000000"/>
              </a:solidFill>
              <a:latin typeface="Inter Bold"/>
              <a:ea typeface="Inter Bold"/>
              <a:cs typeface="Inter Bold"/>
              <a:sym typeface="Inter Bold"/>
            </a:endParaRPr>
          </a:p>
          <a:p>
            <a:pPr>
              <a:lnSpc>
                <a:spcPts val="1859"/>
              </a:lnSpc>
            </a:pPr>
            <a:r>
              <a:rPr lang="en-US" dirty="0">
                <a:solidFill>
                  <a:srgbClr val="303642"/>
                </a:solidFill>
                <a:latin typeface="Inter"/>
                <a:ea typeface="Inter"/>
                <a:cs typeface="Inter"/>
                <a:sym typeface="Inter"/>
              </a:rPr>
              <a:t>        Rural citizens — especially elderly and semi-literate users — who can’t read English/Hindi scheme documents or navigate government portals, and overloaded ASHA/ANM frontline workers who can’t reach every household in time.</a:t>
            </a:r>
          </a:p>
        </p:txBody>
      </p:sp>
      <p:pic>
        <p:nvPicPr>
          <p:cNvPr id="21" name="Picture 20">
            <a:extLst>
              <a:ext uri="{FF2B5EF4-FFF2-40B4-BE49-F238E27FC236}">
                <a16:creationId xmlns:a16="http://schemas.microsoft.com/office/drawing/2014/main" id="{C6E085E3-96CE-DD7F-6EC9-B4A275F2159B}"/>
              </a:ext>
            </a:extLst>
          </p:cNvPr>
          <p:cNvPicPr>
            <a:picLocks noChangeAspect="1"/>
          </p:cNvPicPr>
          <p:nvPr/>
        </p:nvPicPr>
        <p:blipFill rotWithShape="1">
          <a:blip r:embed="rId6">
            <a:extLst>
              <a:ext uri="{28A0092B-C50C-407E-A947-70E740481C1C}">
                <a14:useLocalDpi xmlns:a14="http://schemas.microsoft.com/office/drawing/2010/main" val="0"/>
              </a:ext>
            </a:extLst>
          </a:blip>
          <a:srcRect l="151" t="14360" r="-149" b="58058"/>
          <a:stretch>
            <a:fillRect/>
          </a:stretch>
        </p:blipFill>
        <p:spPr>
          <a:xfrm>
            <a:off x="199298" y="7366247"/>
            <a:ext cx="7708900" cy="2726169"/>
          </a:xfrm>
          <a:prstGeom prst="round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08926" y="699534"/>
            <a:ext cx="10781919" cy="10781919"/>
            <a:chOff x="0" y="0"/>
            <a:chExt cx="14375892" cy="14375892"/>
          </a:xfrm>
        </p:grpSpPr>
        <p:sp>
          <p:nvSpPr>
            <p:cNvPr id="3" name="Freeform 3"/>
            <p:cNvSpPr/>
            <p:nvPr/>
          </p:nvSpPr>
          <p:spPr>
            <a:xfrm>
              <a:off x="0" y="0"/>
              <a:ext cx="14375892" cy="14375892"/>
            </a:xfrm>
            <a:custGeom>
              <a:avLst/>
              <a:gdLst/>
              <a:ahLst/>
              <a:cxnLst/>
              <a:rect l="l" t="t" r="r" b="b"/>
              <a:pathLst>
                <a:path w="14375892" h="14375892">
                  <a:moveTo>
                    <a:pt x="0" y="0"/>
                  </a:moveTo>
                  <a:lnTo>
                    <a:pt x="14375892" y="0"/>
                  </a:lnTo>
                  <a:lnTo>
                    <a:pt x="14375892" y="14375892"/>
                  </a:lnTo>
                  <a:lnTo>
                    <a:pt x="0" y="14375892"/>
                  </a:lnTo>
                  <a:lnTo>
                    <a:pt x="0" y="0"/>
                  </a:lnTo>
                  <a:close/>
                </a:path>
              </a:pathLst>
            </a:custGeom>
            <a:blipFill>
              <a:blip r:embed="rId2">
                <a:alphaModFix amt="7999"/>
              </a:blip>
              <a:stretch>
                <a:fillRect/>
              </a:stretch>
            </a:blipFill>
          </p:spPr>
        </p:sp>
      </p:grpSp>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3"/>
                </a:ext>
              </a:extLst>
            </a:blip>
            <a:stretch>
              <a:fillRect t="-626" b="-626"/>
            </a:stretch>
          </a:blipFill>
        </p:spPr>
      </p:sp>
      <p:grpSp>
        <p:nvGrpSpPr>
          <p:cNvPr id="5" name="Group 5"/>
          <p:cNvGrpSpPr/>
          <p:nvPr/>
        </p:nvGrpSpPr>
        <p:grpSpPr>
          <a:xfrm>
            <a:off x="15501499" y="325564"/>
            <a:ext cx="610934" cy="610934"/>
            <a:chOff x="0" y="0"/>
            <a:chExt cx="814578" cy="814578"/>
          </a:xfrm>
        </p:grpSpPr>
        <p:sp>
          <p:nvSpPr>
            <p:cNvPr id="6" name="Freeform 6"/>
            <p:cNvSpPr/>
            <p:nvPr/>
          </p:nvSpPr>
          <p:spPr>
            <a:xfrm>
              <a:off x="0" y="0"/>
              <a:ext cx="814578" cy="814578"/>
            </a:xfrm>
            <a:custGeom>
              <a:avLst/>
              <a:gdLst/>
              <a:ahLst/>
              <a:cxnLst/>
              <a:rect l="l" t="t" r="r" b="b"/>
              <a:pathLst>
                <a:path w="814578" h="814578">
                  <a:moveTo>
                    <a:pt x="814578" y="407289"/>
                  </a:moveTo>
                  <a:cubicBezTo>
                    <a:pt x="814578" y="632206"/>
                    <a:pt x="632206" y="814578"/>
                    <a:pt x="407289" y="814578"/>
                  </a:cubicBezTo>
                  <a:cubicBezTo>
                    <a:pt x="182372" y="814578"/>
                    <a:pt x="0" y="632206"/>
                    <a:pt x="0" y="407289"/>
                  </a:cubicBezTo>
                  <a:cubicBezTo>
                    <a:pt x="0" y="182372"/>
                    <a:pt x="182372" y="0"/>
                    <a:pt x="407289" y="0"/>
                  </a:cubicBezTo>
                  <a:cubicBezTo>
                    <a:pt x="632206" y="0"/>
                    <a:pt x="814578" y="182372"/>
                    <a:pt x="814578" y="407289"/>
                  </a:cubicBezTo>
                  <a:close/>
                </a:path>
              </a:pathLst>
            </a:custGeom>
            <a:blipFill>
              <a:blip r:embed="rId4"/>
              <a:stretch>
                <a:fillRect/>
              </a:stretch>
            </a:blipFill>
          </p:spPr>
        </p:sp>
      </p:grpSp>
      <p:sp>
        <p:nvSpPr>
          <p:cNvPr id="7" name="TextBox 7"/>
          <p:cNvSpPr txBox="1"/>
          <p:nvPr/>
        </p:nvSpPr>
        <p:spPr>
          <a:xfrm>
            <a:off x="16229667" y="154953"/>
            <a:ext cx="1668199" cy="716442"/>
          </a:xfrm>
          <a:prstGeom prst="rect">
            <a:avLst/>
          </a:prstGeom>
        </p:spPr>
        <p:txBody>
          <a:bodyPr lIns="0" tIns="0" rIns="0" bIns="0" rtlCol="0" anchor="t">
            <a:spAutoFit/>
          </a:bodyPr>
          <a:lstStyle/>
          <a:p>
            <a:pPr algn="l">
              <a:lnSpc>
                <a:spcPts val="4479"/>
              </a:lnSpc>
            </a:pPr>
            <a:r>
              <a:rPr lang="en-US" sz="3199" b="1">
                <a:solidFill>
                  <a:srgbClr val="303642"/>
                </a:solidFill>
                <a:latin typeface="Poppins Bold"/>
                <a:ea typeface="Poppins Bold"/>
                <a:cs typeface="Poppins Bold"/>
                <a:sym typeface="Poppins Bold"/>
              </a:rPr>
              <a:t>OSCode</a:t>
            </a:r>
          </a:p>
        </p:txBody>
      </p:sp>
      <p:sp>
        <p:nvSpPr>
          <p:cNvPr id="8" name="TextBox 8"/>
          <p:cNvSpPr txBox="1"/>
          <p:nvPr/>
        </p:nvSpPr>
        <p:spPr>
          <a:xfrm>
            <a:off x="16311991" y="634375"/>
            <a:ext cx="1585874" cy="343062"/>
          </a:xfrm>
          <a:prstGeom prst="rect">
            <a:avLst/>
          </a:prstGeom>
        </p:spPr>
        <p:txBody>
          <a:bodyPr lIns="0" tIns="0" rIns="0" bIns="0" rtlCol="0" anchor="t">
            <a:spAutoFit/>
          </a:bodyPr>
          <a:lstStyle/>
          <a:p>
            <a:pPr algn="r">
              <a:lnSpc>
                <a:spcPts val="1958"/>
              </a:lnSpc>
            </a:pPr>
            <a:r>
              <a:rPr lang="en-US" sz="1398">
                <a:solidFill>
                  <a:srgbClr val="303642"/>
                </a:solidFill>
                <a:latin typeface="Poppins"/>
                <a:ea typeface="Poppins"/>
                <a:cs typeface="Poppins"/>
                <a:sym typeface="Poppins"/>
              </a:rPr>
              <a:t>by community</a:t>
            </a:r>
            <a:r>
              <a:rPr lang="en-US" sz="1398" b="1">
                <a:solidFill>
                  <a:srgbClr val="00AEEF"/>
                </a:solidFill>
                <a:latin typeface="Poppins Bold"/>
                <a:ea typeface="Poppins Bold"/>
                <a:cs typeface="Poppins Bold"/>
                <a:sym typeface="Poppins Bold"/>
              </a:rPr>
              <a:t>X</a:t>
            </a:r>
          </a:p>
        </p:txBody>
      </p:sp>
      <p:sp>
        <p:nvSpPr>
          <p:cNvPr id="9" name="TextBox 9"/>
          <p:cNvSpPr txBox="1"/>
          <p:nvPr/>
        </p:nvSpPr>
        <p:spPr>
          <a:xfrm>
            <a:off x="457200" y="309235"/>
            <a:ext cx="11849100" cy="780598"/>
          </a:xfrm>
          <a:prstGeom prst="rect">
            <a:avLst/>
          </a:prstGeom>
        </p:spPr>
        <p:txBody>
          <a:bodyPr wrap="square" lIns="0" tIns="0" rIns="0" bIns="0" rtlCol="0" anchor="t">
            <a:spAutoFit/>
          </a:bodyPr>
          <a:lstStyle/>
          <a:p>
            <a:pPr algn="l">
              <a:lnSpc>
                <a:spcPts val="6719"/>
              </a:lnSpc>
            </a:pPr>
            <a:r>
              <a:rPr lang="en-US" sz="4400" b="1" dirty="0">
                <a:solidFill>
                  <a:schemeClr val="accent3">
                    <a:lumMod val="50000"/>
                  </a:schemeClr>
                </a:solidFill>
                <a:latin typeface="Algerian" panose="04020705040A02060702" pitchFamily="82" charset="0"/>
                <a:ea typeface="Inter Bold"/>
                <a:cs typeface="Inter Bold"/>
                <a:sym typeface="Inter Bold"/>
              </a:rPr>
              <a:t>REAL-WORLD PROBLEM ALIGNMENT</a:t>
            </a:r>
          </a:p>
        </p:txBody>
      </p:sp>
      <p:sp>
        <p:nvSpPr>
          <p:cNvPr id="15" name="Rectangle: Rounded Corners 14">
            <a:extLst>
              <a:ext uri="{FF2B5EF4-FFF2-40B4-BE49-F238E27FC236}">
                <a16:creationId xmlns:a16="http://schemas.microsoft.com/office/drawing/2014/main" id="{BB94BE5A-917E-D5FA-20DF-A2C1E80C639D}"/>
              </a:ext>
            </a:extLst>
          </p:cNvPr>
          <p:cNvSpPr/>
          <p:nvPr/>
        </p:nvSpPr>
        <p:spPr>
          <a:xfrm>
            <a:off x="71352" y="1214849"/>
            <a:ext cx="4114800" cy="417628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nSpc>
                <a:spcPts val="3358"/>
              </a:lnSpc>
            </a:pPr>
            <a:r>
              <a:rPr lang="en-US" sz="2400" b="1" dirty="0">
                <a:solidFill>
                  <a:srgbClr val="000000"/>
                </a:solidFill>
                <a:latin typeface="Inter Bold"/>
                <a:ea typeface="Inter Bold"/>
                <a:cs typeface="Inter Bold"/>
                <a:sym typeface="Inter Bold"/>
              </a:rPr>
              <a:t>What’s the current gap in the system?</a:t>
            </a:r>
          </a:p>
          <a:p>
            <a:pPr>
              <a:lnSpc>
                <a:spcPts val="3358"/>
              </a:lnSpc>
            </a:pPr>
            <a:endParaRPr lang="en-US" sz="2400" b="1" dirty="0">
              <a:solidFill>
                <a:srgbClr val="000000"/>
              </a:solidFill>
              <a:latin typeface="Inter Bold"/>
              <a:ea typeface="Inter Bold"/>
              <a:cs typeface="Inter Bold"/>
              <a:sym typeface="Inter Bold"/>
            </a:endParaRPr>
          </a:p>
          <a:p>
            <a:pPr>
              <a:lnSpc>
                <a:spcPts val="1859"/>
              </a:lnSpc>
            </a:pPr>
            <a:r>
              <a:rPr lang="en-US" dirty="0">
                <a:solidFill>
                  <a:srgbClr val="303642"/>
                </a:solidFill>
                <a:latin typeface="Inter"/>
                <a:ea typeface="Inter"/>
                <a:cs typeface="Inter"/>
                <a:sym typeface="Inter"/>
              </a:rPr>
              <a:t>Scheme information exists only in formal language on websites and forms. There’s no simple way for a village citizen to ask, in their own dialect, ‘am I eligible?’ or ‘is this serious enough for a hospital?’ — and no way to instantly locate the nearest PHC.</a:t>
            </a:r>
          </a:p>
        </p:txBody>
      </p:sp>
      <p:sp>
        <p:nvSpPr>
          <p:cNvPr id="16" name="Rectangle: Rounded Corners 15">
            <a:extLst>
              <a:ext uri="{FF2B5EF4-FFF2-40B4-BE49-F238E27FC236}">
                <a16:creationId xmlns:a16="http://schemas.microsoft.com/office/drawing/2014/main" id="{05BED173-B2E3-AC53-76BC-6BC83B144DB3}"/>
              </a:ext>
            </a:extLst>
          </p:cNvPr>
          <p:cNvSpPr/>
          <p:nvPr/>
        </p:nvSpPr>
        <p:spPr>
          <a:xfrm>
            <a:off x="10216026" y="215261"/>
            <a:ext cx="4798880" cy="452690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nSpc>
                <a:spcPts val="3358"/>
              </a:lnSpc>
            </a:pPr>
            <a:r>
              <a:rPr lang="en-US" sz="2400" b="1" dirty="0">
                <a:solidFill>
                  <a:srgbClr val="000000"/>
                </a:solidFill>
                <a:latin typeface="Inter Bold"/>
                <a:ea typeface="Inter Bold"/>
                <a:cs typeface="Inter Bold"/>
                <a:sym typeface="Inter Bold"/>
              </a:rPr>
              <a:t>How does your proposed solution fill that gap practically?</a:t>
            </a:r>
          </a:p>
          <a:p>
            <a:pPr>
              <a:lnSpc>
                <a:spcPts val="3358"/>
              </a:lnSpc>
            </a:pPr>
            <a:endParaRPr lang="en-US" sz="2400" b="1" dirty="0">
              <a:solidFill>
                <a:srgbClr val="000000"/>
              </a:solidFill>
              <a:latin typeface="Inter Bold"/>
              <a:ea typeface="Inter Bold"/>
              <a:cs typeface="Inter Bold"/>
              <a:sym typeface="Inter Bold"/>
            </a:endParaRPr>
          </a:p>
          <a:p>
            <a:pPr>
              <a:lnSpc>
                <a:spcPts val="1859"/>
              </a:lnSpc>
            </a:pPr>
            <a:r>
              <a:rPr lang="en-US" dirty="0">
                <a:solidFill>
                  <a:srgbClr val="303642"/>
                </a:solidFill>
                <a:latin typeface="Inter"/>
                <a:ea typeface="Inter"/>
                <a:cs typeface="Inter"/>
                <a:sym typeface="Inter"/>
              </a:rPr>
              <a:t>A voice-first assistant lets users speak in Tamil, Hindi, Telugu, and more. It checks real scheme documents to answer eligibility questions, uses a safe rule-based triage engine to guide home-care vs PHC vs emergency decisions, and locates the nearest facility — every answer traceable to its source.</a:t>
            </a:r>
          </a:p>
        </p:txBody>
      </p:sp>
      <p:sp>
        <p:nvSpPr>
          <p:cNvPr id="17" name="Rectangle: Rounded Corners 16">
            <a:extLst>
              <a:ext uri="{FF2B5EF4-FFF2-40B4-BE49-F238E27FC236}">
                <a16:creationId xmlns:a16="http://schemas.microsoft.com/office/drawing/2014/main" id="{CD884164-C5F1-06CF-23FA-C5C7EC3935EC}"/>
              </a:ext>
            </a:extLst>
          </p:cNvPr>
          <p:cNvSpPr/>
          <p:nvPr/>
        </p:nvSpPr>
        <p:spPr>
          <a:xfrm>
            <a:off x="103839" y="5893256"/>
            <a:ext cx="4495800" cy="38862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2400" b="1" dirty="0"/>
              <a:t>Connects to existing schemes</a:t>
            </a:r>
          </a:p>
          <a:p>
            <a:pPr algn="ctr"/>
            <a:endParaRPr lang="en-IN" sz="2400" b="1" dirty="0"/>
          </a:p>
          <a:p>
            <a:pPr algn="ctr"/>
            <a:r>
              <a:rPr lang="en-IN" b="1" dirty="0"/>
              <a:t> </a:t>
            </a:r>
            <a:r>
              <a:rPr lang="en-IN" dirty="0"/>
              <a:t>Directly supports Ayushman Bharat (PM-JAY), the Ayushman Bharat Digital Mission, and the National Health Mission — and aligns with the Digital India vision of bringing government services to citizens in their own language.</a:t>
            </a:r>
          </a:p>
        </p:txBody>
      </p:sp>
      <p:pic>
        <p:nvPicPr>
          <p:cNvPr id="25" name="Picture 24">
            <a:extLst>
              <a:ext uri="{FF2B5EF4-FFF2-40B4-BE49-F238E27FC236}">
                <a16:creationId xmlns:a16="http://schemas.microsoft.com/office/drawing/2014/main" id="{9A4FF751-0BFA-1C03-95CF-61B58535E9A9}"/>
              </a:ext>
            </a:extLst>
          </p:cNvPr>
          <p:cNvPicPr>
            <a:picLocks noChangeAspect="1"/>
          </p:cNvPicPr>
          <p:nvPr/>
        </p:nvPicPr>
        <p:blipFill rotWithShape="1">
          <a:blip r:embed="rId5">
            <a:extLst>
              <a:ext uri="{28A0092B-C50C-407E-A947-70E740481C1C}">
                <a14:useLocalDpi xmlns:a14="http://schemas.microsoft.com/office/drawing/2010/main" val="0"/>
              </a:ext>
            </a:extLst>
          </a:blip>
          <a:srcRect l="11526" t="4896" r="4987" b="2053"/>
          <a:stretch>
            <a:fillRect/>
          </a:stretch>
        </p:blipFill>
        <p:spPr>
          <a:xfrm>
            <a:off x="5048995" y="1547509"/>
            <a:ext cx="4371272" cy="3337155"/>
          </a:xfrm>
          <a:prstGeom prst="rect">
            <a:avLst/>
          </a:prstGeom>
        </p:spPr>
      </p:pic>
      <p:sp>
        <p:nvSpPr>
          <p:cNvPr id="26" name="Arrow: Right 25">
            <a:extLst>
              <a:ext uri="{FF2B5EF4-FFF2-40B4-BE49-F238E27FC236}">
                <a16:creationId xmlns:a16="http://schemas.microsoft.com/office/drawing/2014/main" id="{DE9629D7-C3E6-BFC8-0E02-F53FB937592D}"/>
              </a:ext>
            </a:extLst>
          </p:cNvPr>
          <p:cNvSpPr/>
          <p:nvPr/>
        </p:nvSpPr>
        <p:spPr>
          <a:xfrm>
            <a:off x="4426937" y="3209602"/>
            <a:ext cx="533400" cy="49270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8" name="Arrow: Right 27">
            <a:extLst>
              <a:ext uri="{FF2B5EF4-FFF2-40B4-BE49-F238E27FC236}">
                <a16:creationId xmlns:a16="http://schemas.microsoft.com/office/drawing/2014/main" id="{7DEA4C9D-55A8-3F34-9270-5163BC228A4E}"/>
              </a:ext>
            </a:extLst>
          </p:cNvPr>
          <p:cNvSpPr/>
          <p:nvPr/>
        </p:nvSpPr>
        <p:spPr>
          <a:xfrm>
            <a:off x="4746843" y="7735926"/>
            <a:ext cx="533400" cy="49270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0" name="Arrow: Right 29">
            <a:extLst>
              <a:ext uri="{FF2B5EF4-FFF2-40B4-BE49-F238E27FC236}">
                <a16:creationId xmlns:a16="http://schemas.microsoft.com/office/drawing/2014/main" id="{9F721E4A-2CDC-4620-321E-55073338AFD6}"/>
              </a:ext>
            </a:extLst>
          </p:cNvPr>
          <p:cNvSpPr/>
          <p:nvPr/>
        </p:nvSpPr>
        <p:spPr>
          <a:xfrm rot="5400000">
            <a:off x="12547096" y="4938862"/>
            <a:ext cx="533400" cy="49270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32" name="Picture 31">
            <a:extLst>
              <a:ext uri="{FF2B5EF4-FFF2-40B4-BE49-F238E27FC236}">
                <a16:creationId xmlns:a16="http://schemas.microsoft.com/office/drawing/2014/main" id="{45D2873A-29EB-5FE8-60C9-D7EF2BD53DD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556" t="23334" r="5758" b="16666"/>
          <a:stretch>
            <a:fillRect/>
          </a:stretch>
        </p:blipFill>
        <p:spPr>
          <a:xfrm>
            <a:off x="5349308" y="6423151"/>
            <a:ext cx="4517570" cy="3056353"/>
          </a:xfrm>
          <a:prstGeom prst="rect">
            <a:avLst/>
          </a:prstGeom>
        </p:spPr>
      </p:pic>
      <p:pic>
        <p:nvPicPr>
          <p:cNvPr id="34" name="Picture 33">
            <a:extLst>
              <a:ext uri="{FF2B5EF4-FFF2-40B4-BE49-F238E27FC236}">
                <a16:creationId xmlns:a16="http://schemas.microsoft.com/office/drawing/2014/main" id="{76C2D944-DAD4-ED04-3669-D65867D35180}"/>
              </a:ext>
            </a:extLst>
          </p:cNvPr>
          <p:cNvPicPr>
            <a:picLocks noChangeAspect="1"/>
          </p:cNvPicPr>
          <p:nvPr/>
        </p:nvPicPr>
        <p:blipFill>
          <a:blip r:embed="rId7">
            <a:extLst>
              <a:ext uri="{28A0092B-C50C-407E-A947-70E740481C1C}">
                <a14:useLocalDpi xmlns:a14="http://schemas.microsoft.com/office/drawing/2010/main" val="0"/>
              </a:ext>
            </a:extLst>
          </a:blip>
          <a:srcRect l="4406" t="15941" r="5298" b="9413"/>
          <a:stretch>
            <a:fillRect/>
          </a:stretch>
        </p:blipFill>
        <p:spPr>
          <a:xfrm>
            <a:off x="10261096" y="5561161"/>
            <a:ext cx="5105399" cy="42205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35949" y="1754505"/>
            <a:ext cx="10781919" cy="10781919"/>
            <a:chOff x="0" y="0"/>
            <a:chExt cx="14375892" cy="14375892"/>
          </a:xfrm>
        </p:grpSpPr>
        <p:sp>
          <p:nvSpPr>
            <p:cNvPr id="3" name="Freeform 3"/>
            <p:cNvSpPr/>
            <p:nvPr/>
          </p:nvSpPr>
          <p:spPr>
            <a:xfrm>
              <a:off x="0" y="0"/>
              <a:ext cx="14375892" cy="14375892"/>
            </a:xfrm>
            <a:custGeom>
              <a:avLst/>
              <a:gdLst/>
              <a:ahLst/>
              <a:cxnLst/>
              <a:rect l="l" t="t" r="r" b="b"/>
              <a:pathLst>
                <a:path w="14375892" h="14375892">
                  <a:moveTo>
                    <a:pt x="0" y="0"/>
                  </a:moveTo>
                  <a:lnTo>
                    <a:pt x="14375892" y="0"/>
                  </a:lnTo>
                  <a:lnTo>
                    <a:pt x="14375892" y="14375892"/>
                  </a:lnTo>
                  <a:lnTo>
                    <a:pt x="0" y="14375892"/>
                  </a:lnTo>
                  <a:lnTo>
                    <a:pt x="0" y="0"/>
                  </a:lnTo>
                  <a:close/>
                </a:path>
              </a:pathLst>
            </a:custGeom>
            <a:blipFill>
              <a:blip r:embed="rId2">
                <a:alphaModFix amt="7999"/>
              </a:blip>
              <a:stretch>
                <a:fillRect/>
              </a:stretch>
            </a:blipFill>
          </p:spPr>
        </p:sp>
      </p:grpSp>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3"/>
                </a:ext>
              </a:extLst>
            </a:blip>
            <a:stretch>
              <a:fillRect t="-626" b="-626"/>
            </a:stretch>
          </a:blipFill>
        </p:spPr>
      </p:sp>
      <p:grpSp>
        <p:nvGrpSpPr>
          <p:cNvPr id="5" name="Group 5"/>
          <p:cNvGrpSpPr/>
          <p:nvPr/>
        </p:nvGrpSpPr>
        <p:grpSpPr>
          <a:xfrm>
            <a:off x="15501499" y="325564"/>
            <a:ext cx="610934" cy="610934"/>
            <a:chOff x="0" y="0"/>
            <a:chExt cx="814578" cy="814578"/>
          </a:xfrm>
        </p:grpSpPr>
        <p:sp>
          <p:nvSpPr>
            <p:cNvPr id="6" name="Freeform 6"/>
            <p:cNvSpPr/>
            <p:nvPr/>
          </p:nvSpPr>
          <p:spPr>
            <a:xfrm>
              <a:off x="0" y="0"/>
              <a:ext cx="814578" cy="814578"/>
            </a:xfrm>
            <a:custGeom>
              <a:avLst/>
              <a:gdLst/>
              <a:ahLst/>
              <a:cxnLst/>
              <a:rect l="l" t="t" r="r" b="b"/>
              <a:pathLst>
                <a:path w="814578" h="814578">
                  <a:moveTo>
                    <a:pt x="814578" y="407289"/>
                  </a:moveTo>
                  <a:cubicBezTo>
                    <a:pt x="814578" y="632206"/>
                    <a:pt x="632206" y="814578"/>
                    <a:pt x="407289" y="814578"/>
                  </a:cubicBezTo>
                  <a:cubicBezTo>
                    <a:pt x="182372" y="814578"/>
                    <a:pt x="0" y="632206"/>
                    <a:pt x="0" y="407289"/>
                  </a:cubicBezTo>
                  <a:cubicBezTo>
                    <a:pt x="0" y="182372"/>
                    <a:pt x="182372" y="0"/>
                    <a:pt x="407289" y="0"/>
                  </a:cubicBezTo>
                  <a:cubicBezTo>
                    <a:pt x="632206" y="0"/>
                    <a:pt x="814578" y="182372"/>
                    <a:pt x="814578" y="407289"/>
                  </a:cubicBezTo>
                  <a:close/>
                </a:path>
              </a:pathLst>
            </a:custGeom>
            <a:blipFill>
              <a:blip r:embed="rId4"/>
              <a:stretch>
                <a:fillRect/>
              </a:stretch>
            </a:blipFill>
          </p:spPr>
        </p:sp>
      </p:grpSp>
      <p:sp>
        <p:nvSpPr>
          <p:cNvPr id="7" name="TextBox 7"/>
          <p:cNvSpPr txBox="1"/>
          <p:nvPr/>
        </p:nvSpPr>
        <p:spPr>
          <a:xfrm>
            <a:off x="16229667" y="154953"/>
            <a:ext cx="1668199" cy="716442"/>
          </a:xfrm>
          <a:prstGeom prst="rect">
            <a:avLst/>
          </a:prstGeom>
        </p:spPr>
        <p:txBody>
          <a:bodyPr lIns="0" tIns="0" rIns="0" bIns="0" rtlCol="0" anchor="t">
            <a:spAutoFit/>
          </a:bodyPr>
          <a:lstStyle/>
          <a:p>
            <a:pPr algn="l">
              <a:lnSpc>
                <a:spcPts val="4479"/>
              </a:lnSpc>
            </a:pPr>
            <a:r>
              <a:rPr lang="en-US" sz="3199" b="1">
                <a:solidFill>
                  <a:srgbClr val="303642"/>
                </a:solidFill>
                <a:latin typeface="Poppins Bold"/>
                <a:ea typeface="Poppins Bold"/>
                <a:cs typeface="Poppins Bold"/>
                <a:sym typeface="Poppins Bold"/>
              </a:rPr>
              <a:t>OSCode</a:t>
            </a:r>
          </a:p>
        </p:txBody>
      </p:sp>
      <p:sp>
        <p:nvSpPr>
          <p:cNvPr id="8" name="TextBox 8"/>
          <p:cNvSpPr txBox="1"/>
          <p:nvPr/>
        </p:nvSpPr>
        <p:spPr>
          <a:xfrm>
            <a:off x="16311991" y="634375"/>
            <a:ext cx="1585874" cy="343062"/>
          </a:xfrm>
          <a:prstGeom prst="rect">
            <a:avLst/>
          </a:prstGeom>
        </p:spPr>
        <p:txBody>
          <a:bodyPr lIns="0" tIns="0" rIns="0" bIns="0" rtlCol="0" anchor="t">
            <a:spAutoFit/>
          </a:bodyPr>
          <a:lstStyle/>
          <a:p>
            <a:pPr algn="r">
              <a:lnSpc>
                <a:spcPts val="1958"/>
              </a:lnSpc>
            </a:pPr>
            <a:r>
              <a:rPr lang="en-US" sz="1398">
                <a:solidFill>
                  <a:srgbClr val="303642"/>
                </a:solidFill>
                <a:latin typeface="Poppins"/>
                <a:ea typeface="Poppins"/>
                <a:cs typeface="Poppins"/>
                <a:sym typeface="Poppins"/>
              </a:rPr>
              <a:t>by community</a:t>
            </a:r>
            <a:r>
              <a:rPr lang="en-US" sz="1398" b="1">
                <a:solidFill>
                  <a:srgbClr val="00AEEF"/>
                </a:solidFill>
                <a:latin typeface="Poppins Bold"/>
                <a:ea typeface="Poppins Bold"/>
                <a:cs typeface="Poppins Bold"/>
                <a:sym typeface="Poppins Bold"/>
              </a:rPr>
              <a:t>X</a:t>
            </a:r>
          </a:p>
        </p:txBody>
      </p:sp>
      <p:sp>
        <p:nvSpPr>
          <p:cNvPr id="9" name="TextBox 9"/>
          <p:cNvSpPr txBox="1"/>
          <p:nvPr/>
        </p:nvSpPr>
        <p:spPr>
          <a:xfrm>
            <a:off x="1028700" y="742950"/>
            <a:ext cx="6613627" cy="1011555"/>
          </a:xfrm>
          <a:prstGeom prst="rect">
            <a:avLst/>
          </a:prstGeom>
        </p:spPr>
        <p:txBody>
          <a:bodyPr lIns="0" tIns="0" rIns="0" bIns="0" rtlCol="0" anchor="t">
            <a:spAutoFit/>
          </a:bodyPr>
          <a:lstStyle/>
          <a:p>
            <a:pPr algn="l">
              <a:lnSpc>
                <a:spcPts val="6719"/>
              </a:lnSpc>
            </a:pPr>
            <a:r>
              <a:rPr lang="en-US" sz="4800" b="1">
                <a:solidFill>
                  <a:srgbClr val="000000"/>
                </a:solidFill>
                <a:latin typeface="Inter Bold"/>
                <a:ea typeface="Inter Bold"/>
                <a:cs typeface="Inter Bold"/>
                <a:sym typeface="Inter Bold"/>
              </a:rPr>
              <a:t>PROPOSED SOLUTION</a:t>
            </a:r>
          </a:p>
        </p:txBody>
      </p:sp>
      <p:sp>
        <p:nvSpPr>
          <p:cNvPr id="10" name="TextBox 10"/>
          <p:cNvSpPr txBox="1"/>
          <p:nvPr/>
        </p:nvSpPr>
        <p:spPr>
          <a:xfrm>
            <a:off x="1028700" y="2470747"/>
            <a:ext cx="16230600" cy="2545251"/>
          </a:xfrm>
          <a:prstGeom prst="rect">
            <a:avLst/>
          </a:prstGeom>
        </p:spPr>
        <p:txBody>
          <a:bodyPr lIns="0" tIns="0" rIns="0" bIns="0" rtlCol="0" anchor="t">
            <a:spAutoFit/>
          </a:bodyPr>
          <a:lstStyle/>
          <a:p>
            <a:pPr algn="l">
              <a:lnSpc>
                <a:spcPts val="3358"/>
              </a:lnSpc>
            </a:pPr>
            <a:r>
              <a:rPr lang="en-US" sz="2000" b="1">
                <a:solidFill>
                  <a:srgbClr val="000000"/>
                </a:solidFill>
                <a:latin typeface="Inter Bold"/>
                <a:ea typeface="Inter Bold"/>
                <a:cs typeface="Inter Bold"/>
                <a:sym typeface="Inter Bold"/>
              </a:rPr>
              <a:t>What are you building?</a:t>
            </a:r>
          </a:p>
          <a:p>
            <a:pPr algn="l">
              <a:lnSpc>
                <a:spcPts val="1800"/>
              </a:lnSpc>
            </a:pPr>
            <a:r>
              <a:rPr lang="en-US" sz="1500">
                <a:solidFill>
                  <a:srgbClr val="303642"/>
                </a:solidFill>
                <a:latin typeface="Inter"/>
                <a:ea typeface="Inter"/>
                <a:cs typeface="Inter"/>
                <a:sym typeface="Inter"/>
              </a:rPr>
              <a:t>Gramacare AI is a multilingual, voice-first health assistant built for rural India. A user speaks their question in Tamil, Hindi, Telugu, or another local language — the assistant transcribes it, understands the intent, and replies in the same language as text and spoken audio. It answers two kinds of questions: eligibility for schemes like Ayushman Bharat, and how serious a symptom is — guiding the user toward home care, a nearby PHC, or emergency help. Every answer is grounded in official scheme documents and WHO/ICMR protocols, with the source shown alongside. It also locates the nearest facility, and falls back to SMS/USSD in low-connectivity areas so no one is left out.</a:t>
            </a:r>
          </a:p>
        </p:txBody>
      </p:sp>
      <p:sp>
        <p:nvSpPr>
          <p:cNvPr id="11" name="TextBox 11"/>
          <p:cNvSpPr txBox="1"/>
          <p:nvPr/>
        </p:nvSpPr>
        <p:spPr>
          <a:xfrm>
            <a:off x="1028700" y="5220748"/>
            <a:ext cx="16230600" cy="1595247"/>
          </a:xfrm>
          <a:prstGeom prst="rect">
            <a:avLst/>
          </a:prstGeom>
        </p:spPr>
        <p:txBody>
          <a:bodyPr lIns="0" tIns="0" rIns="0" bIns="0" rtlCol="0" anchor="t">
            <a:spAutoFit/>
          </a:bodyPr>
          <a:lstStyle/>
          <a:p>
            <a:pPr algn="l">
              <a:lnSpc>
                <a:spcPts val="3358"/>
              </a:lnSpc>
            </a:pPr>
            <a:r>
              <a:rPr lang="en-US" sz="2000" b="1">
                <a:solidFill>
                  <a:srgbClr val="000000"/>
                </a:solidFill>
                <a:latin typeface="Inter Bold"/>
                <a:ea typeface="Inter Bold"/>
                <a:cs typeface="Inter Bold"/>
                <a:sym typeface="Inter Bold"/>
              </a:rPr>
              <a:t>What are the 3-4 key features?</a:t>
            </a:r>
          </a:p>
          <a:p>
            <a:pPr algn="l">
              <a:lnSpc>
                <a:spcPts val="2039"/>
              </a:lnSpc>
            </a:pPr>
            <a:r>
              <a:rPr lang="en-US" sz="1700">
                <a:solidFill>
                  <a:srgbClr val="303642"/>
                </a:solidFill>
                <a:latin typeface="Inter"/>
                <a:ea typeface="Inter"/>
                <a:cs typeface="Inter"/>
                <a:sym typeface="Inter"/>
              </a:rPr>
              <a:t>1) Voice-first multilingual query &amp; response in the user’s own dialect.  2) Source-grounded scheme eligibility &amp; safe rule-based symptom triage.  3) Nearest health facility locator.  4) SMS/USSD fallback for low-connectivity areas.</a:t>
            </a:r>
          </a:p>
        </p:txBody>
      </p:sp>
      <p:sp>
        <p:nvSpPr>
          <p:cNvPr id="12" name="TextBox 12"/>
          <p:cNvSpPr txBox="1"/>
          <p:nvPr/>
        </p:nvSpPr>
        <p:spPr>
          <a:xfrm>
            <a:off x="1028700" y="7020754"/>
            <a:ext cx="16230600" cy="1745247"/>
          </a:xfrm>
          <a:prstGeom prst="rect">
            <a:avLst/>
          </a:prstGeom>
        </p:spPr>
        <p:txBody>
          <a:bodyPr lIns="0" tIns="0" rIns="0" bIns="0" rtlCol="0" anchor="t">
            <a:spAutoFit/>
          </a:bodyPr>
          <a:lstStyle/>
          <a:p>
            <a:pPr algn="l">
              <a:lnSpc>
                <a:spcPts val="3358"/>
              </a:lnSpc>
            </a:pPr>
            <a:r>
              <a:rPr lang="en-US" sz="2000" b="1">
                <a:solidFill>
                  <a:srgbClr val="000000"/>
                </a:solidFill>
                <a:latin typeface="Inter Bold"/>
                <a:ea typeface="Inter Bold"/>
                <a:cs typeface="Inter Bold"/>
                <a:sym typeface="Inter Bold"/>
              </a:rPr>
              <a:t>What makes it different or innovative?</a:t>
            </a:r>
          </a:p>
          <a:p>
            <a:pPr algn="l">
              <a:lnSpc>
                <a:spcPts val="2039"/>
              </a:lnSpc>
            </a:pPr>
            <a:r>
              <a:rPr lang="en-US" sz="1700">
                <a:solidFill>
                  <a:srgbClr val="303642"/>
                </a:solidFill>
                <a:latin typeface="Inter"/>
                <a:ea typeface="Inter"/>
                <a:cs typeface="Inter"/>
                <a:sym typeface="Inter"/>
              </a:rPr>
              <a:t>Every answer is grounded and cited — it never guesses on medical or scheme information. It’s designed to support, not replace, ASHA/ANM workers, and it works across voice, app, and SMS/USSD, so it genuinely reaches low-end phones and unstable rural networks instead of just claiming 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35949" y="1754505"/>
            <a:ext cx="10781919" cy="10781919"/>
            <a:chOff x="0" y="0"/>
            <a:chExt cx="14375892" cy="14375892"/>
          </a:xfrm>
        </p:grpSpPr>
        <p:sp>
          <p:nvSpPr>
            <p:cNvPr id="3" name="Freeform 3"/>
            <p:cNvSpPr/>
            <p:nvPr/>
          </p:nvSpPr>
          <p:spPr>
            <a:xfrm>
              <a:off x="0" y="0"/>
              <a:ext cx="14375892" cy="14375892"/>
            </a:xfrm>
            <a:custGeom>
              <a:avLst/>
              <a:gdLst/>
              <a:ahLst/>
              <a:cxnLst/>
              <a:rect l="l" t="t" r="r" b="b"/>
              <a:pathLst>
                <a:path w="14375892" h="14375892">
                  <a:moveTo>
                    <a:pt x="0" y="0"/>
                  </a:moveTo>
                  <a:lnTo>
                    <a:pt x="14375892" y="0"/>
                  </a:lnTo>
                  <a:lnTo>
                    <a:pt x="14375892" y="14375892"/>
                  </a:lnTo>
                  <a:lnTo>
                    <a:pt x="0" y="14375892"/>
                  </a:lnTo>
                  <a:lnTo>
                    <a:pt x="0" y="0"/>
                  </a:lnTo>
                  <a:close/>
                </a:path>
              </a:pathLst>
            </a:custGeom>
            <a:blipFill>
              <a:blip r:embed="rId2">
                <a:alphaModFix amt="7999"/>
              </a:blip>
              <a:stretch>
                <a:fillRect/>
              </a:stretch>
            </a:blipFill>
          </p:spPr>
        </p:sp>
      </p:grpSp>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3"/>
                </a:ext>
              </a:extLst>
            </a:blip>
            <a:stretch>
              <a:fillRect t="-626" b="-626"/>
            </a:stretch>
          </a:blipFill>
        </p:spPr>
      </p:sp>
      <p:sp>
        <p:nvSpPr>
          <p:cNvPr id="5" name="Freeform 5"/>
          <p:cNvSpPr/>
          <p:nvPr/>
        </p:nvSpPr>
        <p:spPr>
          <a:xfrm>
            <a:off x="8709" y="-170175"/>
            <a:ext cx="18288000" cy="10331698"/>
          </a:xfrm>
          <a:custGeom>
            <a:avLst/>
            <a:gdLst/>
            <a:ahLst/>
            <a:cxnLst/>
            <a:rect l="l" t="t" r="r" b="b"/>
            <a:pathLst>
              <a:path w="18288000" h="10026898">
                <a:moveTo>
                  <a:pt x="0" y="0"/>
                </a:moveTo>
                <a:lnTo>
                  <a:pt x="18288000" y="0"/>
                </a:lnTo>
                <a:lnTo>
                  <a:pt x="18288000" y="10026898"/>
                </a:lnTo>
                <a:lnTo>
                  <a:pt x="0" y="10026898"/>
                </a:lnTo>
                <a:lnTo>
                  <a:pt x="0" y="0"/>
                </a:lnTo>
                <a:close/>
              </a:path>
            </a:pathLst>
          </a:custGeom>
          <a:blipFill>
            <a:blip r:embed="rId4"/>
            <a:stretch>
              <a:fillRect t="-869" b="-869"/>
            </a:stretch>
          </a:blipFill>
        </p:spPr>
      </p:sp>
      <p:grpSp>
        <p:nvGrpSpPr>
          <p:cNvPr id="6" name="Group 6"/>
          <p:cNvGrpSpPr/>
          <p:nvPr/>
        </p:nvGrpSpPr>
        <p:grpSpPr>
          <a:xfrm>
            <a:off x="15421441" y="342900"/>
            <a:ext cx="610934" cy="610934"/>
            <a:chOff x="0" y="0"/>
            <a:chExt cx="814578" cy="814578"/>
          </a:xfrm>
        </p:grpSpPr>
        <p:sp>
          <p:nvSpPr>
            <p:cNvPr id="7" name="Freeform 7"/>
            <p:cNvSpPr/>
            <p:nvPr/>
          </p:nvSpPr>
          <p:spPr>
            <a:xfrm>
              <a:off x="0" y="0"/>
              <a:ext cx="814578" cy="814578"/>
            </a:xfrm>
            <a:custGeom>
              <a:avLst/>
              <a:gdLst/>
              <a:ahLst/>
              <a:cxnLst/>
              <a:rect l="l" t="t" r="r" b="b"/>
              <a:pathLst>
                <a:path w="814578" h="814578">
                  <a:moveTo>
                    <a:pt x="814578" y="407289"/>
                  </a:moveTo>
                  <a:cubicBezTo>
                    <a:pt x="814578" y="632206"/>
                    <a:pt x="632206" y="814578"/>
                    <a:pt x="407289" y="814578"/>
                  </a:cubicBezTo>
                  <a:cubicBezTo>
                    <a:pt x="182372" y="814578"/>
                    <a:pt x="0" y="632206"/>
                    <a:pt x="0" y="407289"/>
                  </a:cubicBezTo>
                  <a:cubicBezTo>
                    <a:pt x="0" y="182372"/>
                    <a:pt x="182372" y="0"/>
                    <a:pt x="407289" y="0"/>
                  </a:cubicBezTo>
                  <a:cubicBezTo>
                    <a:pt x="632206" y="0"/>
                    <a:pt x="814578" y="182372"/>
                    <a:pt x="814578" y="407289"/>
                  </a:cubicBezTo>
                  <a:close/>
                </a:path>
              </a:pathLst>
            </a:custGeom>
            <a:blipFill>
              <a:blip r:embed="rId5"/>
              <a:stretch>
                <a:fillRect/>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35949" y="1754505"/>
            <a:ext cx="10781919" cy="10781919"/>
            <a:chOff x="0" y="0"/>
            <a:chExt cx="14375892" cy="14375892"/>
          </a:xfrm>
        </p:grpSpPr>
        <p:sp>
          <p:nvSpPr>
            <p:cNvPr id="3" name="Freeform 3"/>
            <p:cNvSpPr/>
            <p:nvPr/>
          </p:nvSpPr>
          <p:spPr>
            <a:xfrm>
              <a:off x="0" y="0"/>
              <a:ext cx="14375892" cy="14375892"/>
            </a:xfrm>
            <a:custGeom>
              <a:avLst/>
              <a:gdLst/>
              <a:ahLst/>
              <a:cxnLst/>
              <a:rect l="l" t="t" r="r" b="b"/>
              <a:pathLst>
                <a:path w="14375892" h="14375892">
                  <a:moveTo>
                    <a:pt x="0" y="0"/>
                  </a:moveTo>
                  <a:lnTo>
                    <a:pt x="14375892" y="0"/>
                  </a:lnTo>
                  <a:lnTo>
                    <a:pt x="14375892" y="14375892"/>
                  </a:lnTo>
                  <a:lnTo>
                    <a:pt x="0" y="14375892"/>
                  </a:lnTo>
                  <a:lnTo>
                    <a:pt x="0" y="0"/>
                  </a:lnTo>
                  <a:close/>
                </a:path>
              </a:pathLst>
            </a:custGeom>
            <a:blipFill>
              <a:blip r:embed="rId2">
                <a:alphaModFix amt="7999"/>
              </a:blip>
              <a:stretch>
                <a:fillRect/>
              </a:stretch>
            </a:blipFill>
          </p:spPr>
        </p:sp>
      </p:grpSp>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3"/>
                </a:ext>
              </a:extLst>
            </a:blip>
            <a:stretch>
              <a:fillRect t="-626" b="-626"/>
            </a:stretch>
          </a:blipFill>
        </p:spPr>
      </p:sp>
      <p:grpSp>
        <p:nvGrpSpPr>
          <p:cNvPr id="5" name="Group 5"/>
          <p:cNvGrpSpPr/>
          <p:nvPr/>
        </p:nvGrpSpPr>
        <p:grpSpPr>
          <a:xfrm>
            <a:off x="15501499" y="325564"/>
            <a:ext cx="610934" cy="610934"/>
            <a:chOff x="0" y="0"/>
            <a:chExt cx="814578" cy="814578"/>
          </a:xfrm>
        </p:grpSpPr>
        <p:sp>
          <p:nvSpPr>
            <p:cNvPr id="6" name="Freeform 6"/>
            <p:cNvSpPr/>
            <p:nvPr/>
          </p:nvSpPr>
          <p:spPr>
            <a:xfrm>
              <a:off x="0" y="0"/>
              <a:ext cx="814578" cy="814578"/>
            </a:xfrm>
            <a:custGeom>
              <a:avLst/>
              <a:gdLst/>
              <a:ahLst/>
              <a:cxnLst/>
              <a:rect l="l" t="t" r="r" b="b"/>
              <a:pathLst>
                <a:path w="814578" h="814578">
                  <a:moveTo>
                    <a:pt x="814578" y="407289"/>
                  </a:moveTo>
                  <a:cubicBezTo>
                    <a:pt x="814578" y="632206"/>
                    <a:pt x="632206" y="814578"/>
                    <a:pt x="407289" y="814578"/>
                  </a:cubicBezTo>
                  <a:cubicBezTo>
                    <a:pt x="182372" y="814578"/>
                    <a:pt x="0" y="632206"/>
                    <a:pt x="0" y="407289"/>
                  </a:cubicBezTo>
                  <a:cubicBezTo>
                    <a:pt x="0" y="182372"/>
                    <a:pt x="182372" y="0"/>
                    <a:pt x="407289" y="0"/>
                  </a:cubicBezTo>
                  <a:cubicBezTo>
                    <a:pt x="632206" y="0"/>
                    <a:pt x="814578" y="182372"/>
                    <a:pt x="814578" y="407289"/>
                  </a:cubicBezTo>
                  <a:close/>
                </a:path>
              </a:pathLst>
            </a:custGeom>
            <a:blipFill>
              <a:blip r:embed="rId4"/>
              <a:stretch>
                <a:fillRect/>
              </a:stretch>
            </a:blipFill>
          </p:spPr>
        </p:sp>
      </p:grpSp>
      <p:grpSp>
        <p:nvGrpSpPr>
          <p:cNvPr id="7" name="Group 7"/>
          <p:cNvGrpSpPr/>
          <p:nvPr/>
        </p:nvGrpSpPr>
        <p:grpSpPr>
          <a:xfrm>
            <a:off x="653817" y="1978820"/>
            <a:ext cx="17244048" cy="7649726"/>
            <a:chOff x="0" y="0"/>
            <a:chExt cx="18830658" cy="8741296"/>
          </a:xfrm>
        </p:grpSpPr>
        <p:sp>
          <p:nvSpPr>
            <p:cNvPr id="8" name="Freeform 8"/>
            <p:cNvSpPr/>
            <p:nvPr/>
          </p:nvSpPr>
          <p:spPr>
            <a:xfrm>
              <a:off x="0" y="0"/>
              <a:ext cx="18830646" cy="8741283"/>
            </a:xfrm>
            <a:custGeom>
              <a:avLst/>
              <a:gdLst/>
              <a:ahLst/>
              <a:cxnLst/>
              <a:rect l="l" t="t" r="r" b="b"/>
              <a:pathLst>
                <a:path w="18830646" h="8741283">
                  <a:moveTo>
                    <a:pt x="0" y="0"/>
                  </a:moveTo>
                  <a:lnTo>
                    <a:pt x="18830646" y="0"/>
                  </a:lnTo>
                  <a:lnTo>
                    <a:pt x="18830646" y="8741283"/>
                  </a:lnTo>
                  <a:lnTo>
                    <a:pt x="0" y="8741283"/>
                  </a:lnTo>
                  <a:lnTo>
                    <a:pt x="0" y="0"/>
                  </a:lnTo>
                  <a:close/>
                </a:path>
              </a:pathLst>
            </a:custGeom>
            <a:blipFill>
              <a:blip r:embed="rId5"/>
              <a:stretch>
                <a:fillRect t="-2092" b="-2092"/>
              </a:stretch>
            </a:blipFill>
          </p:spPr>
        </p:sp>
      </p:grpSp>
      <p:sp>
        <p:nvSpPr>
          <p:cNvPr id="9" name="TextBox 9"/>
          <p:cNvSpPr txBox="1"/>
          <p:nvPr/>
        </p:nvSpPr>
        <p:spPr>
          <a:xfrm>
            <a:off x="16229667" y="154953"/>
            <a:ext cx="1668199" cy="716442"/>
          </a:xfrm>
          <a:prstGeom prst="rect">
            <a:avLst/>
          </a:prstGeom>
        </p:spPr>
        <p:txBody>
          <a:bodyPr lIns="0" tIns="0" rIns="0" bIns="0" rtlCol="0" anchor="t">
            <a:spAutoFit/>
          </a:bodyPr>
          <a:lstStyle/>
          <a:p>
            <a:pPr algn="l">
              <a:lnSpc>
                <a:spcPts val="4479"/>
              </a:lnSpc>
            </a:pPr>
            <a:r>
              <a:rPr lang="en-US" sz="3199" b="1">
                <a:solidFill>
                  <a:srgbClr val="303642"/>
                </a:solidFill>
                <a:latin typeface="Poppins Bold"/>
                <a:ea typeface="Poppins Bold"/>
                <a:cs typeface="Poppins Bold"/>
                <a:sym typeface="Poppins Bold"/>
              </a:rPr>
              <a:t>OSCode</a:t>
            </a:r>
          </a:p>
        </p:txBody>
      </p:sp>
      <p:sp>
        <p:nvSpPr>
          <p:cNvPr id="10" name="TextBox 10"/>
          <p:cNvSpPr txBox="1"/>
          <p:nvPr/>
        </p:nvSpPr>
        <p:spPr>
          <a:xfrm>
            <a:off x="16311991" y="634375"/>
            <a:ext cx="1585874" cy="343062"/>
          </a:xfrm>
          <a:prstGeom prst="rect">
            <a:avLst/>
          </a:prstGeom>
        </p:spPr>
        <p:txBody>
          <a:bodyPr lIns="0" tIns="0" rIns="0" bIns="0" rtlCol="0" anchor="t">
            <a:spAutoFit/>
          </a:bodyPr>
          <a:lstStyle/>
          <a:p>
            <a:pPr algn="r">
              <a:lnSpc>
                <a:spcPts val="1958"/>
              </a:lnSpc>
            </a:pPr>
            <a:r>
              <a:rPr lang="en-US" sz="1398">
                <a:solidFill>
                  <a:srgbClr val="303642"/>
                </a:solidFill>
                <a:latin typeface="Poppins"/>
                <a:ea typeface="Poppins"/>
                <a:cs typeface="Poppins"/>
                <a:sym typeface="Poppins"/>
              </a:rPr>
              <a:t>by community</a:t>
            </a:r>
            <a:r>
              <a:rPr lang="en-US" sz="1398" b="1">
                <a:solidFill>
                  <a:srgbClr val="00AEEF"/>
                </a:solidFill>
                <a:latin typeface="Poppins Bold"/>
                <a:ea typeface="Poppins Bold"/>
                <a:cs typeface="Poppins Bold"/>
                <a:sym typeface="Poppins Bold"/>
              </a:rPr>
              <a:t>X</a:t>
            </a:r>
          </a:p>
        </p:txBody>
      </p:sp>
      <p:sp>
        <p:nvSpPr>
          <p:cNvPr id="11" name="TextBox 11"/>
          <p:cNvSpPr txBox="1"/>
          <p:nvPr/>
        </p:nvSpPr>
        <p:spPr>
          <a:xfrm>
            <a:off x="762000" y="410060"/>
            <a:ext cx="8648700" cy="791692"/>
          </a:xfrm>
          <a:prstGeom prst="rect">
            <a:avLst/>
          </a:prstGeom>
        </p:spPr>
        <p:txBody>
          <a:bodyPr wrap="square" lIns="0" tIns="0" rIns="0" bIns="0" rtlCol="0" anchor="t">
            <a:spAutoFit/>
          </a:bodyPr>
          <a:lstStyle/>
          <a:p>
            <a:pPr algn="l">
              <a:lnSpc>
                <a:spcPts val="6719"/>
              </a:lnSpc>
            </a:pPr>
            <a:r>
              <a:rPr lang="en-US" sz="4800" b="1" dirty="0">
                <a:solidFill>
                  <a:srgbClr val="662924"/>
                </a:solidFill>
                <a:latin typeface="Algerian" panose="04020705040A02060702" pitchFamily="82" charset="0"/>
                <a:ea typeface="Inter Bold"/>
                <a:cs typeface="Inter Bold"/>
                <a:sym typeface="Inter Bold"/>
              </a:rPr>
              <a:t>ARCHITECTURE DIAGRAM</a:t>
            </a:r>
          </a:p>
        </p:txBody>
      </p:sp>
      <p:sp>
        <p:nvSpPr>
          <p:cNvPr id="12" name="TextBox 12"/>
          <p:cNvSpPr txBox="1"/>
          <p:nvPr/>
        </p:nvSpPr>
        <p:spPr>
          <a:xfrm>
            <a:off x="764177" y="1351133"/>
            <a:ext cx="16230600" cy="376129"/>
          </a:xfrm>
          <a:prstGeom prst="rect">
            <a:avLst/>
          </a:prstGeom>
        </p:spPr>
        <p:txBody>
          <a:bodyPr lIns="0" tIns="0" rIns="0" bIns="0" rtlCol="0" anchor="t">
            <a:spAutoFit/>
          </a:bodyPr>
          <a:lstStyle/>
          <a:p>
            <a:pPr algn="l">
              <a:lnSpc>
                <a:spcPts val="3358"/>
              </a:lnSpc>
            </a:pPr>
            <a:r>
              <a:rPr lang="en-US" sz="1600" b="1" dirty="0">
                <a:solidFill>
                  <a:srgbClr val="303642"/>
                </a:solidFill>
                <a:latin typeface="Inter"/>
                <a:ea typeface="Inter"/>
                <a:cs typeface="Inter"/>
                <a:sym typeface="Inter"/>
              </a:rPr>
              <a:t>End-to-end flow: Voice input → Bhashini language layer → RAG + Triage reasoning → grounded LLM answer → voice/SMS response back to the citizen.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126793" y="300164"/>
            <a:ext cx="10781919" cy="10781919"/>
            <a:chOff x="0" y="0"/>
            <a:chExt cx="14375892" cy="14375892"/>
          </a:xfrm>
        </p:grpSpPr>
        <p:sp>
          <p:nvSpPr>
            <p:cNvPr id="3" name="Freeform 3"/>
            <p:cNvSpPr/>
            <p:nvPr/>
          </p:nvSpPr>
          <p:spPr>
            <a:xfrm>
              <a:off x="0" y="0"/>
              <a:ext cx="14375892" cy="14375892"/>
            </a:xfrm>
            <a:custGeom>
              <a:avLst/>
              <a:gdLst/>
              <a:ahLst/>
              <a:cxnLst/>
              <a:rect l="l" t="t" r="r" b="b"/>
              <a:pathLst>
                <a:path w="14375892" h="14375892">
                  <a:moveTo>
                    <a:pt x="0" y="0"/>
                  </a:moveTo>
                  <a:lnTo>
                    <a:pt x="14375892" y="0"/>
                  </a:lnTo>
                  <a:lnTo>
                    <a:pt x="14375892" y="14375892"/>
                  </a:lnTo>
                  <a:lnTo>
                    <a:pt x="0" y="14375892"/>
                  </a:lnTo>
                  <a:lnTo>
                    <a:pt x="0" y="0"/>
                  </a:lnTo>
                  <a:close/>
                </a:path>
              </a:pathLst>
            </a:custGeom>
            <a:blipFill>
              <a:blip r:embed="rId2">
                <a:alphaModFix amt="7999"/>
              </a:blip>
              <a:stretch>
                <a:fillRect/>
              </a:stretch>
            </a:blipFill>
          </p:spPr>
        </p:sp>
      </p:grpSp>
      <p:sp>
        <p:nvSpPr>
          <p:cNvPr id="4" name="Freeform 4"/>
          <p:cNvSpPr/>
          <p:nvPr/>
        </p:nvSpPr>
        <p:spPr>
          <a:xfrm>
            <a:off x="0" y="9985972"/>
            <a:ext cx="18288000" cy="301028"/>
          </a:xfrm>
          <a:custGeom>
            <a:avLst/>
            <a:gdLst/>
            <a:ahLst/>
            <a:cxnLst/>
            <a:rect l="l" t="t" r="r" b="b"/>
            <a:pathLst>
              <a:path w="18288000" h="301028">
                <a:moveTo>
                  <a:pt x="0" y="0"/>
                </a:moveTo>
                <a:lnTo>
                  <a:pt x="18288000" y="0"/>
                </a:lnTo>
                <a:lnTo>
                  <a:pt x="18288000" y="301028"/>
                </a:lnTo>
                <a:lnTo>
                  <a:pt x="0" y="301028"/>
                </a:lnTo>
                <a:lnTo>
                  <a:pt x="0" y="0"/>
                </a:lnTo>
                <a:close/>
              </a:path>
            </a:pathLst>
          </a:custGeom>
          <a:blipFill>
            <a:blip>
              <a:extLst>
                <a:ext uri="{96DAC541-7B7A-43D3-8B79-37D633B846F1}">
                  <asvg:svgBlip xmlns:asvg="http://schemas.microsoft.com/office/drawing/2016/SVG/main" r:embed="rId3"/>
                </a:ext>
              </a:extLst>
            </a:blip>
            <a:stretch>
              <a:fillRect t="-626" b="-626"/>
            </a:stretch>
          </a:blipFill>
        </p:spPr>
      </p:sp>
      <p:grpSp>
        <p:nvGrpSpPr>
          <p:cNvPr id="5" name="Group 5"/>
          <p:cNvGrpSpPr/>
          <p:nvPr/>
        </p:nvGrpSpPr>
        <p:grpSpPr>
          <a:xfrm>
            <a:off x="15501499" y="325564"/>
            <a:ext cx="610934" cy="610934"/>
            <a:chOff x="0" y="0"/>
            <a:chExt cx="814578" cy="814578"/>
          </a:xfrm>
        </p:grpSpPr>
        <p:sp>
          <p:nvSpPr>
            <p:cNvPr id="6" name="Freeform 6"/>
            <p:cNvSpPr/>
            <p:nvPr/>
          </p:nvSpPr>
          <p:spPr>
            <a:xfrm>
              <a:off x="0" y="0"/>
              <a:ext cx="814578" cy="814578"/>
            </a:xfrm>
            <a:custGeom>
              <a:avLst/>
              <a:gdLst/>
              <a:ahLst/>
              <a:cxnLst/>
              <a:rect l="l" t="t" r="r" b="b"/>
              <a:pathLst>
                <a:path w="814578" h="814578">
                  <a:moveTo>
                    <a:pt x="814578" y="407289"/>
                  </a:moveTo>
                  <a:cubicBezTo>
                    <a:pt x="814578" y="632206"/>
                    <a:pt x="632206" y="814578"/>
                    <a:pt x="407289" y="814578"/>
                  </a:cubicBezTo>
                  <a:cubicBezTo>
                    <a:pt x="182372" y="814578"/>
                    <a:pt x="0" y="632206"/>
                    <a:pt x="0" y="407289"/>
                  </a:cubicBezTo>
                  <a:cubicBezTo>
                    <a:pt x="0" y="182372"/>
                    <a:pt x="182372" y="0"/>
                    <a:pt x="407289" y="0"/>
                  </a:cubicBezTo>
                  <a:cubicBezTo>
                    <a:pt x="632206" y="0"/>
                    <a:pt x="814578" y="182372"/>
                    <a:pt x="814578" y="407289"/>
                  </a:cubicBezTo>
                  <a:close/>
                </a:path>
              </a:pathLst>
            </a:custGeom>
            <a:blipFill>
              <a:blip r:embed="rId4"/>
              <a:stretch>
                <a:fillRect/>
              </a:stretch>
            </a:blipFill>
          </p:spPr>
        </p:sp>
      </p:grpSp>
      <p:sp>
        <p:nvSpPr>
          <p:cNvPr id="7" name="TextBox 7"/>
          <p:cNvSpPr txBox="1"/>
          <p:nvPr/>
        </p:nvSpPr>
        <p:spPr>
          <a:xfrm>
            <a:off x="16229667" y="154953"/>
            <a:ext cx="1668199" cy="716442"/>
          </a:xfrm>
          <a:prstGeom prst="rect">
            <a:avLst/>
          </a:prstGeom>
        </p:spPr>
        <p:txBody>
          <a:bodyPr lIns="0" tIns="0" rIns="0" bIns="0" rtlCol="0" anchor="t">
            <a:spAutoFit/>
          </a:bodyPr>
          <a:lstStyle/>
          <a:p>
            <a:pPr algn="l">
              <a:lnSpc>
                <a:spcPts val="4479"/>
              </a:lnSpc>
            </a:pPr>
            <a:r>
              <a:rPr lang="en-US" sz="3199" b="1">
                <a:solidFill>
                  <a:srgbClr val="303642"/>
                </a:solidFill>
                <a:latin typeface="Poppins Bold"/>
                <a:ea typeface="Poppins Bold"/>
                <a:cs typeface="Poppins Bold"/>
                <a:sym typeface="Poppins Bold"/>
              </a:rPr>
              <a:t>OSCode</a:t>
            </a:r>
          </a:p>
        </p:txBody>
      </p:sp>
      <p:sp>
        <p:nvSpPr>
          <p:cNvPr id="8" name="TextBox 8"/>
          <p:cNvSpPr txBox="1"/>
          <p:nvPr/>
        </p:nvSpPr>
        <p:spPr>
          <a:xfrm>
            <a:off x="16311991" y="634375"/>
            <a:ext cx="1585874" cy="343062"/>
          </a:xfrm>
          <a:prstGeom prst="rect">
            <a:avLst/>
          </a:prstGeom>
        </p:spPr>
        <p:txBody>
          <a:bodyPr lIns="0" tIns="0" rIns="0" bIns="0" rtlCol="0" anchor="t">
            <a:spAutoFit/>
          </a:bodyPr>
          <a:lstStyle/>
          <a:p>
            <a:pPr algn="r">
              <a:lnSpc>
                <a:spcPts val="1958"/>
              </a:lnSpc>
            </a:pPr>
            <a:r>
              <a:rPr lang="en-US" sz="1398">
                <a:solidFill>
                  <a:srgbClr val="303642"/>
                </a:solidFill>
                <a:latin typeface="Poppins"/>
                <a:ea typeface="Poppins"/>
                <a:cs typeface="Poppins"/>
                <a:sym typeface="Poppins"/>
              </a:rPr>
              <a:t>by community</a:t>
            </a:r>
            <a:r>
              <a:rPr lang="en-US" sz="1398" b="1">
                <a:solidFill>
                  <a:srgbClr val="00AEEF"/>
                </a:solidFill>
                <a:latin typeface="Poppins Bold"/>
                <a:ea typeface="Poppins Bold"/>
                <a:cs typeface="Poppins Bold"/>
                <a:sym typeface="Poppins Bold"/>
              </a:rPr>
              <a:t>X</a:t>
            </a:r>
          </a:p>
        </p:txBody>
      </p:sp>
      <p:sp>
        <p:nvSpPr>
          <p:cNvPr id="9" name="TextBox 9"/>
          <p:cNvSpPr txBox="1"/>
          <p:nvPr/>
        </p:nvSpPr>
        <p:spPr>
          <a:xfrm>
            <a:off x="6420813" y="3243670"/>
            <a:ext cx="5446384" cy="986509"/>
          </a:xfrm>
          <a:prstGeom prst="rect">
            <a:avLst/>
          </a:prstGeom>
        </p:spPr>
        <p:txBody>
          <a:bodyPr lIns="0" tIns="0" rIns="0" bIns="0" rtlCol="0" anchor="t">
            <a:spAutoFit/>
          </a:bodyPr>
          <a:lstStyle/>
          <a:p>
            <a:pPr algn="ctr">
              <a:lnSpc>
                <a:spcPts val="8161"/>
              </a:lnSpc>
            </a:pPr>
            <a:endParaRPr lang="en-US" sz="5830" dirty="0">
              <a:solidFill>
                <a:srgbClr val="000000"/>
              </a:solidFill>
              <a:latin typeface="Inter"/>
              <a:ea typeface="Inter"/>
              <a:cs typeface="Inter"/>
              <a:sym typeface="Inter"/>
            </a:endParaRPr>
          </a:p>
        </p:txBody>
      </p:sp>
      <p:sp>
        <p:nvSpPr>
          <p:cNvPr id="12" name="TextBox 11">
            <a:extLst>
              <a:ext uri="{FF2B5EF4-FFF2-40B4-BE49-F238E27FC236}">
                <a16:creationId xmlns:a16="http://schemas.microsoft.com/office/drawing/2014/main" id="{8E053AC9-182D-4121-676F-383F51E9F81E}"/>
              </a:ext>
            </a:extLst>
          </p:cNvPr>
          <p:cNvSpPr txBox="1"/>
          <p:nvPr/>
        </p:nvSpPr>
        <p:spPr>
          <a:xfrm>
            <a:off x="736600" y="2019300"/>
            <a:ext cx="12506949" cy="5940088"/>
          </a:xfrm>
          <a:prstGeom prst="rect">
            <a:avLst/>
          </a:prstGeom>
          <a:noFill/>
        </p:spPr>
        <p:txBody>
          <a:bodyPr wrap="square">
            <a:spAutoFit/>
          </a:bodyPr>
          <a:lstStyle/>
          <a:p>
            <a:pPr marL="342900" indent="-342900">
              <a:buAutoNum type="arabicPeriod"/>
            </a:pPr>
            <a:r>
              <a:rPr lang="en-IN" sz="2000" b="1" dirty="0"/>
              <a:t>National Health Authority (NHA), Government of India    Ayushman Bharat Digital Mission (ABDM</a:t>
            </a:r>
            <a:r>
              <a:rPr lang="en-IN" sz="2000" dirty="0"/>
              <a:t>) ⁠￼ </a:t>
            </a:r>
            <a:r>
              <a:rPr lang="en-IN" sz="2000" b="1" dirty="0">
                <a:hlinkClick r:id="rId5"/>
              </a:rPr>
              <a:t>https://abdm.gov.in/abdm</a:t>
            </a:r>
            <a:r>
              <a:rPr lang="en-IN" sz="2000" b="1" dirty="0"/>
              <a:t> </a:t>
            </a:r>
          </a:p>
          <a:p>
            <a:pPr marL="342900" indent="-342900">
              <a:buAutoNum type="arabicPeriod"/>
            </a:pPr>
            <a:endParaRPr lang="en-IN" sz="2000" b="1" dirty="0"/>
          </a:p>
          <a:p>
            <a:pPr marL="342900" indent="-342900">
              <a:buAutoNum type="arabicPeriod"/>
            </a:pPr>
            <a:r>
              <a:rPr lang="en-IN" sz="2000" b="1" dirty="0"/>
              <a:t>National Health Authority (NHA), Government of India    Health Facility Registry (HFR)     </a:t>
            </a:r>
            <a:r>
              <a:rPr lang="en-IN" sz="2000" b="1" dirty="0">
                <a:hlinkClick r:id="rId6"/>
              </a:rPr>
              <a:t>https://abdm.gov.in/health-facilities</a:t>
            </a:r>
            <a:r>
              <a:rPr lang="en-IN" sz="2000" b="1" dirty="0"/>
              <a:t> </a:t>
            </a:r>
          </a:p>
          <a:p>
            <a:pPr marL="342900" indent="-342900">
              <a:buAutoNum type="arabicPeriod"/>
            </a:pPr>
            <a:endParaRPr lang="en-IN" sz="2000" dirty="0"/>
          </a:p>
          <a:p>
            <a:pPr marL="342900" indent="-342900">
              <a:buAutoNum type="arabicPeriod"/>
            </a:pPr>
            <a:r>
              <a:rPr lang="en-IN" sz="2000" b="1" dirty="0"/>
              <a:t>National Health Authority (NHA), Government of India    ABDM — Multilingual Support &amp; Citizen Services    </a:t>
            </a:r>
            <a:r>
              <a:rPr lang="en-IN" sz="2000" b="1" dirty="0">
                <a:hlinkClick r:id="rId7"/>
              </a:rPr>
              <a:t>https://abdm.gov.in/call-center</a:t>
            </a:r>
            <a:endParaRPr lang="en-IN" sz="2000" b="1" dirty="0"/>
          </a:p>
          <a:p>
            <a:pPr marL="342900" indent="-342900">
              <a:buAutoNum type="arabicPeriod"/>
            </a:pPr>
            <a:endParaRPr lang="en-IN" sz="2000" b="1" dirty="0"/>
          </a:p>
          <a:p>
            <a:pPr marL="342900" indent="-342900">
              <a:buAutoNum type="arabicPeriod"/>
            </a:pPr>
            <a:r>
              <a:rPr lang="en-IN" sz="2000" b="1" dirty="0"/>
              <a:t>⁠National Health Mission (NHM), Ministry of Health &amp; Family Welfare, Government of India    Accredited Social Health Activist (ASHA) Programme    </a:t>
            </a:r>
            <a:r>
              <a:rPr lang="en-IN" sz="2000" b="1" dirty="0">
                <a:hlinkClick r:id="rId8"/>
              </a:rPr>
              <a:t>https://nhm.gov.in/nammamihaan/index1.php?lang=1&amp;level=1&amp;lid=226&amp;sublinkid=150</a:t>
            </a:r>
            <a:endParaRPr lang="en-IN" sz="2000" b="1" dirty="0"/>
          </a:p>
          <a:p>
            <a:pPr marL="342900" indent="-342900">
              <a:buAutoNum type="arabicPeriod"/>
            </a:pPr>
            <a:endParaRPr lang="en-IN" sz="2000" b="1" dirty="0"/>
          </a:p>
          <a:p>
            <a:r>
              <a:rPr lang="en-IN" sz="2000" b="1" dirty="0"/>
              <a:t>⁠5. World Health Organization (WHO)    Interagency Integrated Triage Tool</a:t>
            </a:r>
          </a:p>
          <a:p>
            <a:r>
              <a:rPr lang="en-IN" sz="2000" b="1" dirty="0"/>
              <a:t>          </a:t>
            </a:r>
            <a:r>
              <a:rPr lang="en-IN" sz="2000" b="1" dirty="0">
                <a:hlinkClick r:id="rId9"/>
              </a:rPr>
              <a:t>https://www.who.int/tools/triage</a:t>
            </a:r>
            <a:r>
              <a:rPr lang="en-IN" sz="2000" b="1" dirty="0"/>
              <a:t> ⁠￼</a:t>
            </a:r>
          </a:p>
          <a:p>
            <a:endParaRPr lang="en-IN" sz="2000" b="1" dirty="0"/>
          </a:p>
          <a:p>
            <a:r>
              <a:rPr lang="en-IN" sz="2000" b="1" dirty="0"/>
              <a:t>6. National Health Authority (NHA), Government of India ABDM — Health Facility Registry</a:t>
            </a:r>
          </a:p>
          <a:p>
            <a:r>
              <a:rPr lang="en-IN" sz="2000" b="1" dirty="0"/>
              <a:t>     &amp; Digital  Health Ecosystem </a:t>
            </a:r>
            <a:r>
              <a:rPr lang="en-IN" sz="2000" b="1" dirty="0">
                <a:hlinkClick r:id="rId10"/>
              </a:rPr>
              <a:t>https://abdm.gov.in/ebook</a:t>
            </a:r>
            <a:r>
              <a:rPr lang="en-IN" sz="2000" b="1" dirty="0"/>
              <a:t>   </a:t>
            </a:r>
          </a:p>
          <a:p>
            <a:r>
              <a:rPr lang="en-IN" sz="2000" b="1" dirty="0"/>
              <a:t>⁠￼</a:t>
            </a:r>
          </a:p>
        </p:txBody>
      </p:sp>
      <p:sp>
        <p:nvSpPr>
          <p:cNvPr id="14" name="TextBox 13">
            <a:extLst>
              <a:ext uri="{FF2B5EF4-FFF2-40B4-BE49-F238E27FC236}">
                <a16:creationId xmlns:a16="http://schemas.microsoft.com/office/drawing/2014/main" id="{AD100A2E-F19E-8F82-D5D7-488A50B66636}"/>
              </a:ext>
            </a:extLst>
          </p:cNvPr>
          <p:cNvSpPr txBox="1"/>
          <p:nvPr/>
        </p:nvSpPr>
        <p:spPr>
          <a:xfrm>
            <a:off x="762000" y="548957"/>
            <a:ext cx="9582150" cy="769441"/>
          </a:xfrm>
          <a:prstGeom prst="rect">
            <a:avLst/>
          </a:prstGeom>
          <a:noFill/>
        </p:spPr>
        <p:txBody>
          <a:bodyPr wrap="square">
            <a:spAutoFit/>
          </a:bodyPr>
          <a:lstStyle/>
          <a:p>
            <a:r>
              <a:rPr lang="en-IN" sz="4400" b="1" dirty="0">
                <a:solidFill>
                  <a:schemeClr val="accent3">
                    <a:lumMod val="50000"/>
                  </a:schemeClr>
                </a:solidFill>
                <a:latin typeface="Algerian" panose="04020705040A02060702" pitchFamily="82" charset="0"/>
              </a:rPr>
              <a:t>RESEARCH AND RESOURCES</a:t>
            </a:r>
          </a:p>
        </p:txBody>
      </p:sp>
      <p:sp>
        <p:nvSpPr>
          <p:cNvPr id="16" name="TextBox 15">
            <a:extLst>
              <a:ext uri="{FF2B5EF4-FFF2-40B4-BE49-F238E27FC236}">
                <a16:creationId xmlns:a16="http://schemas.microsoft.com/office/drawing/2014/main" id="{FA460211-3DF9-A08E-925C-87E7E8BE48B2}"/>
              </a:ext>
            </a:extLst>
          </p:cNvPr>
          <p:cNvSpPr txBox="1"/>
          <p:nvPr/>
        </p:nvSpPr>
        <p:spPr>
          <a:xfrm>
            <a:off x="5105400" y="9006223"/>
            <a:ext cx="12506949" cy="369332"/>
          </a:xfrm>
          <a:prstGeom prst="rect">
            <a:avLst/>
          </a:prstGeom>
          <a:noFill/>
        </p:spPr>
        <p:txBody>
          <a:bodyPr wrap="square">
            <a:spAutoFit/>
          </a:bodyPr>
          <a:lstStyle/>
          <a:p>
            <a:r>
              <a:rPr lang="en-IN" b="1" dirty="0">
                <a:solidFill>
                  <a:schemeClr val="accent3">
                    <a:lumMod val="50000"/>
                  </a:schemeClr>
                </a:solidFill>
                <a:highlight>
                  <a:srgbClr val="FFFF00"/>
                </a:highlight>
              </a:rPr>
              <a:t>"SPEAK IN YOUR DIALECT, SECURE YOUR HEALTH."</a:t>
            </a:r>
          </a:p>
        </p:txBody>
      </p:sp>
    </p:spTree>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docProps/app.xml><?xml version="1.0" encoding="utf-8"?>
<Properties xmlns="http://schemas.openxmlformats.org/officeDocument/2006/extended-properties" xmlns:vt="http://schemas.openxmlformats.org/officeDocument/2006/docPropsVTypes">
  <Template>Bjorn</Template>
  <TotalTime>240</TotalTime>
  <Words>1069</Words>
  <Application>Microsoft Office PowerPoint</Application>
  <PresentationFormat>Custom</PresentationFormat>
  <Paragraphs>80</Paragraphs>
  <Slides>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Inter</vt:lpstr>
      <vt:lpstr>Poppins Bold</vt:lpstr>
      <vt:lpstr>Arial Rounded MT Bold</vt:lpstr>
      <vt:lpstr>System Font Regular</vt:lpstr>
      <vt:lpstr>Neue Haas Grotesk Text Pro</vt:lpstr>
      <vt:lpstr>Poppins</vt:lpstr>
      <vt:lpstr>Google Sans Text</vt:lpstr>
      <vt:lpstr>Inter Bold</vt:lpstr>
      <vt:lpstr>Algerian</vt:lpstr>
      <vt:lpstr>Arial</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OSCode - Decode SIH 2026 - Ideation PPT Template.pptx</dc:title>
  <dc:creator>SRIHARINI</dc:creator>
  <cp:lastModifiedBy>Srii .</cp:lastModifiedBy>
  <cp:revision>2</cp:revision>
  <dcterms:created xsi:type="dcterms:W3CDTF">2006-08-16T00:00:00Z</dcterms:created>
  <dcterms:modified xsi:type="dcterms:W3CDTF">2026-08-12T16:55:57Z</dcterms:modified>
  <dc:identifier>DAHSEduaOM0</dc:identifier>
</cp:coreProperties>
</file>