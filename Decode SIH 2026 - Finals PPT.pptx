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5" r:id="rId3"/>
    <p:sldId id="266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Algerian" panose="04020705040A02060702" pitchFamily="82" charset="0"/>
      <p:regular r:id="rId10"/>
    </p:embeddedFont>
    <p:embeddedFont>
      <p:font typeface="Arial Rounded MT Bold" panose="020F0704030504030204" pitchFamily="34" charset="0"/>
      <p:regular r:id="rId11"/>
    </p:embeddedFont>
    <p:embeddedFont>
      <p:font typeface="Inter" panose="020B0604020202020204" charset="0"/>
      <p:regular r:id="rId12"/>
    </p:embeddedFont>
    <p:embeddedFont>
      <p:font typeface="Inter Bold" panose="020B0604020202020204" charset="0"/>
      <p:regular r:id="rId13"/>
    </p:embeddedFont>
    <p:embeddedFont>
      <p:font typeface="Lato" panose="020F0502020204030203" pitchFamily="34" charset="0"/>
      <p:regular r:id="rId14"/>
      <p:bold r:id="rId15"/>
      <p:italic r:id="rId16"/>
      <p:boldItalic r:id="rId17"/>
    </p:embeddedFont>
    <p:embeddedFont>
      <p:font typeface="Poppins" panose="00000500000000000000" pitchFamily="2" charset="0"/>
      <p:regular r:id="rId18"/>
      <p:bold r:id="rId19"/>
      <p:italic r:id="rId20"/>
      <p:boldItalic r:id="rId21"/>
    </p:embeddedFont>
    <p:embeddedFont>
      <p:font typeface="Poppins Bold" panose="00000800000000000000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22" autoAdjust="0"/>
  </p:normalViewPr>
  <p:slideViewPr>
    <p:cSldViewPr>
      <p:cViewPr varScale="1">
        <p:scale>
          <a:sx n="62" d="100"/>
          <a:sy n="62" d="100"/>
        </p:scale>
        <p:origin x="34" y="11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presProps" Target="pres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Relationship Id="rId22" Type="http://schemas.openxmlformats.org/officeDocument/2006/relationships/font" Target="fonts/font13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5#2">
  <dgm:title val=""/>
  <dgm:desc val=""/>
  <dgm:catLst>
    <dgm:cat type="accent6" pri="11500"/>
  </dgm:catLst>
  <dgm:styleLbl name="node0">
    <dgm:fillClrLst meth="cycle"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alpha val="90000"/>
      </a:schemeClr>
      <a:schemeClr val="accent6">
        <a:alpha val="5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/>
    <dgm:txEffectClrLst/>
  </dgm:styleLbl>
  <dgm:styleLbl name="node1">
    <dgm:fillClrLst>
      <a:schemeClr val="accent6">
        <a:alpha val="9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6">
        <a:shade val="9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  <a:alpha val="90000"/>
      </a:schemeClr>
      <a:schemeClr val="accent6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6">
        <a:alpha val="90000"/>
        <a:tint val="40000"/>
      </a:schemeClr>
      <a:schemeClr val="accent6">
        <a:alpha val="5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F6479AA-476B-45BB-A6A4-77149BB59876}" type="doc">
      <dgm:prSet loTypeId="urn:microsoft.com/office/officeart/2005/8/layout/hChevron3" loCatId="process" qsTypeId="urn:microsoft.com/office/officeart/2005/8/quickstyle/simple1#3" qsCatId="simple" csTypeId="urn:microsoft.com/office/officeart/2005/8/colors/accent6_5#2" csCatId="accent6" phldr="1"/>
      <dgm:spPr/>
      <dgm:t>
        <a:bodyPr/>
        <a:lstStyle/>
        <a:p>
          <a:endParaRPr lang="en-IN"/>
        </a:p>
      </dgm:t>
    </dgm:pt>
    <dgm:pt modelId="{D67691AB-46B3-4572-B695-FA09B9E3D436}">
      <dgm:prSet phldrT="[Text]" custT="1"/>
      <dgm:spPr/>
      <dgm:t>
        <a:bodyPr/>
        <a:lstStyle/>
        <a:p>
          <a:r>
            <a:rPr lang="en-US" sz="1200" b="1" dirty="0">
              <a:solidFill>
                <a:schemeClr val="tx1"/>
              </a:solidFill>
            </a:rPr>
            <a:t>Speak</a:t>
          </a:r>
          <a:endParaRPr lang="en-IN" sz="1200" b="1" dirty="0">
            <a:solidFill>
              <a:schemeClr val="tx1"/>
            </a:solidFill>
          </a:endParaRPr>
        </a:p>
      </dgm:t>
    </dgm:pt>
    <dgm:pt modelId="{7DBC3C81-82CE-4125-9A23-1B2A4D141098}" type="parTrans" cxnId="{9AFA8BDF-A4E1-4581-B643-434C88D0276E}">
      <dgm:prSet/>
      <dgm:spPr/>
      <dgm:t>
        <a:bodyPr/>
        <a:lstStyle/>
        <a:p>
          <a:endParaRPr lang="en-IN" sz="1200"/>
        </a:p>
      </dgm:t>
    </dgm:pt>
    <dgm:pt modelId="{2A27F30A-5CD4-4FC4-A0E7-8DC05A24E8F4}" type="sibTrans" cxnId="{9AFA8BDF-A4E1-4581-B643-434C88D0276E}">
      <dgm:prSet/>
      <dgm:spPr/>
      <dgm:t>
        <a:bodyPr/>
        <a:lstStyle/>
        <a:p>
          <a:endParaRPr lang="en-IN" sz="1200"/>
        </a:p>
      </dgm:t>
    </dgm:pt>
    <dgm:pt modelId="{DB237C7A-9BBC-42C8-9C46-3F3B52B0238E}">
      <dgm:prSet phldrT="[Text]" custT="1"/>
      <dgm:spPr/>
      <dgm:t>
        <a:bodyPr/>
        <a:lstStyle/>
        <a:p>
          <a:r>
            <a:rPr lang="en-US" sz="1200" b="1" dirty="0">
              <a:solidFill>
                <a:schemeClr val="tx1"/>
              </a:solidFill>
            </a:rPr>
            <a:t>Understand</a:t>
          </a:r>
          <a:endParaRPr lang="en-IN" sz="1200" b="1" dirty="0">
            <a:solidFill>
              <a:schemeClr val="tx1"/>
            </a:solidFill>
          </a:endParaRPr>
        </a:p>
      </dgm:t>
    </dgm:pt>
    <dgm:pt modelId="{34D8E2B3-6ED6-45EE-AB2D-D63D6DED10EC}" type="parTrans" cxnId="{6D0C9D35-80B8-4B9F-9B27-FE87ECE168E8}">
      <dgm:prSet/>
      <dgm:spPr/>
      <dgm:t>
        <a:bodyPr/>
        <a:lstStyle/>
        <a:p>
          <a:endParaRPr lang="en-IN" sz="1200"/>
        </a:p>
      </dgm:t>
    </dgm:pt>
    <dgm:pt modelId="{360B855D-F2DD-4449-B719-2E6A8D18390C}" type="sibTrans" cxnId="{6D0C9D35-80B8-4B9F-9B27-FE87ECE168E8}">
      <dgm:prSet/>
      <dgm:spPr/>
      <dgm:t>
        <a:bodyPr/>
        <a:lstStyle/>
        <a:p>
          <a:endParaRPr lang="en-IN" sz="1200"/>
        </a:p>
      </dgm:t>
    </dgm:pt>
    <dgm:pt modelId="{DD26F6B1-0487-4A93-A581-DEF52D29D259}">
      <dgm:prSet phldrT="[Text]" custT="1"/>
      <dgm:spPr/>
      <dgm:t>
        <a:bodyPr/>
        <a:lstStyle/>
        <a:p>
          <a:r>
            <a:rPr lang="en-US" sz="1200" b="1" dirty="0">
              <a:solidFill>
                <a:schemeClr val="tx1"/>
              </a:solidFill>
            </a:rPr>
            <a:t>Get Guidance</a:t>
          </a:r>
          <a:endParaRPr lang="en-IN" sz="1200" b="1" dirty="0">
            <a:solidFill>
              <a:schemeClr val="tx1"/>
            </a:solidFill>
          </a:endParaRPr>
        </a:p>
      </dgm:t>
    </dgm:pt>
    <dgm:pt modelId="{F5F457D0-DA09-404F-A698-46E1A764D0DE}" type="parTrans" cxnId="{B4FC4C02-7531-41AC-8771-501ED013310D}">
      <dgm:prSet/>
      <dgm:spPr/>
      <dgm:t>
        <a:bodyPr/>
        <a:lstStyle/>
        <a:p>
          <a:endParaRPr lang="en-IN" sz="1200"/>
        </a:p>
      </dgm:t>
    </dgm:pt>
    <dgm:pt modelId="{1E9CE909-E803-45F5-9D78-95D07CCFEBF9}" type="sibTrans" cxnId="{B4FC4C02-7531-41AC-8771-501ED013310D}">
      <dgm:prSet/>
      <dgm:spPr/>
      <dgm:t>
        <a:bodyPr/>
        <a:lstStyle/>
        <a:p>
          <a:endParaRPr lang="en-IN" sz="1200"/>
        </a:p>
      </dgm:t>
    </dgm:pt>
    <dgm:pt modelId="{C73DC1B9-BD39-4191-8908-FC719D076072}">
      <dgm:prSet phldrT="[Text]" custT="1"/>
      <dgm:spPr/>
      <dgm:t>
        <a:bodyPr/>
        <a:lstStyle/>
        <a:p>
          <a:r>
            <a:rPr lang="en-US" sz="1200" b="1" dirty="0">
              <a:solidFill>
                <a:schemeClr val="tx1"/>
              </a:solidFill>
            </a:rPr>
            <a:t>Reach Care</a:t>
          </a:r>
          <a:endParaRPr lang="en-IN" sz="1200" b="1" dirty="0">
            <a:solidFill>
              <a:schemeClr val="tx1"/>
            </a:solidFill>
          </a:endParaRPr>
        </a:p>
      </dgm:t>
    </dgm:pt>
    <dgm:pt modelId="{EE2B1788-9847-4718-9DDC-1C0AE855CCBF}" type="parTrans" cxnId="{0B13ACCC-CFAA-4D58-AD7F-6903F0E39C1F}">
      <dgm:prSet/>
      <dgm:spPr/>
      <dgm:t>
        <a:bodyPr/>
        <a:lstStyle/>
        <a:p>
          <a:endParaRPr lang="en-IN" sz="1200"/>
        </a:p>
      </dgm:t>
    </dgm:pt>
    <dgm:pt modelId="{492D6A67-FA69-4B44-99C5-3E6EB6152FF5}" type="sibTrans" cxnId="{0B13ACCC-CFAA-4D58-AD7F-6903F0E39C1F}">
      <dgm:prSet/>
      <dgm:spPr/>
      <dgm:t>
        <a:bodyPr/>
        <a:lstStyle/>
        <a:p>
          <a:endParaRPr lang="en-IN" sz="1200"/>
        </a:p>
      </dgm:t>
    </dgm:pt>
    <dgm:pt modelId="{49434FCC-1DC2-4CF9-BD04-F50EB8F07289}" type="pres">
      <dgm:prSet presAssocID="{4F6479AA-476B-45BB-A6A4-77149BB59876}" presName="Name0" presStyleCnt="0">
        <dgm:presLayoutVars>
          <dgm:dir/>
          <dgm:resizeHandles val="exact"/>
        </dgm:presLayoutVars>
      </dgm:prSet>
      <dgm:spPr/>
    </dgm:pt>
    <dgm:pt modelId="{F415D874-0DD9-4AB0-8E90-3E71105FEB38}" type="pres">
      <dgm:prSet presAssocID="{D67691AB-46B3-4572-B695-FA09B9E3D436}" presName="parTxOnly" presStyleLbl="node1" presStyleIdx="0" presStyleCnt="4" custScaleX="89881">
        <dgm:presLayoutVars>
          <dgm:bulletEnabled val="1"/>
        </dgm:presLayoutVars>
      </dgm:prSet>
      <dgm:spPr/>
    </dgm:pt>
    <dgm:pt modelId="{CF0E44EA-0B8B-4A06-B40B-157F64D54EDB}" type="pres">
      <dgm:prSet presAssocID="{2A27F30A-5CD4-4FC4-A0E7-8DC05A24E8F4}" presName="parSpace" presStyleCnt="0"/>
      <dgm:spPr/>
    </dgm:pt>
    <dgm:pt modelId="{2B2FEB4C-AA68-4B3F-B506-9DDD116034CE}" type="pres">
      <dgm:prSet presAssocID="{DB237C7A-9BBC-42C8-9C46-3F3B52B0238E}" presName="parTxOnly" presStyleLbl="node1" presStyleIdx="1" presStyleCnt="4" custScaleX="111231">
        <dgm:presLayoutVars>
          <dgm:bulletEnabled val="1"/>
        </dgm:presLayoutVars>
      </dgm:prSet>
      <dgm:spPr/>
    </dgm:pt>
    <dgm:pt modelId="{60F3E199-C931-4B25-8262-26F76AC3C083}" type="pres">
      <dgm:prSet presAssocID="{360B855D-F2DD-4449-B719-2E6A8D18390C}" presName="parSpace" presStyleCnt="0"/>
      <dgm:spPr/>
    </dgm:pt>
    <dgm:pt modelId="{D091E1C2-8F59-4CE7-B607-590442964A14}" type="pres">
      <dgm:prSet presAssocID="{DD26F6B1-0487-4A93-A581-DEF52D29D259}" presName="parTxOnly" presStyleLbl="node1" presStyleIdx="2" presStyleCnt="4">
        <dgm:presLayoutVars>
          <dgm:bulletEnabled val="1"/>
        </dgm:presLayoutVars>
      </dgm:prSet>
      <dgm:spPr/>
    </dgm:pt>
    <dgm:pt modelId="{A76CBDE0-CF3A-485D-994F-440EF70D82BE}" type="pres">
      <dgm:prSet presAssocID="{1E9CE909-E803-45F5-9D78-95D07CCFEBF9}" presName="parSpace" presStyleCnt="0"/>
      <dgm:spPr/>
    </dgm:pt>
    <dgm:pt modelId="{A390A0EE-BBCA-48F7-A102-C0EB30783B50}" type="pres">
      <dgm:prSet presAssocID="{C73DC1B9-BD39-4191-8908-FC719D076072}" presName="parTxOnly" presStyleLbl="node1" presStyleIdx="3" presStyleCnt="4">
        <dgm:presLayoutVars>
          <dgm:bulletEnabled val="1"/>
        </dgm:presLayoutVars>
      </dgm:prSet>
      <dgm:spPr/>
    </dgm:pt>
  </dgm:ptLst>
  <dgm:cxnLst>
    <dgm:cxn modelId="{B4FC4C02-7531-41AC-8771-501ED013310D}" srcId="{4F6479AA-476B-45BB-A6A4-77149BB59876}" destId="{DD26F6B1-0487-4A93-A581-DEF52D29D259}" srcOrd="2" destOrd="0" parTransId="{F5F457D0-DA09-404F-A698-46E1A764D0DE}" sibTransId="{1E9CE909-E803-45F5-9D78-95D07CCFEBF9}"/>
    <dgm:cxn modelId="{E493F917-102A-4789-ACD3-554E17FDFB5C}" type="presOf" srcId="{D67691AB-46B3-4572-B695-FA09B9E3D436}" destId="{F415D874-0DD9-4AB0-8E90-3E71105FEB38}" srcOrd="0" destOrd="0" presId="urn:microsoft.com/office/officeart/2005/8/layout/hChevron3"/>
    <dgm:cxn modelId="{6D0C9D35-80B8-4B9F-9B27-FE87ECE168E8}" srcId="{4F6479AA-476B-45BB-A6A4-77149BB59876}" destId="{DB237C7A-9BBC-42C8-9C46-3F3B52B0238E}" srcOrd="1" destOrd="0" parTransId="{34D8E2B3-6ED6-45EE-AB2D-D63D6DED10EC}" sibTransId="{360B855D-F2DD-4449-B719-2E6A8D18390C}"/>
    <dgm:cxn modelId="{AE152364-242D-4361-AD04-6D57D6908AEB}" type="presOf" srcId="{DD26F6B1-0487-4A93-A581-DEF52D29D259}" destId="{D091E1C2-8F59-4CE7-B607-590442964A14}" srcOrd="0" destOrd="0" presId="urn:microsoft.com/office/officeart/2005/8/layout/hChevron3"/>
    <dgm:cxn modelId="{ED45A754-0E47-45AD-BFE1-FBE5480E2071}" type="presOf" srcId="{DB237C7A-9BBC-42C8-9C46-3F3B52B0238E}" destId="{2B2FEB4C-AA68-4B3F-B506-9DDD116034CE}" srcOrd="0" destOrd="0" presId="urn:microsoft.com/office/officeart/2005/8/layout/hChevron3"/>
    <dgm:cxn modelId="{F273D6B3-46EE-41B5-9FB7-CC9C8A238E72}" type="presOf" srcId="{C73DC1B9-BD39-4191-8908-FC719D076072}" destId="{A390A0EE-BBCA-48F7-A102-C0EB30783B50}" srcOrd="0" destOrd="0" presId="urn:microsoft.com/office/officeart/2005/8/layout/hChevron3"/>
    <dgm:cxn modelId="{0B13ACCC-CFAA-4D58-AD7F-6903F0E39C1F}" srcId="{4F6479AA-476B-45BB-A6A4-77149BB59876}" destId="{C73DC1B9-BD39-4191-8908-FC719D076072}" srcOrd="3" destOrd="0" parTransId="{EE2B1788-9847-4718-9DDC-1C0AE855CCBF}" sibTransId="{492D6A67-FA69-4B44-99C5-3E6EB6152FF5}"/>
    <dgm:cxn modelId="{9AFA8BDF-A4E1-4581-B643-434C88D0276E}" srcId="{4F6479AA-476B-45BB-A6A4-77149BB59876}" destId="{D67691AB-46B3-4572-B695-FA09B9E3D436}" srcOrd="0" destOrd="0" parTransId="{7DBC3C81-82CE-4125-9A23-1B2A4D141098}" sibTransId="{2A27F30A-5CD4-4FC4-A0E7-8DC05A24E8F4}"/>
    <dgm:cxn modelId="{1E69D3F9-3C8B-47A7-AFC5-67E41D15734C}" type="presOf" srcId="{4F6479AA-476B-45BB-A6A4-77149BB59876}" destId="{49434FCC-1DC2-4CF9-BD04-F50EB8F07289}" srcOrd="0" destOrd="0" presId="urn:microsoft.com/office/officeart/2005/8/layout/hChevron3"/>
    <dgm:cxn modelId="{59285064-6D2D-4C7D-8192-50AFCDA17358}" type="presParOf" srcId="{49434FCC-1DC2-4CF9-BD04-F50EB8F07289}" destId="{F415D874-0DD9-4AB0-8E90-3E71105FEB38}" srcOrd="0" destOrd="0" presId="urn:microsoft.com/office/officeart/2005/8/layout/hChevron3"/>
    <dgm:cxn modelId="{CEA80342-FAA8-4F27-AD11-CF06295F8C28}" type="presParOf" srcId="{49434FCC-1DC2-4CF9-BD04-F50EB8F07289}" destId="{CF0E44EA-0B8B-4A06-B40B-157F64D54EDB}" srcOrd="1" destOrd="0" presId="urn:microsoft.com/office/officeart/2005/8/layout/hChevron3"/>
    <dgm:cxn modelId="{FF5C1EE0-780B-495F-AD17-8845CDDACC2E}" type="presParOf" srcId="{49434FCC-1DC2-4CF9-BD04-F50EB8F07289}" destId="{2B2FEB4C-AA68-4B3F-B506-9DDD116034CE}" srcOrd="2" destOrd="0" presId="urn:microsoft.com/office/officeart/2005/8/layout/hChevron3"/>
    <dgm:cxn modelId="{3620A6F7-DF64-47DD-B59A-6BFF225065DB}" type="presParOf" srcId="{49434FCC-1DC2-4CF9-BD04-F50EB8F07289}" destId="{60F3E199-C931-4B25-8262-26F76AC3C083}" srcOrd="3" destOrd="0" presId="urn:microsoft.com/office/officeart/2005/8/layout/hChevron3"/>
    <dgm:cxn modelId="{2AE6B335-DEDB-4E1C-8528-3B64B75AFA2A}" type="presParOf" srcId="{49434FCC-1DC2-4CF9-BD04-F50EB8F07289}" destId="{D091E1C2-8F59-4CE7-B607-590442964A14}" srcOrd="4" destOrd="0" presId="urn:microsoft.com/office/officeart/2005/8/layout/hChevron3"/>
    <dgm:cxn modelId="{2EAD2AB3-44A4-44BE-AE44-2D0FF71FFE71}" type="presParOf" srcId="{49434FCC-1DC2-4CF9-BD04-F50EB8F07289}" destId="{A76CBDE0-CF3A-485D-994F-440EF70D82BE}" srcOrd="5" destOrd="0" presId="urn:microsoft.com/office/officeart/2005/8/layout/hChevron3"/>
    <dgm:cxn modelId="{A193AEB7-02FE-452C-978B-A483B64298CD}" type="presParOf" srcId="{49434FCC-1DC2-4CF9-BD04-F50EB8F07289}" destId="{A390A0EE-BBCA-48F7-A102-C0EB30783B50}" srcOrd="6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15D874-0DD9-4AB0-8E90-3E71105FEB38}">
      <dsp:nvSpPr>
        <dsp:cNvPr id="0" name=""/>
        <dsp:cNvSpPr/>
      </dsp:nvSpPr>
      <dsp:spPr>
        <a:xfrm>
          <a:off x="1667" y="350677"/>
          <a:ext cx="1354403" cy="602753"/>
        </a:xfrm>
        <a:prstGeom prst="homePlate">
          <a:avLst/>
        </a:prstGeom>
        <a:solidFill>
          <a:schemeClr val="accent6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chemeClr val="tx1"/>
              </a:solidFill>
            </a:rPr>
            <a:t>Speak</a:t>
          </a:r>
          <a:endParaRPr lang="en-IN" sz="1200" b="1" kern="1200" dirty="0">
            <a:solidFill>
              <a:schemeClr val="tx1"/>
            </a:solidFill>
          </a:endParaRPr>
        </a:p>
      </dsp:txBody>
      <dsp:txXfrm>
        <a:off x="1667" y="350677"/>
        <a:ext cx="1203715" cy="602753"/>
      </dsp:txXfrm>
    </dsp:sp>
    <dsp:sp modelId="{2B2FEB4C-AA68-4B3F-B506-9DDD116034CE}">
      <dsp:nvSpPr>
        <dsp:cNvPr id="0" name=""/>
        <dsp:cNvSpPr/>
      </dsp:nvSpPr>
      <dsp:spPr>
        <a:xfrm>
          <a:off x="1054693" y="350677"/>
          <a:ext cx="1676122" cy="602753"/>
        </a:xfrm>
        <a:prstGeom prst="chevron">
          <a:avLst/>
        </a:prstGeom>
        <a:solidFill>
          <a:schemeClr val="accent6">
            <a:alpha val="90000"/>
            <a:hueOff val="0"/>
            <a:satOff val="0"/>
            <a:lumOff val="0"/>
            <a:alphaOff val="-13333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chemeClr val="tx1"/>
              </a:solidFill>
            </a:rPr>
            <a:t>Understand</a:t>
          </a:r>
          <a:endParaRPr lang="en-IN" sz="1200" b="1" kern="1200" dirty="0">
            <a:solidFill>
              <a:schemeClr val="tx1"/>
            </a:solidFill>
          </a:endParaRPr>
        </a:p>
      </dsp:txBody>
      <dsp:txXfrm>
        <a:off x="1356070" y="350677"/>
        <a:ext cx="1073369" cy="602753"/>
      </dsp:txXfrm>
    </dsp:sp>
    <dsp:sp modelId="{D091E1C2-8F59-4CE7-B607-590442964A14}">
      <dsp:nvSpPr>
        <dsp:cNvPr id="0" name=""/>
        <dsp:cNvSpPr/>
      </dsp:nvSpPr>
      <dsp:spPr>
        <a:xfrm>
          <a:off x="2429439" y="350677"/>
          <a:ext cx="1506884" cy="602753"/>
        </a:xfrm>
        <a:prstGeom prst="chevron">
          <a:avLst/>
        </a:prstGeom>
        <a:solidFill>
          <a:schemeClr val="accent6">
            <a:alpha val="90000"/>
            <a:hueOff val="0"/>
            <a:satOff val="0"/>
            <a:lumOff val="0"/>
            <a:alphaOff val="-26667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chemeClr val="tx1"/>
              </a:solidFill>
            </a:rPr>
            <a:t>Get Guidance</a:t>
          </a:r>
          <a:endParaRPr lang="en-IN" sz="1200" b="1" kern="1200" dirty="0">
            <a:solidFill>
              <a:schemeClr val="tx1"/>
            </a:solidFill>
          </a:endParaRPr>
        </a:p>
      </dsp:txBody>
      <dsp:txXfrm>
        <a:off x="2730816" y="350677"/>
        <a:ext cx="904131" cy="602753"/>
      </dsp:txXfrm>
    </dsp:sp>
    <dsp:sp modelId="{A390A0EE-BBCA-48F7-A102-C0EB30783B50}">
      <dsp:nvSpPr>
        <dsp:cNvPr id="0" name=""/>
        <dsp:cNvSpPr/>
      </dsp:nvSpPr>
      <dsp:spPr>
        <a:xfrm>
          <a:off x="3634947" y="350677"/>
          <a:ext cx="1506884" cy="602753"/>
        </a:xfrm>
        <a:prstGeom prst="chevron">
          <a:avLst/>
        </a:prstGeom>
        <a:solidFill>
          <a:schemeClr val="accent6">
            <a:alpha val="90000"/>
            <a:hueOff val="0"/>
            <a:satOff val="0"/>
            <a:lumOff val="0"/>
            <a:alphaOff val="-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chemeClr val="tx1"/>
              </a:solidFill>
            </a:rPr>
            <a:t>Reach Care</a:t>
          </a:r>
          <a:endParaRPr lang="en-IN" sz="1200" b="1" kern="1200" dirty="0">
            <a:solidFill>
              <a:schemeClr val="tx1"/>
            </a:solidFill>
          </a:endParaRPr>
        </a:p>
      </dsp:txBody>
      <dsp:txXfrm>
        <a:off x="3936324" y="350677"/>
        <a:ext cx="904131" cy="6027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047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4.jpeg"/><Relationship Id="rId7" Type="http://schemas.openxmlformats.org/officeDocument/2006/relationships/diagramColors" Target="../diagrams/colors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10" Type="http://schemas.openxmlformats.org/officeDocument/2006/relationships/image" Target="../media/image9.png"/><Relationship Id="rId4" Type="http://schemas.openxmlformats.org/officeDocument/2006/relationships/diagramData" Target="../diagrams/data1.xml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3.jpe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jpeg"/><Relationship Id="rId4" Type="http://schemas.openxmlformats.org/officeDocument/2006/relationships/hyperlink" Target="https://youtu.be/_n6wotuiAjQ?si=YKLUo5VVCcjEat2k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260B60E6-A219-3707-E3B5-C543CC60003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5400" y="0"/>
            <a:ext cx="9372600" cy="10287001"/>
          </a:xfrm>
          <a:prstGeom prst="rect">
            <a:avLst/>
          </a:prstGeom>
        </p:spPr>
      </p:pic>
      <p:sp>
        <p:nvSpPr>
          <p:cNvPr id="2" name="Freeform 2"/>
          <p:cNvSpPr/>
          <p:nvPr/>
        </p:nvSpPr>
        <p:spPr>
          <a:xfrm>
            <a:off x="10335952" y="1754505"/>
            <a:ext cx="10781936" cy="10781936"/>
          </a:xfrm>
          <a:custGeom>
            <a:avLst/>
            <a:gdLst/>
            <a:ahLst/>
            <a:cxnLst/>
            <a:rect l="l" t="t" r="r" b="b"/>
            <a:pathLst>
              <a:path w="10781936" h="10781936">
                <a:moveTo>
                  <a:pt x="0" y="0"/>
                </a:moveTo>
                <a:lnTo>
                  <a:pt x="10781936" y="0"/>
                </a:lnTo>
                <a:lnTo>
                  <a:pt x="10781936" y="10781936"/>
                </a:lnTo>
                <a:lnTo>
                  <a:pt x="0" y="107819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999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0" name="Group 10"/>
          <p:cNvGrpSpPr/>
          <p:nvPr/>
        </p:nvGrpSpPr>
        <p:grpSpPr>
          <a:xfrm>
            <a:off x="15501503" y="325565"/>
            <a:ext cx="2396361" cy="651873"/>
            <a:chOff x="0" y="0"/>
            <a:chExt cx="3195148" cy="869164"/>
          </a:xfrm>
        </p:grpSpPr>
        <p:grpSp>
          <p:nvGrpSpPr>
            <p:cNvPr id="11" name="Group 11"/>
            <p:cNvGrpSpPr>
              <a:grpSpLocks noChangeAspect="1"/>
            </p:cNvGrpSpPr>
            <p:nvPr/>
          </p:nvGrpSpPr>
          <p:grpSpPr>
            <a:xfrm>
              <a:off x="0" y="0"/>
              <a:ext cx="814616" cy="814613"/>
              <a:chOff x="0" y="0"/>
              <a:chExt cx="6350000" cy="634997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350000" cy="6349974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74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970881" y="1118"/>
              <a:ext cx="2224267" cy="7266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sz="3199" b="1">
                  <a:solidFill>
                    <a:srgbClr val="30364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OSCode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0649" y="538752"/>
              <a:ext cx="2114500" cy="3304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960"/>
                </a:lnSpc>
              </a:pPr>
              <a:r>
                <a:rPr lang="en-US" sz="1400">
                  <a:solidFill>
                    <a:srgbClr val="303642"/>
                  </a:solidFill>
                  <a:latin typeface="Poppins"/>
                  <a:ea typeface="Poppins"/>
                  <a:cs typeface="Poppins"/>
                  <a:sym typeface="Poppins"/>
                </a:rPr>
                <a:t>by community</a:t>
              </a:r>
              <a:r>
                <a:rPr lang="en-US" sz="1400" b="1">
                  <a:solidFill>
                    <a:srgbClr val="00AEE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X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838200" y="729629"/>
            <a:ext cx="5390257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DECODE SIH 2026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77865" y="8097143"/>
            <a:ext cx="6515100" cy="1169673"/>
            <a:chOff x="-81657" y="-47625"/>
            <a:chExt cx="6737286" cy="1559564"/>
          </a:xfrm>
        </p:grpSpPr>
        <p:sp>
          <p:nvSpPr>
            <p:cNvPr id="18" name="TextBox 18"/>
            <p:cNvSpPr txBox="1"/>
            <p:nvPr/>
          </p:nvSpPr>
          <p:spPr>
            <a:xfrm>
              <a:off x="0" y="-47625"/>
              <a:ext cx="3158133" cy="5341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endParaRPr lang="en-US" sz="240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-81657" y="396420"/>
              <a:ext cx="6737286" cy="11155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Team Name : Code Alchemist</a:t>
              </a:r>
            </a:p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Problem Statement ID : 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9154E9E4-21CD-5CD9-841F-B842C64A3BAF}"/>
              </a:ext>
            </a:extLst>
          </p:cNvPr>
          <p:cNvSpPr txBox="1"/>
          <p:nvPr/>
        </p:nvSpPr>
        <p:spPr>
          <a:xfrm>
            <a:off x="806088" y="2176972"/>
            <a:ext cx="105588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+mj-lt"/>
              </a:rPr>
              <a:t>🏆 </a:t>
            </a:r>
            <a:r>
              <a:rPr lang="en-IN" sz="3200" b="1" dirty="0">
                <a:solidFill>
                  <a:schemeClr val="accent3">
                    <a:lumMod val="50000"/>
                  </a:schemeClr>
                </a:solidFill>
                <a:latin typeface="+mj-lt"/>
              </a:rPr>
              <a:t>Bharat Shakti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4BA941-A956-4914-4D2A-EA57D0279381}"/>
              </a:ext>
            </a:extLst>
          </p:cNvPr>
          <p:cNvSpPr txBox="1"/>
          <p:nvPr/>
        </p:nvSpPr>
        <p:spPr>
          <a:xfrm>
            <a:off x="1447800" y="3026103"/>
            <a:ext cx="105588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PROBLEM STATEMENT 1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31736BB-1F6F-1CDF-68E7-AAF5D0581D9A}"/>
              </a:ext>
            </a:extLst>
          </p:cNvPr>
          <p:cNvSpPr txBox="1"/>
          <p:nvPr/>
        </p:nvSpPr>
        <p:spPr>
          <a:xfrm>
            <a:off x="2004057" y="3875234"/>
            <a:ext cx="8989968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accent1">
                    <a:lumMod val="50000"/>
                  </a:schemeClr>
                </a:solidFill>
              </a:rPr>
              <a:t>AI Rural Health Assistant — Multilingual </a:t>
            </a:r>
          </a:p>
          <a:p>
            <a:r>
              <a:rPr lang="en-IN" sz="2800" b="1" dirty="0">
                <a:solidFill>
                  <a:schemeClr val="accent1">
                    <a:lumMod val="50000"/>
                  </a:schemeClr>
                </a:solidFill>
              </a:rPr>
              <a:t>Healthcare Access &amp; Government</a:t>
            </a:r>
          </a:p>
          <a:p>
            <a:r>
              <a:rPr lang="en-IN" sz="2800" b="1" dirty="0">
                <a:solidFill>
                  <a:schemeClr val="accent1">
                    <a:lumMod val="50000"/>
                  </a:schemeClr>
                </a:solidFill>
              </a:rPr>
              <a:t> Scheme Guidance</a:t>
            </a:r>
          </a:p>
          <a:p>
            <a:endParaRPr lang="en-IN" sz="3200" b="1" dirty="0">
              <a:solidFill>
                <a:schemeClr val="accent4">
                  <a:lumMod val="50000"/>
                </a:schemeClr>
              </a:solidFill>
            </a:endParaRPr>
          </a:p>
          <a:p>
            <a:endParaRPr lang="en-IN" sz="32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AC85F2F-583D-BE70-3457-DA8C99956761}"/>
              </a:ext>
            </a:extLst>
          </p:cNvPr>
          <p:cNvSpPr txBox="1"/>
          <p:nvPr/>
        </p:nvSpPr>
        <p:spPr>
          <a:xfrm>
            <a:off x="1421027" y="5860318"/>
            <a:ext cx="105588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662924"/>
                </a:solidFill>
              </a:rPr>
              <a:t>THEME</a:t>
            </a:r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 :</a:t>
            </a:r>
            <a:r>
              <a:rPr lang="en-IN" sz="32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IN" sz="3200" b="1" dirty="0">
                <a:solidFill>
                  <a:schemeClr val="accent1">
                    <a:lumMod val="50000"/>
                  </a:schemeClr>
                </a:solidFill>
              </a:rPr>
              <a:t>HEALTH TECH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F9048CA-4297-C08C-8FB3-C85092FD447D}"/>
              </a:ext>
            </a:extLst>
          </p:cNvPr>
          <p:cNvSpPr txBox="1"/>
          <p:nvPr/>
        </p:nvSpPr>
        <p:spPr>
          <a:xfrm>
            <a:off x="949033" y="7570585"/>
            <a:ext cx="10558848" cy="492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PRESENTED BY: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E053F5F-B3C1-5914-616C-1E6CE7220768}"/>
              </a:ext>
            </a:extLst>
          </p:cNvPr>
          <p:cNvSpPr txBox="1"/>
          <p:nvPr/>
        </p:nvSpPr>
        <p:spPr>
          <a:xfrm>
            <a:off x="4110811" y="9513816"/>
            <a:ext cx="105588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</a:rPr>
              <a:t>“</a:t>
            </a:r>
            <a:r>
              <a:rPr lang="en-IN" sz="2400" b="1" dirty="0">
                <a:solidFill>
                  <a:schemeClr val="bg2">
                    <a:lumMod val="25000"/>
                  </a:schemeClr>
                </a:solidFill>
                <a:highlight>
                  <a:srgbClr val="FFFF00"/>
                </a:highlight>
              </a:rPr>
              <a:t>ONE VOICE COMMAND, INSTANT HEALTHCARE GUIDANCE.”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15501499" y="325564"/>
            <a:ext cx="610934" cy="610934"/>
            <a:chOff x="0" y="0"/>
            <a:chExt cx="814578" cy="81457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4578" cy="814578"/>
            </a:xfrm>
            <a:custGeom>
              <a:avLst/>
              <a:gdLst/>
              <a:ahLst/>
              <a:cxnLst/>
              <a:rect l="l" t="t" r="r" b="b"/>
              <a:pathLst>
                <a:path w="814578" h="814578">
                  <a:moveTo>
                    <a:pt x="814578" y="407289"/>
                  </a:moveTo>
                  <a:cubicBezTo>
                    <a:pt x="814578" y="632206"/>
                    <a:pt x="632206" y="814578"/>
                    <a:pt x="407289" y="814578"/>
                  </a:cubicBezTo>
                  <a:cubicBezTo>
                    <a:pt x="182372" y="814578"/>
                    <a:pt x="0" y="632206"/>
                    <a:pt x="0" y="407289"/>
                  </a:cubicBezTo>
                  <a:cubicBezTo>
                    <a:pt x="0" y="182372"/>
                    <a:pt x="182372" y="0"/>
                    <a:pt x="407289" y="0"/>
                  </a:cubicBezTo>
                  <a:cubicBezTo>
                    <a:pt x="632206" y="0"/>
                    <a:pt x="814578" y="182372"/>
                    <a:pt x="814578" y="407289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229667" y="154953"/>
            <a:ext cx="1668199" cy="716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1">
                <a:solidFill>
                  <a:srgbClr val="303642"/>
                </a:solidFill>
                <a:latin typeface="Poppins Bold"/>
                <a:ea typeface="Poppins Bold"/>
                <a:cs typeface="Poppins Bold"/>
                <a:sym typeface="Poppins Bold"/>
              </a:rPr>
              <a:t>OSCode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F1B073-917D-E2F2-C855-FB50DAD96BA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3" r="1494"/>
          <a:stretch>
            <a:fillRect/>
          </a:stretch>
        </p:blipFill>
        <p:spPr>
          <a:xfrm>
            <a:off x="8049268" y="1021358"/>
            <a:ext cx="7924874" cy="4711134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6311991" y="634375"/>
            <a:ext cx="1585874" cy="343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58"/>
              </a:lnSpc>
            </a:pPr>
            <a:r>
              <a:rPr lang="en-US" sz="1398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by community</a:t>
            </a:r>
            <a:r>
              <a:rPr lang="en-US" sz="1398" b="1">
                <a:solidFill>
                  <a:srgbClr val="00AEEF"/>
                </a:solidFill>
                <a:latin typeface="Poppins Bold"/>
                <a:ea typeface="Poppins Bold"/>
                <a:cs typeface="Poppins Bold"/>
                <a:sym typeface="Poppins Bold"/>
              </a:rPr>
              <a:t>X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90134" y="356109"/>
            <a:ext cx="8115300" cy="7916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 dirty="0">
                <a:solidFill>
                  <a:schemeClr val="accent3">
                    <a:lumMod val="50000"/>
                  </a:schemeClr>
                </a:solidFill>
                <a:latin typeface="Algerian" panose="04020705040A02060702" pitchFamily="82" charset="0"/>
                <a:ea typeface="Inter Bold"/>
                <a:cs typeface="Inter Bold"/>
                <a:sym typeface="Inter Bold"/>
              </a:rPr>
              <a:t>PROBLEM STATEMENT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ECF883-655E-8F5A-3DE4-B5F3E980B6B4}"/>
              </a:ext>
            </a:extLst>
          </p:cNvPr>
          <p:cNvSpPr txBox="1"/>
          <p:nvPr/>
        </p:nvSpPr>
        <p:spPr>
          <a:xfrm>
            <a:off x="825606" y="3341761"/>
            <a:ext cx="5303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303642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ABE8544-E852-56F2-90F7-DA118A768850}"/>
              </a:ext>
            </a:extLst>
          </p:cNvPr>
          <p:cNvSpPr txBox="1"/>
          <p:nvPr/>
        </p:nvSpPr>
        <p:spPr>
          <a:xfrm>
            <a:off x="400072" y="1433482"/>
            <a:ext cx="6910149" cy="3431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highlight>
                  <a:srgbClr val="FFFF00"/>
                </a:highlight>
              </a:rPr>
              <a:t>What Does This Problem Aim to Solve?</a:t>
            </a:r>
          </a:p>
          <a:p>
            <a:endParaRPr lang="en-IN" sz="2800" dirty="0">
              <a:highlight>
                <a:srgbClr val="FFFF00"/>
              </a:highlight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Low awareness of government schemes-</a:t>
            </a:r>
            <a:r>
              <a:rPr lang="en-US" b="1" dirty="0"/>
              <a:t>Rural citizens may not know they are eligible for schemes like Ayushman Bharat.</a:t>
            </a:r>
            <a:endParaRPr lang="en-IN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Language &amp; literacy barriers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Uncertainty during illness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Difficulty finding healthcare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 Lack of accessible guidance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F8367AA-5ACF-E910-3E92-0368251DE088}"/>
              </a:ext>
            </a:extLst>
          </p:cNvPr>
          <p:cNvSpPr txBox="1"/>
          <p:nvPr/>
        </p:nvSpPr>
        <p:spPr>
          <a:xfrm>
            <a:off x="390133" y="5545912"/>
            <a:ext cx="6427470" cy="3404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highlight>
                  <a:srgbClr val="FFFF00"/>
                </a:highlight>
              </a:rPr>
              <a:t>Why We Chose This Problem</a:t>
            </a:r>
            <a:r>
              <a:rPr lang="en-US" sz="2800" dirty="0">
                <a:highlight>
                  <a:srgbClr val="FFFF00"/>
                </a:highlight>
              </a:rPr>
              <a:t>?</a:t>
            </a:r>
          </a:p>
          <a:p>
            <a:endParaRPr lang="en-US" sz="2800" dirty="0">
              <a:highlight>
                <a:srgbClr val="FFFF00"/>
              </a:highlight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Language is the real barrier-Most digital health tools are English/Hindi-only — unusable for millions of regional-language, low-literacy rural users.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Awareness gap, not policy gap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ASHA workers are overburdened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D81371-1DAC-AAEE-64A3-0DA513B7D5F0}"/>
              </a:ext>
            </a:extLst>
          </p:cNvPr>
          <p:cNvSpPr txBox="1"/>
          <p:nvPr/>
        </p:nvSpPr>
        <p:spPr>
          <a:xfrm>
            <a:off x="9772271" y="353730"/>
            <a:ext cx="9277350" cy="509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358"/>
              </a:lnSpc>
            </a:pPr>
            <a:r>
              <a:rPr lang="en-US" sz="2800" b="1" dirty="0">
                <a:solidFill>
                  <a:schemeClr val="tx1"/>
                </a:solidFill>
                <a:highlight>
                  <a:srgbClr val="FFFF00"/>
                </a:highlight>
              </a:rPr>
              <a:t>Who Faces This Issue?</a:t>
            </a:r>
            <a:endParaRPr lang="en-IN" sz="2800" b="1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542045-ABD0-145E-D6E1-C9A76DA98A38}"/>
              </a:ext>
            </a:extLst>
          </p:cNvPr>
          <p:cNvSpPr txBox="1"/>
          <p:nvPr/>
        </p:nvSpPr>
        <p:spPr>
          <a:xfrm>
            <a:off x="5075652" y="9530781"/>
            <a:ext cx="9753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662924"/>
                </a:solidFill>
                <a:highlight>
                  <a:srgbClr val="FFFF00"/>
                </a:highlight>
              </a:rPr>
              <a:t>"</a:t>
            </a:r>
            <a:r>
              <a:rPr lang="en-IN" sz="2000" b="1" dirty="0">
                <a:solidFill>
                  <a:srgbClr val="662924"/>
                </a:solidFill>
                <a:highlight>
                  <a:srgbClr val="FFFF00"/>
                </a:highlight>
              </a:rPr>
              <a:t>NO INTERNET, NO BARRIER, JUST TRUE HEALTH INCLUSION."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3231DB8-83F4-6807-E887-787D888025D5}"/>
              </a:ext>
            </a:extLst>
          </p:cNvPr>
          <p:cNvSpPr/>
          <p:nvPr/>
        </p:nvSpPr>
        <p:spPr>
          <a:xfrm>
            <a:off x="13106400" y="5753100"/>
            <a:ext cx="4942922" cy="441329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ts val="3358"/>
              </a:lnSpc>
            </a:pPr>
            <a:r>
              <a:rPr lang="en-US" sz="240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What’s the current gap in the system?</a:t>
            </a:r>
          </a:p>
          <a:p>
            <a:endParaRPr lang="en-US" sz="2400" b="1" dirty="0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303642"/>
                </a:solidFill>
                <a:latin typeface="Inter"/>
                <a:ea typeface="Inter"/>
                <a:cs typeface="Inter"/>
                <a:sym typeface="Inter"/>
              </a:rPr>
              <a:t>Scheme information exists only in formal language on websites and forms.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rgbClr val="30364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303642"/>
                </a:solidFill>
                <a:latin typeface="Inter"/>
                <a:ea typeface="Inter"/>
                <a:cs typeface="Inter"/>
                <a:sym typeface="Inter"/>
              </a:rPr>
              <a:t>There’s no simple way for a village citizen to ask, in their own dialect, ‘am I eligible?’ or ‘is this serious enough for a hospital?’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rgbClr val="30364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303642"/>
                </a:solidFill>
                <a:latin typeface="Inter"/>
                <a:ea typeface="Inter"/>
                <a:cs typeface="Inter"/>
                <a:sym typeface="Inter"/>
              </a:rPr>
              <a:t>And no way to instantly locate the nearest PHC.</a:t>
            </a:r>
          </a:p>
        </p:txBody>
      </p:sp>
      <p:sp>
        <p:nvSpPr>
          <p:cNvPr id="10" name="Arrow: Left 9">
            <a:extLst>
              <a:ext uri="{FF2B5EF4-FFF2-40B4-BE49-F238E27FC236}">
                <a16:creationId xmlns:a16="http://schemas.microsoft.com/office/drawing/2014/main" id="{A41A6DB6-3ECC-E343-33E4-D844A6B784CF}"/>
              </a:ext>
            </a:extLst>
          </p:cNvPr>
          <p:cNvSpPr/>
          <p:nvPr/>
        </p:nvSpPr>
        <p:spPr>
          <a:xfrm>
            <a:off x="11592605" y="7429500"/>
            <a:ext cx="838200" cy="685800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0E51572-0E96-DF43-A1E5-C8FA969E024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26" t="4896" r="4987" b="2053"/>
          <a:stretch>
            <a:fillRect/>
          </a:stretch>
        </p:blipFill>
        <p:spPr>
          <a:xfrm>
            <a:off x="6572511" y="5950919"/>
            <a:ext cx="4371272" cy="33371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30870" y="-494919"/>
            <a:ext cx="10781919" cy="10781919"/>
            <a:chOff x="0" y="0"/>
            <a:chExt cx="14375892" cy="143758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375892" cy="14375892"/>
            </a:xfrm>
            <a:custGeom>
              <a:avLst/>
              <a:gdLst/>
              <a:ahLst/>
              <a:cxnLst/>
              <a:rect l="l" t="t" r="r" b="b"/>
              <a:pathLst>
                <a:path w="14375892" h="14375892">
                  <a:moveTo>
                    <a:pt x="0" y="0"/>
                  </a:moveTo>
                  <a:lnTo>
                    <a:pt x="14375892" y="0"/>
                  </a:lnTo>
                  <a:lnTo>
                    <a:pt x="14375892" y="14375892"/>
                  </a:lnTo>
                  <a:lnTo>
                    <a:pt x="0" y="143758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501499" y="325564"/>
            <a:ext cx="610934" cy="610934"/>
            <a:chOff x="0" y="0"/>
            <a:chExt cx="814578" cy="81457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4578" cy="814578"/>
            </a:xfrm>
            <a:custGeom>
              <a:avLst/>
              <a:gdLst/>
              <a:ahLst/>
              <a:cxnLst/>
              <a:rect l="l" t="t" r="r" b="b"/>
              <a:pathLst>
                <a:path w="814578" h="814578">
                  <a:moveTo>
                    <a:pt x="814578" y="407289"/>
                  </a:moveTo>
                  <a:cubicBezTo>
                    <a:pt x="814578" y="632206"/>
                    <a:pt x="632206" y="814578"/>
                    <a:pt x="407289" y="814578"/>
                  </a:cubicBezTo>
                  <a:cubicBezTo>
                    <a:pt x="182372" y="814578"/>
                    <a:pt x="0" y="632206"/>
                    <a:pt x="0" y="407289"/>
                  </a:cubicBezTo>
                  <a:cubicBezTo>
                    <a:pt x="0" y="182372"/>
                    <a:pt x="182372" y="0"/>
                    <a:pt x="407289" y="0"/>
                  </a:cubicBezTo>
                  <a:cubicBezTo>
                    <a:pt x="632206" y="0"/>
                    <a:pt x="814578" y="182372"/>
                    <a:pt x="814578" y="407289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229667" y="154953"/>
            <a:ext cx="1668199" cy="716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1" dirty="0" err="1">
                <a:solidFill>
                  <a:srgbClr val="303642"/>
                </a:solidFill>
                <a:latin typeface="Poppins Bold"/>
                <a:ea typeface="Poppins Bold"/>
                <a:cs typeface="Poppins Bold"/>
                <a:sym typeface="Poppins Bold"/>
              </a:rPr>
              <a:t>OSCode</a:t>
            </a:r>
            <a:endParaRPr lang="en-US" sz="3199" b="1" dirty="0">
              <a:solidFill>
                <a:srgbClr val="303642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6311991" y="634375"/>
            <a:ext cx="1585874" cy="343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58"/>
              </a:lnSpc>
            </a:pPr>
            <a:r>
              <a:rPr lang="en-US" sz="1398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by community</a:t>
            </a:r>
            <a:r>
              <a:rPr lang="en-US" sz="1398" b="1">
                <a:solidFill>
                  <a:srgbClr val="00AEEF"/>
                </a:solidFill>
                <a:latin typeface="Poppins Bold"/>
                <a:ea typeface="Poppins Bold"/>
                <a:cs typeface="Poppins Bold"/>
                <a:sym typeface="Poppins Bold"/>
              </a:rPr>
              <a:t>X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33400" y="238529"/>
            <a:ext cx="7581900" cy="7916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 dirty="0">
                <a:solidFill>
                  <a:schemeClr val="accent3">
                    <a:lumMod val="50000"/>
                  </a:schemeClr>
                </a:solidFill>
                <a:latin typeface="Algerian" panose="04020705040A02060702" pitchFamily="82" charset="0"/>
                <a:ea typeface="Inter Bold"/>
                <a:cs typeface="Inter Bold"/>
                <a:sym typeface="Inter Bold"/>
              </a:rPr>
              <a:t>PROPOSED SOLUTION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8190" y="4666051"/>
            <a:ext cx="16230600" cy="1025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 dirty="0">
                <a:solidFill>
                  <a:srgbClr val="303642"/>
                </a:solidFill>
                <a:latin typeface="Inter"/>
                <a:ea typeface="Inter"/>
                <a:cs typeface="Inter"/>
                <a:sym typeface="Inter"/>
              </a:rPr>
              <a:t>1) Voice-first multilingual query &amp; response in the user’s own dialect.  </a:t>
            </a:r>
          </a:p>
          <a:p>
            <a:pPr algn="l">
              <a:lnSpc>
                <a:spcPts val="2039"/>
              </a:lnSpc>
            </a:pPr>
            <a:r>
              <a:rPr lang="en-US" sz="1700" dirty="0">
                <a:solidFill>
                  <a:srgbClr val="303642"/>
                </a:solidFill>
                <a:latin typeface="Inter"/>
                <a:ea typeface="Inter"/>
                <a:cs typeface="Inter"/>
                <a:sym typeface="Inter"/>
              </a:rPr>
              <a:t>2) Source-grounded scheme eligibility &amp; safe rule-based symptom triage. </a:t>
            </a:r>
          </a:p>
          <a:p>
            <a:pPr algn="l">
              <a:lnSpc>
                <a:spcPts val="2039"/>
              </a:lnSpc>
            </a:pPr>
            <a:r>
              <a:rPr lang="en-US" sz="1700" dirty="0">
                <a:solidFill>
                  <a:srgbClr val="303642"/>
                </a:solidFill>
                <a:latin typeface="Inter"/>
                <a:ea typeface="Inter"/>
                <a:cs typeface="Inter"/>
                <a:sym typeface="Inter"/>
              </a:rPr>
              <a:t>3) Nearest health facility locator.  </a:t>
            </a:r>
          </a:p>
          <a:p>
            <a:pPr algn="l">
              <a:lnSpc>
                <a:spcPts val="2039"/>
              </a:lnSpc>
            </a:pPr>
            <a:r>
              <a:rPr lang="en-US" sz="1700" dirty="0">
                <a:solidFill>
                  <a:srgbClr val="303642"/>
                </a:solidFill>
                <a:latin typeface="Inter"/>
                <a:ea typeface="Inter"/>
                <a:cs typeface="Inter"/>
                <a:sym typeface="Inter"/>
              </a:rPr>
              <a:t>4) SMS/USSD fallback for low-connectivity areas.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B7E4E4-56A9-CC02-40C7-016530E271D3}"/>
              </a:ext>
            </a:extLst>
          </p:cNvPr>
          <p:cNvSpPr txBox="1"/>
          <p:nvPr/>
        </p:nvSpPr>
        <p:spPr>
          <a:xfrm>
            <a:off x="703590" y="1845288"/>
            <a:ext cx="6019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 voice-first AI copilot </a:t>
            </a:r>
            <a:r>
              <a:rPr lang="en-US" dirty="0"/>
              <a:t>that makes healthcare and government welfare services accessible to rural citizens without requiring them to read, type, or navigate complex portals.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2D1358-E873-CCCA-DAC9-9DE0A56D9B79}"/>
              </a:ext>
            </a:extLst>
          </p:cNvPr>
          <p:cNvSpPr txBox="1"/>
          <p:nvPr/>
        </p:nvSpPr>
        <p:spPr>
          <a:xfrm>
            <a:off x="502920" y="1206922"/>
            <a:ext cx="716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highlight>
                  <a:srgbClr val="FFFF00"/>
                </a:highlight>
              </a:rPr>
              <a:t>ArogyaVani</a:t>
            </a:r>
            <a:r>
              <a:rPr lang="en-US" sz="2400" b="1" dirty="0">
                <a:highlight>
                  <a:srgbClr val="FFFF00"/>
                </a:highlight>
              </a:rPr>
              <a:t> AI The Voice of Health for Bharat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510182-3972-27A3-BA96-8C7398D50B8B}"/>
              </a:ext>
            </a:extLst>
          </p:cNvPr>
          <p:cNvSpPr txBox="1"/>
          <p:nvPr/>
        </p:nvSpPr>
        <p:spPr>
          <a:xfrm>
            <a:off x="533400" y="4089346"/>
            <a:ext cx="10561320" cy="358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39"/>
              </a:lnSpc>
            </a:pPr>
            <a:r>
              <a:rPr lang="en-US" sz="2400" b="1" dirty="0">
                <a:solidFill>
                  <a:srgbClr val="000000"/>
                </a:solidFill>
                <a:highlight>
                  <a:srgbClr val="FFFF00"/>
                </a:highlight>
                <a:latin typeface="Inter Bold"/>
                <a:ea typeface="Inter Bold"/>
                <a:cs typeface="Inter Bold"/>
                <a:sym typeface="Inter Bold"/>
              </a:rPr>
              <a:t>What Are The 3-4 Key Features?</a:t>
            </a:r>
          </a:p>
        </p:txBody>
      </p:sp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F91B9183-1419-13C2-5A48-443F3C10A077}"/>
              </a:ext>
            </a:extLst>
          </p:cNvPr>
          <p:cNvGraphicFramePr/>
          <p:nvPr/>
        </p:nvGraphicFramePr>
        <p:xfrm>
          <a:off x="721360" y="2831174"/>
          <a:ext cx="5143500" cy="13041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7921F101-5492-E577-49DC-A8EBD2395BBC}"/>
              </a:ext>
            </a:extLst>
          </p:cNvPr>
          <p:cNvSpPr txBox="1"/>
          <p:nvPr/>
        </p:nvSpPr>
        <p:spPr>
          <a:xfrm>
            <a:off x="556995" y="5789327"/>
            <a:ext cx="6220470" cy="492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00" b="1" dirty="0">
                <a:solidFill>
                  <a:srgbClr val="000000"/>
                </a:solidFill>
                <a:highlight>
                  <a:srgbClr val="FFFF00"/>
                </a:highlight>
                <a:latin typeface="Inter Bold"/>
                <a:ea typeface="Inter Bold"/>
                <a:cs typeface="Inter Bold"/>
                <a:sym typeface="Inter Bold"/>
              </a:rPr>
              <a:t>What Makes It Different Or Innovative?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AAEE534-7519-AC1C-51A6-A69C731A12C5}"/>
              </a:ext>
            </a:extLst>
          </p:cNvPr>
          <p:cNvSpPr/>
          <p:nvPr/>
        </p:nvSpPr>
        <p:spPr>
          <a:xfrm>
            <a:off x="365202" y="6379636"/>
            <a:ext cx="7726326" cy="3630115"/>
          </a:xfrm>
          <a:prstGeom prst="roundRect">
            <a:avLst/>
          </a:prstGeom>
          <a:gradFill flip="none" rotWithShape="1">
            <a:gsLst>
              <a:gs pos="0">
                <a:schemeClr val="accent6">
                  <a:tint val="66000"/>
                  <a:satMod val="160000"/>
                </a:schemeClr>
              </a:gs>
              <a:gs pos="50000">
                <a:schemeClr val="accent6">
                  <a:tint val="44500"/>
                  <a:satMod val="160000"/>
                </a:schemeClr>
              </a:gs>
              <a:gs pos="100000">
                <a:schemeClr val="accent6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  </a:t>
            </a:r>
            <a:r>
              <a:rPr lang="en-US" b="1" dirty="0">
                <a:solidFill>
                  <a:schemeClr val="tx1"/>
                </a:solidFill>
              </a:rPr>
              <a:t>Trust &amp; Accuracy</a:t>
            </a:r>
            <a:r>
              <a:rPr lang="en-US" dirty="0">
                <a:solidFill>
                  <a:schemeClr val="tx1"/>
                </a:solidFill>
              </a:rPr>
              <a:t>—Never Guesses. Every answer is grounded and cited from official scheme documents and WHO/ICMR protocols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  </a:t>
            </a:r>
            <a:r>
              <a:rPr lang="en-US" b="1" dirty="0">
                <a:solidFill>
                  <a:schemeClr val="tx1"/>
                </a:solidFill>
              </a:rPr>
              <a:t>Literacy-Proof by Design </a:t>
            </a:r>
            <a:r>
              <a:rPr lang="en-US" dirty="0">
                <a:solidFill>
                  <a:schemeClr val="tx1"/>
                </a:solidFill>
              </a:rPr>
              <a:t>— Speaks Their Visual Language. Beyond text and voice generates simple, audio-narrated pictorial guides (e.g., medicine timings, vaccination steps) in local dialects.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</a:rPr>
              <a:t>   Universal Accessibility </a:t>
            </a:r>
            <a:r>
              <a:rPr lang="en-US" dirty="0">
                <a:solidFill>
                  <a:schemeClr val="tx1"/>
                </a:solidFill>
              </a:rPr>
              <a:t>— Genuinely Reaches Everyone. Works seamlessly across voice, app, and SMS/USSD Built for low-end phones and unstable rural networks — no one is left out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4ECE853-5E1C-E1AA-A5A0-2E67F0FDE558}"/>
              </a:ext>
            </a:extLst>
          </p:cNvPr>
          <p:cNvSpPr txBox="1"/>
          <p:nvPr/>
        </p:nvSpPr>
        <p:spPr>
          <a:xfrm>
            <a:off x="4352424" y="9765581"/>
            <a:ext cx="92053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662924"/>
                </a:solidFill>
                <a:highlight>
                  <a:srgbClr val="FFFF00"/>
                </a:highlight>
              </a:rPr>
              <a:t>"Empowering frontline workers and protecting rural families with voice-first AI."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6534" y="1020663"/>
            <a:ext cx="8857232" cy="5303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82600" y="6523620"/>
            <a:ext cx="4895850" cy="370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35952" y="1754505"/>
            <a:ext cx="10781936" cy="10781936"/>
          </a:xfrm>
          <a:custGeom>
            <a:avLst/>
            <a:gdLst/>
            <a:ahLst/>
            <a:cxnLst/>
            <a:rect l="l" t="t" r="r" b="b"/>
            <a:pathLst>
              <a:path w="10781936" h="10781936">
                <a:moveTo>
                  <a:pt x="0" y="0"/>
                </a:moveTo>
                <a:lnTo>
                  <a:pt x="10781936" y="0"/>
                </a:lnTo>
                <a:lnTo>
                  <a:pt x="10781936" y="10781936"/>
                </a:lnTo>
                <a:lnTo>
                  <a:pt x="0" y="107819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10" name="Group 10"/>
          <p:cNvGrpSpPr/>
          <p:nvPr/>
        </p:nvGrpSpPr>
        <p:grpSpPr>
          <a:xfrm>
            <a:off x="15726920" y="156943"/>
            <a:ext cx="2396361" cy="651873"/>
            <a:chOff x="0" y="0"/>
            <a:chExt cx="3195148" cy="869164"/>
          </a:xfrm>
        </p:grpSpPr>
        <p:grpSp>
          <p:nvGrpSpPr>
            <p:cNvPr id="11" name="Group 11"/>
            <p:cNvGrpSpPr>
              <a:grpSpLocks noChangeAspect="1"/>
            </p:cNvGrpSpPr>
            <p:nvPr/>
          </p:nvGrpSpPr>
          <p:grpSpPr>
            <a:xfrm>
              <a:off x="0" y="0"/>
              <a:ext cx="814616" cy="814613"/>
              <a:chOff x="0" y="0"/>
              <a:chExt cx="6350000" cy="634997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350000" cy="6349974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74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970881" y="1118"/>
              <a:ext cx="2224267" cy="7266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sz="3199" b="1">
                  <a:solidFill>
                    <a:srgbClr val="30364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OSCode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0649" y="538752"/>
              <a:ext cx="2114500" cy="3304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960"/>
                </a:lnSpc>
              </a:pPr>
              <a:r>
                <a:rPr lang="en-US" sz="1400">
                  <a:solidFill>
                    <a:srgbClr val="303642"/>
                  </a:solidFill>
                  <a:latin typeface="Poppins"/>
                  <a:ea typeface="Poppins"/>
                  <a:cs typeface="Poppins"/>
                  <a:sym typeface="Poppins"/>
                </a:rPr>
                <a:t>by community</a:t>
              </a:r>
              <a:r>
                <a:rPr lang="en-US" sz="1400" b="1">
                  <a:solidFill>
                    <a:srgbClr val="00AEE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X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467115" y="325565"/>
            <a:ext cx="11620500" cy="7793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400" b="1" dirty="0">
                <a:solidFill>
                  <a:schemeClr val="bg2">
                    <a:lumMod val="25000"/>
                  </a:schemeClr>
                </a:solidFill>
                <a:latin typeface="Algerian" panose="04020705040A02060702" pitchFamily="82" charset="0"/>
                <a:ea typeface="Inter Bold"/>
                <a:cs typeface="Inter Bold"/>
                <a:sym typeface="Inter Bold"/>
              </a:rPr>
              <a:t>WORKING PROTOTYPE &amp; DEMO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85800" y="1305288"/>
            <a:ext cx="1623060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C00000"/>
                </a:solidFill>
                <a:highlight>
                  <a:srgbClr val="FFFF00"/>
                </a:highlight>
                <a:latin typeface="Inter Bold"/>
                <a:ea typeface="Inter Bold"/>
                <a:cs typeface="Inter Bold"/>
                <a:sym typeface="Inter Bold"/>
              </a:rPr>
              <a:t>Which features are currently functional?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72FD5E1-C57D-4536-4BA7-CEA99DECF08E}"/>
              </a:ext>
            </a:extLst>
          </p:cNvPr>
          <p:cNvSpPr txBox="1"/>
          <p:nvPr/>
        </p:nvSpPr>
        <p:spPr>
          <a:xfrm>
            <a:off x="603778" y="1859669"/>
            <a:ext cx="8436897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/>
              <a:t>AI Health Assistant </a:t>
            </a:r>
            <a:r>
              <a:rPr lang="en-US" dirty="0"/>
              <a:t>— accepts both voice and text input for symptom checking, with safe rule-based guidance.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/>
              <a:t>Nearest PHC/Hospital Locator </a:t>
            </a:r>
            <a:r>
              <a:rPr lang="en-US" dirty="0"/>
              <a:t>— shows nearby available healthcare facilities.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/>
              <a:t>Emergency SOS </a:t>
            </a:r>
            <a:r>
              <a:rPr lang="en-US" dirty="0"/>
              <a:t>— one-tap alert with direct connectivity to an emergency contact person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/>
              <a:t>Scheme Eligibility Checker </a:t>
            </a:r>
            <a:r>
              <a:rPr lang="en-US" dirty="0"/>
              <a:t>— checks eligibility and explains schemes to the user via voice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sz="2000" b="1" dirty="0"/>
              <a:t>Scheme Details View </a:t>
            </a:r>
            <a:r>
              <a:rPr lang="en-US" dirty="0"/>
              <a:t>— normal (text-based) view option to read full scheme details, alongside the voice explanation.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/>
              <a:t>Direct Application Link </a:t>
            </a:r>
            <a:r>
              <a:rPr lang="en-US" dirty="0"/>
              <a:t>— provides a direct link to apply for the eligible scheme.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User Dashboard </a:t>
            </a:r>
            <a:r>
              <a:rPr lang="en-US" dirty="0"/>
              <a:t>— displays activity history, including number of questions asked and past interactions.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Multilingual Settings </a:t>
            </a:r>
            <a:r>
              <a:rPr lang="en-US" dirty="0"/>
              <a:t>— language selection available across major Indian languages, applied throughout the app.</a:t>
            </a:r>
            <a:endParaRPr lang="en-IN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C03F926-73A2-FDC8-E157-DAE387D8C1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0675" y="927910"/>
            <a:ext cx="2005993" cy="426273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112FB4F-298A-0E6D-78A9-264B311134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82678" y="876618"/>
            <a:ext cx="2005994" cy="426273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E7FDDCD-627D-279C-1FCD-B76E8505856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256" b="5238"/>
          <a:stretch>
            <a:fillRect/>
          </a:stretch>
        </p:blipFill>
        <p:spPr>
          <a:xfrm>
            <a:off x="9040675" y="5543098"/>
            <a:ext cx="2019084" cy="426273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47EC2C0-0894-AC43-435F-6C7331243ED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-6128" b="4814"/>
          <a:stretch>
            <a:fillRect/>
          </a:stretch>
        </p:blipFill>
        <p:spPr>
          <a:xfrm>
            <a:off x="11324084" y="5503552"/>
            <a:ext cx="2158594" cy="430228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2FBAA09-90E2-FE64-B677-7DBCE1C6706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-6128" b="3165"/>
          <a:stretch>
            <a:fillRect/>
          </a:stretch>
        </p:blipFill>
        <p:spPr>
          <a:xfrm>
            <a:off x="13568326" y="5469367"/>
            <a:ext cx="2158594" cy="437686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ADB4DC2-773A-7EEA-EAA9-EC4205C454C5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7037"/>
          <a:stretch>
            <a:fillRect/>
          </a:stretch>
        </p:blipFill>
        <p:spPr>
          <a:xfrm>
            <a:off x="15884177" y="5505307"/>
            <a:ext cx="2064445" cy="4264821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1B3FBED3-43D3-EA0B-27EE-BD2CCDAA62B6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27903" b="31407"/>
          <a:stretch>
            <a:fillRect/>
          </a:stretch>
        </p:blipFill>
        <p:spPr>
          <a:xfrm>
            <a:off x="1225685" y="6723347"/>
            <a:ext cx="2740799" cy="2865992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B62515E-4A5F-14CF-8F2F-9457BEB52DC5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1" t="20965" r="-6136" b="5409"/>
          <a:stretch>
            <a:fillRect/>
          </a:stretch>
        </p:blipFill>
        <p:spPr>
          <a:xfrm>
            <a:off x="4705729" y="5829300"/>
            <a:ext cx="3703791" cy="4261314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99753980-9150-7762-01B9-4E903C45094C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b="7999"/>
          <a:stretch>
            <a:fillRect/>
          </a:stretch>
        </p:blipFill>
        <p:spPr>
          <a:xfrm>
            <a:off x="15726920" y="1097914"/>
            <a:ext cx="2170117" cy="389575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172E317-3CF0-6472-D8CA-1A3D9C4F51A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270143" y="946041"/>
            <a:ext cx="1989590" cy="42264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924800" y="-247468"/>
            <a:ext cx="10781936" cy="10781936"/>
          </a:xfrm>
          <a:custGeom>
            <a:avLst/>
            <a:gdLst/>
            <a:ahLst/>
            <a:cxnLst/>
            <a:rect l="l" t="t" r="r" b="b"/>
            <a:pathLst>
              <a:path w="10781936" h="10781936">
                <a:moveTo>
                  <a:pt x="0" y="0"/>
                </a:moveTo>
                <a:lnTo>
                  <a:pt x="10781936" y="0"/>
                </a:lnTo>
                <a:lnTo>
                  <a:pt x="10781936" y="10781936"/>
                </a:lnTo>
                <a:lnTo>
                  <a:pt x="0" y="107819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0" y="10097226"/>
            <a:ext cx="18288000" cy="189774"/>
            <a:chOff x="0" y="0"/>
            <a:chExt cx="24384000" cy="253032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4384000" cy="253032"/>
              <a:chOff x="0" y="0"/>
              <a:chExt cx="6263097" cy="6499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263098" cy="64992"/>
              </a:xfrm>
              <a:custGeom>
                <a:avLst/>
                <a:gdLst/>
                <a:ahLst/>
                <a:cxnLst/>
                <a:rect l="l" t="t" r="r" b="b"/>
                <a:pathLst>
                  <a:path w="6263098" h="64992">
                    <a:moveTo>
                      <a:pt x="0" y="0"/>
                    </a:moveTo>
                    <a:lnTo>
                      <a:pt x="6263098" y="0"/>
                    </a:lnTo>
                    <a:lnTo>
                      <a:pt x="6263098" y="64992"/>
                    </a:lnTo>
                    <a:lnTo>
                      <a:pt x="0" y="64992"/>
                    </a:lnTo>
                    <a:close/>
                  </a:path>
                </a:pathLst>
              </a:custGeom>
              <a:solidFill>
                <a:srgbClr val="00AEE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6263097" cy="10309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2192000" y="980"/>
              <a:ext cx="12192000" cy="252052"/>
              <a:chOff x="0" y="0"/>
              <a:chExt cx="3131549" cy="6474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131549" cy="64740"/>
              </a:xfrm>
              <a:custGeom>
                <a:avLst/>
                <a:gdLst/>
                <a:ahLst/>
                <a:cxnLst/>
                <a:rect l="l" t="t" r="r" b="b"/>
                <a:pathLst>
                  <a:path w="3131549" h="64740">
                    <a:moveTo>
                      <a:pt x="0" y="0"/>
                    </a:moveTo>
                    <a:lnTo>
                      <a:pt x="3131549" y="0"/>
                    </a:lnTo>
                    <a:lnTo>
                      <a:pt x="3131549" y="64740"/>
                    </a:lnTo>
                    <a:lnTo>
                      <a:pt x="0" y="64740"/>
                    </a:lnTo>
                    <a:close/>
                  </a:path>
                </a:pathLst>
              </a:custGeom>
              <a:solidFill>
                <a:srgbClr val="303642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3131549" cy="1028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</p:grpSp>
      <p:grpSp>
        <p:nvGrpSpPr>
          <p:cNvPr id="10" name="Group 10"/>
          <p:cNvGrpSpPr/>
          <p:nvPr/>
        </p:nvGrpSpPr>
        <p:grpSpPr>
          <a:xfrm>
            <a:off x="15501503" y="325565"/>
            <a:ext cx="2396361" cy="651873"/>
            <a:chOff x="0" y="0"/>
            <a:chExt cx="3195148" cy="869164"/>
          </a:xfrm>
        </p:grpSpPr>
        <p:grpSp>
          <p:nvGrpSpPr>
            <p:cNvPr id="11" name="Group 11"/>
            <p:cNvGrpSpPr>
              <a:grpSpLocks noChangeAspect="1"/>
            </p:cNvGrpSpPr>
            <p:nvPr/>
          </p:nvGrpSpPr>
          <p:grpSpPr>
            <a:xfrm>
              <a:off x="0" y="0"/>
              <a:ext cx="814616" cy="814613"/>
              <a:chOff x="0" y="0"/>
              <a:chExt cx="6350000" cy="634997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350000" cy="6349974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74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970881" y="1118"/>
              <a:ext cx="2224267" cy="7266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sz="3199" b="1">
                  <a:solidFill>
                    <a:srgbClr val="30364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OSCode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0649" y="538752"/>
              <a:ext cx="2114500" cy="3304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960"/>
                </a:lnSpc>
              </a:pPr>
              <a:r>
                <a:rPr lang="en-US" sz="1400">
                  <a:solidFill>
                    <a:srgbClr val="303642"/>
                  </a:solidFill>
                  <a:latin typeface="Poppins"/>
                  <a:ea typeface="Poppins"/>
                  <a:cs typeface="Poppins"/>
                  <a:sym typeface="Poppins"/>
                </a:rPr>
                <a:t>by community</a:t>
              </a:r>
              <a:r>
                <a:rPr lang="en-US" sz="1400" b="1">
                  <a:solidFill>
                    <a:srgbClr val="00AEE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X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687477" y="339938"/>
            <a:ext cx="11468100" cy="7793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400" b="1" dirty="0">
                <a:solidFill>
                  <a:schemeClr val="bg2">
                    <a:lumMod val="25000"/>
                  </a:schemeClr>
                </a:solidFill>
                <a:latin typeface="Algerian" panose="04020705040A02060702" pitchFamily="82" charset="0"/>
                <a:ea typeface="Inter Bold"/>
                <a:cs typeface="Inter Bold"/>
                <a:sym typeface="Inter Bold"/>
              </a:rPr>
              <a:t>TECH STACK &amp; ARCHITECTURE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24B5389-560F-5599-FA1B-19CC01C15B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190" y="1184718"/>
            <a:ext cx="17909613" cy="889820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27523" y="-654475"/>
            <a:ext cx="10781936" cy="10781936"/>
          </a:xfrm>
          <a:custGeom>
            <a:avLst/>
            <a:gdLst/>
            <a:ahLst/>
            <a:cxnLst/>
            <a:rect l="l" t="t" r="r" b="b"/>
            <a:pathLst>
              <a:path w="10781936" h="10781936">
                <a:moveTo>
                  <a:pt x="0" y="0"/>
                </a:moveTo>
                <a:lnTo>
                  <a:pt x="10781936" y="0"/>
                </a:lnTo>
                <a:lnTo>
                  <a:pt x="10781936" y="10781936"/>
                </a:lnTo>
                <a:lnTo>
                  <a:pt x="0" y="107819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/>
            </a:stretch>
          </a:blipFill>
        </p:spPr>
        <p:txBody>
          <a:bodyPr/>
          <a:lstStyle/>
          <a:p>
            <a:pPr lvl="0"/>
            <a:r>
              <a:rPr lang="en-IN" dirty="0"/>
              <a:t>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5626882" y="125798"/>
            <a:ext cx="2396361" cy="651873"/>
            <a:chOff x="0" y="0"/>
            <a:chExt cx="3195148" cy="869164"/>
          </a:xfrm>
        </p:grpSpPr>
        <p:grpSp>
          <p:nvGrpSpPr>
            <p:cNvPr id="11" name="Group 11"/>
            <p:cNvGrpSpPr>
              <a:grpSpLocks noChangeAspect="1"/>
            </p:cNvGrpSpPr>
            <p:nvPr/>
          </p:nvGrpSpPr>
          <p:grpSpPr>
            <a:xfrm>
              <a:off x="0" y="0"/>
              <a:ext cx="814616" cy="814613"/>
              <a:chOff x="0" y="0"/>
              <a:chExt cx="6350000" cy="634997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350000" cy="6349974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74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970881" y="1118"/>
              <a:ext cx="2224267" cy="7266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sz="3199" b="1" dirty="0" err="1">
                  <a:solidFill>
                    <a:srgbClr val="30364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OSCode</a:t>
              </a:r>
              <a:endParaRPr lang="en-US" sz="3199" b="1" dirty="0">
                <a:solidFill>
                  <a:srgbClr val="303642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0649" y="538752"/>
              <a:ext cx="2114500" cy="3304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960"/>
                </a:lnSpc>
              </a:pPr>
              <a:r>
                <a:rPr lang="en-US" sz="1400">
                  <a:solidFill>
                    <a:srgbClr val="303642"/>
                  </a:solidFill>
                  <a:latin typeface="Poppins"/>
                  <a:ea typeface="Poppins"/>
                  <a:cs typeface="Poppins"/>
                  <a:sym typeface="Poppins"/>
                </a:rPr>
                <a:t>by community</a:t>
              </a:r>
              <a:r>
                <a:rPr lang="en-US" sz="1400" b="1">
                  <a:solidFill>
                    <a:srgbClr val="00AEE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X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507479" y="574980"/>
            <a:ext cx="5600700" cy="8366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C00000"/>
                </a:solidFill>
                <a:highlight>
                  <a:srgbClr val="FFFF00"/>
                </a:highlight>
                <a:latin typeface="Inter Bold"/>
                <a:ea typeface="Inter Bold"/>
                <a:cs typeface="Inter Bold"/>
                <a:sym typeface="Inter Bold"/>
              </a:rPr>
              <a:t>What testing and measurable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C00000"/>
                </a:solidFill>
                <a:highlight>
                  <a:srgbClr val="FFFF00"/>
                </a:highlight>
                <a:latin typeface="Inter Bold"/>
                <a:ea typeface="Inter Bold"/>
                <a:cs typeface="Inter Bold"/>
                <a:sym typeface="Inter Bold"/>
              </a:rPr>
              <a:t> results demonstrate that it works?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086312" y="6749419"/>
            <a:ext cx="1623060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C00000"/>
                </a:solidFill>
                <a:highlight>
                  <a:srgbClr val="FFFF00"/>
                </a:highlight>
                <a:latin typeface="Inter Bold"/>
                <a:ea typeface="Inter Bold"/>
                <a:cs typeface="Inter Bold"/>
                <a:sym typeface="Inter Bold"/>
              </a:rPr>
              <a:t>What impact can it create at scale?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DD05AEC9-A697-8323-211B-9ED1A99294F6}"/>
              </a:ext>
            </a:extLst>
          </p:cNvPr>
          <p:cNvSpPr/>
          <p:nvPr/>
        </p:nvSpPr>
        <p:spPr>
          <a:xfrm>
            <a:off x="12686671" y="6000284"/>
            <a:ext cx="5629664" cy="4015126"/>
          </a:xfrm>
          <a:prstGeom prst="flowChartAlternateProcess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lvl="0" indent="-342900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tx1"/>
                </a:solidFill>
              </a:rPr>
              <a:t>Challenge</a:t>
            </a:r>
            <a:r>
              <a:rPr lang="en-IN" b="1" dirty="0">
                <a:solidFill>
                  <a:schemeClr val="tx1"/>
                </a:solidFill>
              </a:rPr>
              <a:t>:</a:t>
            </a:r>
            <a:r>
              <a:rPr lang="en-IN" dirty="0">
                <a:solidFill>
                  <a:schemeClr val="tx1"/>
                </a:solidFill>
              </a:rPr>
              <a:t> Unstable internet in remote areas.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sz="2000" b="1" dirty="0">
                <a:solidFill>
                  <a:schemeClr val="tx1"/>
                </a:solidFill>
              </a:rPr>
              <a:t>Strategy</a:t>
            </a:r>
            <a:r>
              <a:rPr lang="en-IN" sz="2400" b="1" dirty="0">
                <a:solidFill>
                  <a:schemeClr val="tx1"/>
                </a:solidFill>
              </a:rPr>
              <a:t>:</a:t>
            </a:r>
            <a:r>
              <a:rPr lang="en-IN" sz="2400" dirty="0">
                <a:solidFill>
                  <a:schemeClr val="tx1"/>
                </a:solidFill>
              </a:rPr>
              <a:t> </a:t>
            </a:r>
            <a:r>
              <a:rPr lang="en-IN" dirty="0">
                <a:solidFill>
                  <a:schemeClr val="tx1"/>
                </a:solidFill>
              </a:rPr>
              <a:t>Implementing a low-resource SMS/USSD gateway fallback ensures continuous access without mobile data</a:t>
            </a:r>
            <a:r>
              <a:rPr lang="en-IN" sz="2000" dirty="0">
                <a:solidFill>
                  <a:schemeClr val="tx1"/>
                </a:solidFill>
              </a:rPr>
              <a:t>.</a:t>
            </a:r>
          </a:p>
          <a:p>
            <a:pPr marL="342900" lvl="0" indent="-342900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tx1"/>
                </a:solidFill>
              </a:rPr>
              <a:t>Challenge</a:t>
            </a:r>
            <a:r>
              <a:rPr lang="en-IN" b="1" dirty="0">
                <a:solidFill>
                  <a:schemeClr val="tx1"/>
                </a:solidFill>
              </a:rPr>
              <a:t>:</a:t>
            </a:r>
            <a:r>
              <a:rPr lang="en-IN" dirty="0">
                <a:solidFill>
                  <a:schemeClr val="tx1"/>
                </a:solidFill>
              </a:rPr>
              <a:t> Risk of AI medical hallucinations</a:t>
            </a:r>
            <a:r>
              <a:rPr lang="en-IN" sz="2000" dirty="0">
                <a:solidFill>
                  <a:schemeClr val="tx1"/>
                </a:solidFill>
              </a:rPr>
              <a:t>.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sz="2000" b="1" dirty="0">
                <a:solidFill>
                  <a:schemeClr val="tx1"/>
                </a:solidFill>
              </a:rPr>
              <a:t>Strategy:</a:t>
            </a:r>
            <a:r>
              <a:rPr lang="en-IN" sz="2000" dirty="0">
                <a:solidFill>
                  <a:schemeClr val="tx1"/>
                </a:solidFill>
              </a:rPr>
              <a:t> </a:t>
            </a:r>
            <a:r>
              <a:rPr lang="en-IN" dirty="0">
                <a:solidFill>
                  <a:schemeClr val="tx1"/>
                </a:solidFill>
              </a:rPr>
              <a:t>Strict reliance on Rule-Based RAG tied exclusively to official WHO/ICMR documents; LLM is restricted from generating unverified medical advice</a:t>
            </a:r>
            <a:r>
              <a:rPr lang="en-IN" sz="2000" dirty="0">
                <a:solidFill>
                  <a:schemeClr val="tx1"/>
                </a:solidFill>
              </a:rPr>
              <a:t>.</a:t>
            </a:r>
            <a:endParaRPr lang="en-IN" sz="2000" dirty="0">
              <a:solidFill>
                <a:srgbClr val="CBD5E1"/>
              </a:solidFill>
              <a:latin typeface="Lato" panose="020F0502020204030203" pitchFamily="34" charset="0"/>
            </a:endParaRPr>
          </a:p>
          <a:p>
            <a:pPr algn="ctr"/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F684AA-360D-BE43-8497-8E05E5FDDAF9}"/>
              </a:ext>
            </a:extLst>
          </p:cNvPr>
          <p:cNvSpPr txBox="1"/>
          <p:nvPr/>
        </p:nvSpPr>
        <p:spPr>
          <a:xfrm>
            <a:off x="12758064" y="5235102"/>
            <a:ext cx="105588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2250"/>
              </a:spcAft>
              <a:buNone/>
            </a:pPr>
            <a:r>
              <a:rPr lang="en-IN" sz="2800" b="1" i="0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+mn-lt"/>
              </a:rPr>
              <a:t>Feasibility, Challenges &amp; Mitigation</a:t>
            </a:r>
            <a:endParaRPr lang="en-IN" sz="2800" b="1" i="0" dirty="0">
              <a:solidFill>
                <a:srgbClr val="C00000"/>
              </a:solidFill>
              <a:effectLst/>
              <a:highlight>
                <a:srgbClr val="FFFF00"/>
              </a:highlight>
              <a:latin typeface="Poppins" panose="00000500000000000000" pitchFamily="2" charset="0"/>
            </a:endParaRPr>
          </a:p>
        </p:txBody>
      </p:sp>
      <p:sp>
        <p:nvSpPr>
          <p:cNvPr id="26" name="Flowchart: Alternate Process 25">
            <a:extLst>
              <a:ext uri="{FF2B5EF4-FFF2-40B4-BE49-F238E27FC236}">
                <a16:creationId xmlns:a16="http://schemas.microsoft.com/office/drawing/2014/main" id="{6EBB7AC7-B6FE-2BED-D83C-264C58196367}"/>
              </a:ext>
            </a:extLst>
          </p:cNvPr>
          <p:cNvSpPr/>
          <p:nvPr/>
        </p:nvSpPr>
        <p:spPr>
          <a:xfrm>
            <a:off x="124655" y="1595092"/>
            <a:ext cx="6961657" cy="5526998"/>
          </a:xfrm>
          <a:prstGeom prst="flowChartAlternateProcess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Zero-Hallucination Triage Validation:</a:t>
            </a:r>
            <a:r>
              <a:rPr lang="en-IN" sz="2000" dirty="0"/>
              <a:t> </a:t>
            </a:r>
            <a:r>
              <a:rPr lang="en-IN" dirty="0"/>
              <a:t>We stress-tested our backend against complex rural health queries. By enforcing strict reliance on a Rule-Based RAG tied exclusively to official WHO/ICMR documents (as outlined in the mitigation strategy of aef21f2e-2d9d-4fae-9808-f380a1c761d5), we achieved a 100% deterministic accuracy rate, successfully restricting the LLM from generating unverified medical advice.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Sub-2 Second Voice Latency</a:t>
            </a:r>
            <a:r>
              <a:rPr lang="en-IN" b="1" dirty="0"/>
              <a:t>:</a:t>
            </a:r>
            <a:r>
              <a:rPr lang="en-IN" dirty="0"/>
              <a:t> Benchmarked our Sarvam AI + </a:t>
            </a:r>
            <a:r>
              <a:rPr lang="en-IN" dirty="0" err="1"/>
              <a:t>FastAPI</a:t>
            </a:r>
            <a:r>
              <a:rPr lang="en-IN" dirty="0"/>
              <a:t> pipeline to process vernacular audio, query the FAISS vector database, and return native text-to-speech in under 2 seconds, proving the viability of a real-time conversational flow.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95%+ OCR Extraction Success</a:t>
            </a:r>
            <a:r>
              <a:rPr lang="en-IN" b="1" dirty="0"/>
              <a:t>:</a:t>
            </a:r>
            <a:r>
              <a:rPr lang="en-IN" dirty="0"/>
              <a:t> Validated our Gemini Vision pipeline on low-light, blurry images of simulated ration and Aadhar cards, successfully automating demographic extraction and bypassing manual form entry entirely.</a:t>
            </a:r>
          </a:p>
          <a:p>
            <a:pPr algn="ctr"/>
            <a:endParaRPr lang="en-IN" dirty="0"/>
          </a:p>
        </p:txBody>
      </p:sp>
      <p:sp>
        <p:nvSpPr>
          <p:cNvPr id="34" name="Flowchart: Alternate Process 33">
            <a:extLst>
              <a:ext uri="{FF2B5EF4-FFF2-40B4-BE49-F238E27FC236}">
                <a16:creationId xmlns:a16="http://schemas.microsoft.com/office/drawing/2014/main" id="{0C9B1511-AE9D-0943-5743-524475683A28}"/>
              </a:ext>
            </a:extLst>
          </p:cNvPr>
          <p:cNvSpPr/>
          <p:nvPr/>
        </p:nvSpPr>
        <p:spPr>
          <a:xfrm>
            <a:off x="1797306" y="7416711"/>
            <a:ext cx="10578012" cy="2743844"/>
          </a:xfrm>
          <a:prstGeom prst="flowChartAlternateProcess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1CC457D-65A0-5699-8E89-3C17EEF01E9F}"/>
              </a:ext>
            </a:extLst>
          </p:cNvPr>
          <p:cNvSpPr txBox="1"/>
          <p:nvPr/>
        </p:nvSpPr>
        <p:spPr>
          <a:xfrm>
            <a:off x="2009917" y="7449805"/>
            <a:ext cx="1031451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Unlocking Millions in Unclaimed Benefits</a:t>
            </a:r>
            <a:r>
              <a:rPr lang="en-IN" b="1" dirty="0"/>
              <a:t>:</a:t>
            </a:r>
            <a:r>
              <a:rPr lang="en-IN" dirty="0"/>
              <a:t> By democratizing scheme eligibility checks through native voice and zero-UI vision, we bridge the critical awareness gap, ensuring millions of marginalized families finally utilize Ayushman Bharat and other entitlements.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Supercharging Frontline Health Workers</a:t>
            </a:r>
            <a:r>
              <a:rPr lang="en-IN" b="1" dirty="0"/>
              <a:t>:</a:t>
            </a:r>
            <a:r>
              <a:rPr lang="en-IN" dirty="0"/>
              <a:t> Transforming 1 million+ ASHA workers from manual data-entry clerks into AI-empowered care navigators, drastically reducing administrative overhead and allowing them to triage and cover 3x more households daily.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Data-Driven Epidemic Prediction</a:t>
            </a:r>
            <a:r>
              <a:rPr lang="en-IN" b="1" dirty="0"/>
              <a:t>:</a:t>
            </a:r>
            <a:r>
              <a:rPr lang="en-IN" dirty="0"/>
              <a:t> Aggregating real-time, hyper-local symptom data (via our Red/Yellow/Green triage system) creates an unprecedented epidemiological heat map, empowering the government to </a:t>
            </a:r>
            <a:r>
              <a:rPr lang="en-IN" dirty="0" err="1"/>
              <a:t>preempt</a:t>
            </a:r>
            <a:r>
              <a:rPr lang="en-IN" dirty="0"/>
              <a:t> regional health crises before they overwhelm primary care infrastructure.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083CE11-AB55-DC0C-34AB-6A56C085DFBA}"/>
              </a:ext>
            </a:extLst>
          </p:cNvPr>
          <p:cNvSpPr txBox="1"/>
          <p:nvPr/>
        </p:nvSpPr>
        <p:spPr>
          <a:xfrm>
            <a:off x="5761781" y="46557"/>
            <a:ext cx="960638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buNone/>
            </a:pPr>
            <a:r>
              <a:rPr lang="en-IN" sz="4400" b="1" i="0" dirty="0">
                <a:solidFill>
                  <a:schemeClr val="accent3">
                    <a:lumMod val="50000"/>
                  </a:schemeClr>
                </a:solidFill>
                <a:effectLst/>
                <a:latin typeface="Algerian" panose="04020705040A02060702" pitchFamily="82" charset="0"/>
              </a:rPr>
              <a:t>VALIDATION &amp; IMPACT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65CA90-569D-4686-EBA3-43DD6D1E62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1334" y="993299"/>
            <a:ext cx="4489249" cy="527964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1219343-B600-894D-8A4D-67FD2058531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2284"/>
          <a:stretch>
            <a:fillRect/>
          </a:stretch>
        </p:blipFill>
        <p:spPr>
          <a:xfrm>
            <a:off x="12953891" y="1071622"/>
            <a:ext cx="4919214" cy="39802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328025" y="-807287"/>
            <a:ext cx="10781936" cy="10781936"/>
          </a:xfrm>
          <a:custGeom>
            <a:avLst/>
            <a:gdLst/>
            <a:ahLst/>
            <a:cxnLst/>
            <a:rect l="l" t="t" r="r" b="b"/>
            <a:pathLst>
              <a:path w="10781936" h="10781936">
                <a:moveTo>
                  <a:pt x="0" y="0"/>
                </a:moveTo>
                <a:lnTo>
                  <a:pt x="10781936" y="0"/>
                </a:lnTo>
                <a:lnTo>
                  <a:pt x="10781936" y="10781936"/>
                </a:lnTo>
                <a:lnTo>
                  <a:pt x="0" y="107819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0" y="10097226"/>
            <a:ext cx="18288000" cy="189774"/>
            <a:chOff x="0" y="0"/>
            <a:chExt cx="24384000" cy="253032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4384000" cy="253032"/>
              <a:chOff x="0" y="0"/>
              <a:chExt cx="6263097" cy="6499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263098" cy="64992"/>
              </a:xfrm>
              <a:custGeom>
                <a:avLst/>
                <a:gdLst/>
                <a:ahLst/>
                <a:cxnLst/>
                <a:rect l="l" t="t" r="r" b="b"/>
                <a:pathLst>
                  <a:path w="6263098" h="64992">
                    <a:moveTo>
                      <a:pt x="0" y="0"/>
                    </a:moveTo>
                    <a:lnTo>
                      <a:pt x="6263098" y="0"/>
                    </a:lnTo>
                    <a:lnTo>
                      <a:pt x="6263098" y="64992"/>
                    </a:lnTo>
                    <a:lnTo>
                      <a:pt x="0" y="64992"/>
                    </a:lnTo>
                    <a:close/>
                  </a:path>
                </a:pathLst>
              </a:custGeom>
              <a:solidFill>
                <a:srgbClr val="00AEE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6263097" cy="10309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2192000" y="980"/>
              <a:ext cx="12192000" cy="252052"/>
              <a:chOff x="0" y="0"/>
              <a:chExt cx="3131549" cy="6474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131549" cy="64740"/>
              </a:xfrm>
              <a:custGeom>
                <a:avLst/>
                <a:gdLst/>
                <a:ahLst/>
                <a:cxnLst/>
                <a:rect l="l" t="t" r="r" b="b"/>
                <a:pathLst>
                  <a:path w="3131549" h="64740">
                    <a:moveTo>
                      <a:pt x="0" y="0"/>
                    </a:moveTo>
                    <a:lnTo>
                      <a:pt x="3131549" y="0"/>
                    </a:lnTo>
                    <a:lnTo>
                      <a:pt x="3131549" y="64740"/>
                    </a:lnTo>
                    <a:lnTo>
                      <a:pt x="0" y="64740"/>
                    </a:lnTo>
                    <a:close/>
                  </a:path>
                </a:pathLst>
              </a:custGeom>
              <a:solidFill>
                <a:srgbClr val="303642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3131549" cy="1028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</p:grpSp>
      <p:grpSp>
        <p:nvGrpSpPr>
          <p:cNvPr id="10" name="Group 10"/>
          <p:cNvGrpSpPr/>
          <p:nvPr/>
        </p:nvGrpSpPr>
        <p:grpSpPr>
          <a:xfrm>
            <a:off x="15501503" y="325565"/>
            <a:ext cx="2396361" cy="651873"/>
            <a:chOff x="0" y="0"/>
            <a:chExt cx="3195148" cy="869164"/>
          </a:xfrm>
        </p:grpSpPr>
        <p:grpSp>
          <p:nvGrpSpPr>
            <p:cNvPr id="11" name="Group 11"/>
            <p:cNvGrpSpPr>
              <a:grpSpLocks noChangeAspect="1"/>
            </p:cNvGrpSpPr>
            <p:nvPr/>
          </p:nvGrpSpPr>
          <p:grpSpPr>
            <a:xfrm>
              <a:off x="0" y="0"/>
              <a:ext cx="814616" cy="814613"/>
              <a:chOff x="0" y="0"/>
              <a:chExt cx="6350000" cy="634997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350000" cy="6349974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74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970881" y="1118"/>
              <a:ext cx="2224267" cy="7266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sz="3199" b="1">
                  <a:solidFill>
                    <a:srgbClr val="30364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OSCode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0649" y="538752"/>
              <a:ext cx="2114500" cy="3304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960"/>
                </a:lnSpc>
              </a:pPr>
              <a:r>
                <a:rPr lang="en-US" sz="1400">
                  <a:solidFill>
                    <a:srgbClr val="303642"/>
                  </a:solidFill>
                  <a:latin typeface="Poppins"/>
                  <a:ea typeface="Poppins"/>
                  <a:cs typeface="Poppins"/>
                  <a:sym typeface="Poppins"/>
                </a:rPr>
                <a:t>by community</a:t>
              </a:r>
              <a:r>
                <a:rPr lang="en-US" sz="1400" b="1">
                  <a:solidFill>
                    <a:srgbClr val="00AEE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X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712343" y="339938"/>
            <a:ext cx="10248900" cy="7793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400" b="1" dirty="0">
                <a:solidFill>
                  <a:schemeClr val="bg2">
                    <a:lumMod val="25000"/>
                  </a:schemeClr>
                </a:solidFill>
                <a:latin typeface="Algerian" panose="04020705040A02060702" pitchFamily="82" charset="0"/>
                <a:ea typeface="Inter Bold"/>
                <a:cs typeface="Inter Bold"/>
                <a:sym typeface="Inter Bold"/>
              </a:rPr>
              <a:t>ROADMAP &amp; CLOSING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12343" y="1530780"/>
            <a:ext cx="16230600" cy="394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200" b="1" dirty="0">
                <a:solidFill>
                  <a:srgbClr val="C00000"/>
                </a:solidFill>
                <a:highlight>
                  <a:srgbClr val="FFFF00"/>
                </a:highlight>
                <a:latin typeface="Inter Bold"/>
                <a:ea typeface="Inter Bold"/>
                <a:cs typeface="Inter Bold"/>
                <a:sym typeface="Inter Bold"/>
              </a:rPr>
              <a:t>What are the next major development and pilot milestones?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32938" y="6305749"/>
            <a:ext cx="1623060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200" b="1" dirty="0">
                <a:solidFill>
                  <a:srgbClr val="C00000"/>
                </a:solidFill>
                <a:highlight>
                  <a:srgbClr val="FFFF00"/>
                </a:highlight>
                <a:latin typeface="Inter Bold"/>
                <a:ea typeface="Inter Bold"/>
                <a:cs typeface="Inter Bold"/>
                <a:sym typeface="Inter Bold"/>
              </a:rPr>
              <a:t>Why should this solution move forward?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25C9924-4AF8-C339-5A34-A9B135BC309C}"/>
              </a:ext>
            </a:extLst>
          </p:cNvPr>
          <p:cNvSpPr/>
          <p:nvPr/>
        </p:nvSpPr>
        <p:spPr>
          <a:xfrm>
            <a:off x="12718993" y="1655152"/>
            <a:ext cx="5318086" cy="5921287"/>
          </a:xfrm>
          <a:prstGeom prst="roundRect">
            <a:avLst/>
          </a:prstGeom>
          <a:gradFill flip="none" rotWithShape="1">
            <a:gsLst>
              <a:gs pos="0">
                <a:schemeClr val="accent6">
                  <a:tint val="66000"/>
                  <a:satMod val="160000"/>
                </a:schemeClr>
              </a:gs>
              <a:gs pos="50000">
                <a:schemeClr val="accent6">
                  <a:tint val="44500"/>
                  <a:satMod val="160000"/>
                </a:schemeClr>
              </a:gs>
              <a:gs pos="100000">
                <a:schemeClr val="accent6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/>
              <a:t>📂 </a:t>
            </a:r>
            <a:r>
              <a:rPr lang="en-IN" sz="2000" b="1" dirty="0">
                <a:solidFill>
                  <a:schemeClr val="tx1"/>
                </a:solidFill>
              </a:rPr>
              <a:t>OUR PROJECT REPOSITORY:</a:t>
            </a: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r>
              <a:rPr lang="en-IN" sz="2400" b="1" dirty="0">
                <a:solidFill>
                  <a:schemeClr val="tx1"/>
                </a:solidFill>
              </a:rPr>
              <a:t>DEMO Link</a:t>
            </a:r>
            <a:r>
              <a:rPr lang="en-IN" sz="2400" b="1" dirty="0"/>
              <a:t>    </a:t>
            </a:r>
            <a:r>
              <a:rPr lang="en-IN" b="1" dirty="0">
                <a:solidFill>
                  <a:srgbClr val="C00000"/>
                </a:solidFill>
                <a:hlinkClick r:id="rId4"/>
              </a:rPr>
              <a:t>https://youtu.be/_n6wotuiAjQ?si=YKLUo5VVCcjEat2k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4FE0A55-CB48-A5FA-B186-90CE8903012E}"/>
              </a:ext>
            </a:extLst>
          </p:cNvPr>
          <p:cNvSpPr txBox="1"/>
          <p:nvPr/>
        </p:nvSpPr>
        <p:spPr>
          <a:xfrm>
            <a:off x="13260692" y="2533981"/>
            <a:ext cx="105588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✅</a:t>
            </a:r>
            <a:r>
              <a:rPr lang="en-IN" sz="1800" dirty="0"/>
              <a:t>Research Papers &amp; References</a:t>
            </a:r>
          </a:p>
          <a:p>
            <a:r>
              <a:rPr lang="en-US" sz="1800" dirty="0"/>
              <a:t>✅</a:t>
            </a:r>
            <a:r>
              <a:rPr lang="en-IN" sz="1800" dirty="0"/>
              <a:t>High-quality Model Images &amp; Flowcharts    </a:t>
            </a:r>
          </a:p>
          <a:p>
            <a:r>
              <a:rPr lang="en-US" sz="1800" dirty="0"/>
              <a:t>✅</a:t>
            </a:r>
            <a:r>
              <a:rPr lang="en-IN" sz="1800" dirty="0"/>
              <a:t>Future Scope Concept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3E45A2A-1EA1-C70C-8CBC-222B7C1DE746}"/>
              </a:ext>
            </a:extLst>
          </p:cNvPr>
          <p:cNvSpPr/>
          <p:nvPr/>
        </p:nvSpPr>
        <p:spPr>
          <a:xfrm>
            <a:off x="14178390" y="3607471"/>
            <a:ext cx="2133600" cy="2585630"/>
          </a:xfrm>
          <a:prstGeom prst="rect">
            <a:avLst/>
          </a:prstGeom>
          <a:gradFill flip="none" rotWithShape="1">
            <a:gsLst>
              <a:gs pos="0">
                <a:schemeClr val="dk1">
                  <a:tint val="66000"/>
                  <a:satMod val="160000"/>
                </a:schemeClr>
              </a:gs>
              <a:gs pos="50000">
                <a:schemeClr val="dk1">
                  <a:tint val="44500"/>
                  <a:satMod val="160000"/>
                </a:schemeClr>
              </a:gs>
              <a:gs pos="100000">
                <a:schemeClr val="dk1"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SCAN ME</a:t>
            </a:r>
          </a:p>
          <a:p>
            <a:pPr algn="ctr"/>
            <a:endParaRPr lang="en-US" b="1" dirty="0">
              <a:solidFill>
                <a:schemeClr val="accent3">
                  <a:lumMod val="75000"/>
                </a:schemeClr>
              </a:solidFill>
            </a:endParaRPr>
          </a:p>
          <a:p>
            <a:pPr algn="ctr"/>
            <a:endParaRPr lang="en-US" b="1" dirty="0">
              <a:solidFill>
                <a:schemeClr val="accent3">
                  <a:lumMod val="75000"/>
                </a:schemeClr>
              </a:solidFill>
            </a:endParaRPr>
          </a:p>
          <a:p>
            <a:pPr algn="ctr"/>
            <a:endParaRPr lang="en-US" b="1" dirty="0">
              <a:solidFill>
                <a:schemeClr val="accent3">
                  <a:lumMod val="75000"/>
                </a:schemeClr>
              </a:solidFill>
            </a:endParaRPr>
          </a:p>
          <a:p>
            <a:pPr algn="ctr"/>
            <a:endParaRPr lang="en-US" b="1" dirty="0">
              <a:solidFill>
                <a:schemeClr val="accent3">
                  <a:lumMod val="75000"/>
                </a:schemeClr>
              </a:solidFill>
            </a:endParaRPr>
          </a:p>
          <a:p>
            <a:pPr algn="ctr"/>
            <a:endParaRPr lang="en-US" b="1" dirty="0">
              <a:solidFill>
                <a:schemeClr val="accent3">
                  <a:lumMod val="75000"/>
                </a:schemeClr>
              </a:solidFill>
            </a:endParaRPr>
          </a:p>
          <a:p>
            <a:pPr algn="ctr"/>
            <a:endParaRPr lang="en-IN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D363A27-5B1B-4ACB-D5E9-2802768914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V="1">
            <a:off x="14409431" y="4302035"/>
            <a:ext cx="1703034" cy="1703034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1CD6D8A8-1ECE-2C09-54D7-B7DF4E859B4A}"/>
              </a:ext>
            </a:extLst>
          </p:cNvPr>
          <p:cNvSpPr txBox="1"/>
          <p:nvPr/>
        </p:nvSpPr>
        <p:spPr>
          <a:xfrm>
            <a:off x="908967" y="2275687"/>
            <a:ext cx="783669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950" dirty="0"/>
              <a:t>Complete end-to-end integration of all modules (voice, RAG eligibility checker, triage engine, facility locator) into a single stable release build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950" dirty="0"/>
              <a:t>Field pilot with ASHA workers in select villages to test real-world usability, language comprehension, and voice recognition accuracy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950" dirty="0"/>
              <a:t>Expand the scheme knowledge base to cover additional central and state government health schemes beyond our initial set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950" dirty="0"/>
              <a:t>USSD gateway integration through telecom partnership, to extend reach to users without smartphones or data access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950" dirty="0"/>
              <a:t>Production-grade infrastructure deployment, moving from hackathon-stage hosting to scalable cloud infrastructure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950" dirty="0"/>
              <a:t>Data privacy and compliance review, particularly around health data and ID document handling, before any public rollout</a:t>
            </a:r>
            <a:endParaRPr lang="en-IN" sz="195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31D35BC-0FE0-8C02-B787-16249342E207}"/>
              </a:ext>
            </a:extLst>
          </p:cNvPr>
          <p:cNvSpPr txBox="1"/>
          <p:nvPr/>
        </p:nvSpPr>
        <p:spPr>
          <a:xfrm>
            <a:off x="908967" y="7001657"/>
            <a:ext cx="1099308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It addresses a real, large-scale gap — millions of eligible rural citizens remain unaware of government health schemes simply due to language and literacy barriers, not lack of policy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It's built to support, not replace, existing healthcare infrastructure — positioning itself as a force-multiplier for ASHA workers rather than competing with them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 underlying architecture is reusable — the same voice-first, RAG-grounded approach can extend beyond health to other government welfare domain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It combines safety-first design with genuine accessibility — grounded, cited responses and rule-based triage ensure the system never guesses on health-critical decisions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Low infrastructure dependency — works across voice, app, and SMS, meaning it can reach users regardless of device capability or connectivity quality</a:t>
            </a:r>
            <a:endParaRPr lang="en-IN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8131DF6-1B60-F91C-C728-4AA15A89775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15871"/>
          <a:stretch>
            <a:fillRect/>
          </a:stretch>
        </p:blipFill>
        <p:spPr>
          <a:xfrm>
            <a:off x="8825406" y="2306841"/>
            <a:ext cx="3608512" cy="36933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325032" y="325565"/>
            <a:ext cx="10781936" cy="10781936"/>
          </a:xfrm>
          <a:custGeom>
            <a:avLst/>
            <a:gdLst/>
            <a:ahLst/>
            <a:cxnLst/>
            <a:rect l="l" t="t" r="r" b="b"/>
            <a:pathLst>
              <a:path w="10781936" h="10781936">
                <a:moveTo>
                  <a:pt x="0" y="0"/>
                </a:moveTo>
                <a:lnTo>
                  <a:pt x="10781936" y="0"/>
                </a:lnTo>
                <a:lnTo>
                  <a:pt x="10781936" y="10781936"/>
                </a:lnTo>
                <a:lnTo>
                  <a:pt x="0" y="107819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0" y="10097226"/>
            <a:ext cx="18288000" cy="189774"/>
            <a:chOff x="0" y="0"/>
            <a:chExt cx="24384000" cy="253032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4384000" cy="253032"/>
              <a:chOff x="0" y="0"/>
              <a:chExt cx="6263097" cy="6499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263098" cy="64992"/>
              </a:xfrm>
              <a:custGeom>
                <a:avLst/>
                <a:gdLst/>
                <a:ahLst/>
                <a:cxnLst/>
                <a:rect l="l" t="t" r="r" b="b"/>
                <a:pathLst>
                  <a:path w="6263098" h="64992">
                    <a:moveTo>
                      <a:pt x="0" y="0"/>
                    </a:moveTo>
                    <a:lnTo>
                      <a:pt x="6263098" y="0"/>
                    </a:lnTo>
                    <a:lnTo>
                      <a:pt x="6263098" y="64992"/>
                    </a:lnTo>
                    <a:lnTo>
                      <a:pt x="0" y="64992"/>
                    </a:lnTo>
                    <a:close/>
                  </a:path>
                </a:pathLst>
              </a:custGeom>
              <a:solidFill>
                <a:srgbClr val="00AEE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6263097" cy="10309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2192000" y="980"/>
              <a:ext cx="12192000" cy="252052"/>
              <a:chOff x="0" y="0"/>
              <a:chExt cx="3131549" cy="6474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131549" cy="64740"/>
              </a:xfrm>
              <a:custGeom>
                <a:avLst/>
                <a:gdLst/>
                <a:ahLst/>
                <a:cxnLst/>
                <a:rect l="l" t="t" r="r" b="b"/>
                <a:pathLst>
                  <a:path w="3131549" h="64740">
                    <a:moveTo>
                      <a:pt x="0" y="0"/>
                    </a:moveTo>
                    <a:lnTo>
                      <a:pt x="3131549" y="0"/>
                    </a:lnTo>
                    <a:lnTo>
                      <a:pt x="3131549" y="64740"/>
                    </a:lnTo>
                    <a:lnTo>
                      <a:pt x="0" y="64740"/>
                    </a:lnTo>
                    <a:close/>
                  </a:path>
                </a:pathLst>
              </a:custGeom>
              <a:solidFill>
                <a:srgbClr val="303642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3131549" cy="1028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</p:grpSp>
      <p:grpSp>
        <p:nvGrpSpPr>
          <p:cNvPr id="10" name="Group 10"/>
          <p:cNvGrpSpPr/>
          <p:nvPr/>
        </p:nvGrpSpPr>
        <p:grpSpPr>
          <a:xfrm>
            <a:off x="15501503" y="325565"/>
            <a:ext cx="2396361" cy="651873"/>
            <a:chOff x="0" y="0"/>
            <a:chExt cx="3195148" cy="869164"/>
          </a:xfrm>
        </p:grpSpPr>
        <p:grpSp>
          <p:nvGrpSpPr>
            <p:cNvPr id="11" name="Group 11"/>
            <p:cNvGrpSpPr>
              <a:grpSpLocks noChangeAspect="1"/>
            </p:cNvGrpSpPr>
            <p:nvPr/>
          </p:nvGrpSpPr>
          <p:grpSpPr>
            <a:xfrm>
              <a:off x="0" y="0"/>
              <a:ext cx="814616" cy="814613"/>
              <a:chOff x="0" y="0"/>
              <a:chExt cx="6350000" cy="634997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350000" cy="6349974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74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970881" y="1118"/>
              <a:ext cx="2224267" cy="7266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sz="3199" b="1">
                  <a:solidFill>
                    <a:srgbClr val="30364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OSCode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0649" y="538752"/>
              <a:ext cx="2114500" cy="3304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960"/>
                </a:lnSpc>
              </a:pPr>
              <a:r>
                <a:rPr lang="en-US" sz="1400">
                  <a:solidFill>
                    <a:srgbClr val="303642"/>
                  </a:solidFill>
                  <a:latin typeface="Poppins"/>
                  <a:ea typeface="Poppins"/>
                  <a:cs typeface="Poppins"/>
                  <a:sym typeface="Poppins"/>
                </a:rPr>
                <a:t>by community</a:t>
              </a:r>
              <a:r>
                <a:rPr lang="en-US" sz="1400" b="1">
                  <a:solidFill>
                    <a:srgbClr val="00AEE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X</a:t>
              </a:r>
            </a:p>
          </p:txBody>
        </p:sp>
      </p:grpSp>
      <p:sp>
        <p:nvSpPr>
          <p:cNvPr id="16" name="Flowchart: Alternate Process 15">
            <a:extLst>
              <a:ext uri="{FF2B5EF4-FFF2-40B4-BE49-F238E27FC236}">
                <a16:creationId xmlns:a16="http://schemas.microsoft.com/office/drawing/2014/main" id="{793B01D9-FF1B-735F-3D89-4CC2B5D0E22C}"/>
              </a:ext>
            </a:extLst>
          </p:cNvPr>
          <p:cNvSpPr/>
          <p:nvPr/>
        </p:nvSpPr>
        <p:spPr>
          <a:xfrm>
            <a:off x="844378" y="479905"/>
            <a:ext cx="6781800" cy="5001802"/>
          </a:xfrm>
          <a:prstGeom prst="flowChartAlternateProcess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5"/>
          <p:cNvSpPr txBox="1"/>
          <p:nvPr/>
        </p:nvSpPr>
        <p:spPr>
          <a:xfrm>
            <a:off x="1066800" y="1031553"/>
            <a:ext cx="7096807" cy="7916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800" b="1" dirty="0">
                <a:solidFill>
                  <a:schemeClr val="bg2">
                    <a:lumMod val="25000"/>
                  </a:schemeClr>
                </a:solidFill>
                <a:latin typeface="Algerian" panose="04020705040A02060702" pitchFamily="82" charset="0"/>
                <a:ea typeface="Inter Bold"/>
                <a:cs typeface="Inter Bold"/>
                <a:sym typeface="Inter Bold"/>
              </a:rPr>
              <a:t>TEAM MEMBERS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2CF68B-AE8B-FFE6-3C9D-D70B1E47E26E}"/>
              </a:ext>
            </a:extLst>
          </p:cNvPr>
          <p:cNvSpPr txBox="1"/>
          <p:nvPr/>
        </p:nvSpPr>
        <p:spPr>
          <a:xfrm>
            <a:off x="2133600" y="2247900"/>
            <a:ext cx="1078193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KAMALESHWARAN B  (Team Lead)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VISHNUVARDHAN 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KEVIN CRIS 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JOHN EZRA 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SRIHARINI 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POOJA SRI 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1227</Words>
  <Application>Microsoft Office PowerPoint</Application>
  <PresentationFormat>Custom</PresentationFormat>
  <Paragraphs>136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9" baseType="lpstr">
      <vt:lpstr>Algerian</vt:lpstr>
      <vt:lpstr>Arial Rounded MT Bold</vt:lpstr>
      <vt:lpstr>Poppins</vt:lpstr>
      <vt:lpstr>Arial</vt:lpstr>
      <vt:lpstr>Inter Bold</vt:lpstr>
      <vt:lpstr>Wingdings</vt:lpstr>
      <vt:lpstr>Calibri</vt:lpstr>
      <vt:lpstr>Lato</vt:lpstr>
      <vt:lpstr>Poppins Bold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Decode SIH 2026 - Finals PPT Template</dc:title>
  <dc:creator>SRIHARINI</dc:creator>
  <cp:lastModifiedBy>Srii .</cp:lastModifiedBy>
  <cp:revision>10</cp:revision>
  <dcterms:created xsi:type="dcterms:W3CDTF">2006-08-16T00:00:00Z</dcterms:created>
  <dcterms:modified xsi:type="dcterms:W3CDTF">2026-09-05T06:33:38Z</dcterms:modified>
  <dc:identifier>DAHTy9ay8hY</dc:identifier>
</cp:coreProperties>
</file>